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1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6"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7"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8"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586450D6-71BF-4576-8FA0-C22D3D64534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685800" y="1143000"/>
            <a:ext cx="5486040" cy="3085920"/>
          </a:xfrm>
          <a:prstGeom prst="rect">
            <a:avLst/>
          </a:prstGeom>
          <a:ln w="0">
            <a:noFill/>
          </a:ln>
        </p:spPr>
      </p:sp>
      <p:sp>
        <p:nvSpPr>
          <p:cNvPr id="3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Open with one sentence, not the product: 'Sir, a Rythu Bazaar vendor can only sell to whoever walks past their stall before 11am. I have built the software that lets the whole town walk past. It is not live yet, and I am here to ask for one market to prove it in.' Say the honest status out loud in the first thirty seconds — it buys you the rest of the meeting.</a:t>
            </a:r>
            <a:endParaRPr b="0" lang="en-US" sz="2000" spc="-1" strike="noStrike">
              <a:solidFill>
                <a:srgbClr val="000000"/>
              </a:solidFill>
              <a:latin typeface="Arial"/>
            </a:endParaRPr>
          </a:p>
        </p:txBody>
      </p:sp>
      <p:sp>
        <p:nvSpPr>
          <p:cNvPr id="335"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9B0540B-8072-4ED7-A5D2-90485EBB99C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685800" y="1143000"/>
            <a:ext cx="5486040" cy="3085920"/>
          </a:xfrm>
          <a:prstGeom prst="rect">
            <a:avLst/>
          </a:prstGeom>
          <a:ln w="0">
            <a:noFill/>
          </a:ln>
        </p:spPr>
      </p:sp>
      <p:sp>
        <p:nvSpPr>
          <p:cNvPr id="3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Keep this slide to sixty seconds. The minister already knows the bazaar. The only new information here is the third card — the vendor is structurally invisible to the apps households already use, and that is a software gap, not a farmer problem.</a:t>
            </a:r>
            <a:endParaRPr b="0" lang="en-US" sz="2000" spc="-1" strike="noStrike">
              <a:solidFill>
                <a:srgbClr val="000000"/>
              </a:solidFill>
              <a:latin typeface="Arial"/>
            </a:endParaRPr>
          </a:p>
        </p:txBody>
      </p:sp>
      <p:sp>
        <p:nvSpPr>
          <p:cNvPr id="338"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9E53F57-CA6B-4D8E-B8E6-BDA60358EF9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685800" y="1143000"/>
            <a:ext cx="5486040" cy="3085920"/>
          </a:xfrm>
          <a:prstGeom prst="rect">
            <a:avLst/>
          </a:prstGeom>
          <a:ln w="0">
            <a:noFill/>
          </a:ln>
        </p:spPr>
      </p:sp>
      <p:sp>
        <p:nvSpPr>
          <p:cNvPr id="3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slide that makes the project his rather than yours. Sources: Rythu Bazaars date to 1999 (AP Agricultural Marketing Department); e-Rythu is the Government of AP and Mastercard digital agri marketplace. Do not overstate either — if pressed on figures, say you are going from the public record and will send the citations.</a:t>
            </a:r>
            <a:endParaRPr b="0" lang="en-US" sz="2000" spc="-1" strike="noStrike">
              <a:solidFill>
                <a:srgbClr val="000000"/>
              </a:solidFill>
              <a:latin typeface="Arial"/>
            </a:endParaRPr>
          </a:p>
        </p:txBody>
      </p:sp>
      <p:sp>
        <p:nvSpPr>
          <p:cNvPr id="341"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9736847-753B-4099-BAF6-19615ADC315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685800" y="1143000"/>
            <a:ext cx="5486040" cy="3085920"/>
          </a:xfrm>
          <a:prstGeom prst="rect">
            <a:avLst/>
          </a:prstGeom>
          <a:ln w="0">
            <a:noFill/>
          </a:ln>
        </p:spPr>
      </p:sp>
      <p:sp>
        <p:nvSpPr>
          <p:cNvPr id="3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If he asks why six apps and not one: because a rider must never be able to read a code they are required to type, and a vendor must never be able to see another vendor's customers. Separate apps with separately scoped sessions is how that is enforced rather than promised.</a:t>
            </a:r>
            <a:endParaRPr b="0" lang="en-US" sz="2000" spc="-1" strike="noStrike">
              <a:solidFill>
                <a:srgbClr val="000000"/>
              </a:solidFill>
              <a:latin typeface="Arial"/>
            </a:endParaRPr>
          </a:p>
        </p:txBody>
      </p:sp>
      <p:sp>
        <p:nvSpPr>
          <p:cNvPr id="344"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61F9019-8482-4FC4-AE71-E92DC2A32E7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685800" y="1143000"/>
            <a:ext cx="5486040" cy="3085920"/>
          </a:xfrm>
          <a:prstGeom prst="rect">
            <a:avLst/>
          </a:prstGeom>
          <a:ln w="0">
            <a:noFill/>
          </a:ln>
        </p:spPr>
      </p:sp>
      <p:sp>
        <p:nvSpPr>
          <p:cNvPr id="34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your differentiator — say it plainly: scaling this costs the state nothing per market, because the market onboards itself. Be honest about the limit before he probes: browser location is self-reported, so the boundary check stops the casual and accidental cases — applying from home, guessing at a market never visited — and nothing more. The committee's approval is still the real gate. Volunteering that is the kind of honesty officials remember.</a:t>
            </a:r>
            <a:endParaRPr b="0" lang="en-US" sz="2000" spc="-1" strike="noStrike">
              <a:solidFill>
                <a:srgbClr val="000000"/>
              </a:solidFill>
              <a:latin typeface="Arial"/>
            </a:endParaRPr>
          </a:p>
        </p:txBody>
      </p:sp>
      <p:sp>
        <p:nvSpPr>
          <p:cNvPr id="347"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95AB0A6-DA13-45E5-8D94-75FF22F7FB4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685800" y="1143000"/>
            <a:ext cx="5486040" cy="3085920"/>
          </a:xfrm>
          <a:prstGeom prst="rect">
            <a:avLst/>
          </a:prstGeom>
          <a:ln w="0">
            <a:noFill/>
          </a:ln>
        </p:spPr>
      </p:sp>
      <p:sp>
        <p:nvSpPr>
          <p:cNvPr id="3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Do not oversell the codes. What a code proves is that the holder chose to release the goods to whoever held that rider's session at that moment. It is not proof of delivery — a shopkeeper can read six digits down a phone. What it does buy is that no single party can move an order alone, and every handover is attributable to a named account. Use those words if challenged.</a:t>
            </a:r>
            <a:endParaRPr b="0" lang="en-US" sz="2000" spc="-1" strike="noStrike">
              <a:solidFill>
                <a:srgbClr val="000000"/>
              </a:solidFill>
              <a:latin typeface="Arial"/>
            </a:endParaRPr>
          </a:p>
        </p:txBody>
      </p:sp>
      <p:sp>
        <p:nvSpPr>
          <p:cNvPr id="350"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4F6CE2E-209F-40A6-9050-62EFD5C111F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685800" y="1143000"/>
            <a:ext cx="5486040" cy="3085920"/>
          </a:xfrm>
          <a:prstGeom prst="rect">
            <a:avLst/>
          </a:prstGeom>
          <a:ln w="0">
            <a:noFill/>
          </a:ln>
        </p:spPr>
      </p:sp>
      <p:sp>
        <p:nvSpPr>
          <p:cNvPr id="35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slide exists for one reason: a minister's risk in backing a payments-touching app is a scandal, not a failure. Offer the code audit out loud. If asked who has audited it so far: nobody outside the project — say that plainly.</a:t>
            </a:r>
            <a:endParaRPr b="0" lang="en-US" sz="2000" spc="-1" strike="noStrike">
              <a:solidFill>
                <a:srgbClr val="000000"/>
              </a:solidFill>
              <a:latin typeface="Arial"/>
            </a:endParaRPr>
          </a:p>
        </p:txBody>
      </p:sp>
      <p:sp>
        <p:nvSpPr>
          <p:cNvPr id="353"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10A8FE2-1E62-41F9-B8F4-7C0286A94DB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685800" y="1143000"/>
            <a:ext cx="5486040" cy="3085920"/>
          </a:xfrm>
          <a:prstGeom prst="rect">
            <a:avLst/>
          </a:prstGeom>
          <a:ln w="0">
            <a:noFill/>
          </a:ln>
        </p:spPr>
      </p:sp>
      <p:sp>
        <p:nvSpPr>
          <p:cNvPr id="35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zero is the single most persuasive fact in the deck and it is verifiable: the commission setting defaults to zero basis points in the configuration, and settlement reads the stored policy rather than a hardcoded rate. If he asks how you make money, answer honestly: not from Rythu Bazaar vendors. Private markets and independent shops are where a platform share would be set above zero, and even there the committee sets it, not you.</a:t>
            </a:r>
            <a:endParaRPr b="0" lang="en-US" sz="2000" spc="-1" strike="noStrike">
              <a:solidFill>
                <a:srgbClr val="000000"/>
              </a:solidFill>
              <a:latin typeface="Arial"/>
            </a:endParaRPr>
          </a:p>
        </p:txBody>
      </p:sp>
      <p:sp>
        <p:nvSpPr>
          <p:cNvPr id="356"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8622742-E514-465E-88FB-DC43AE12813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6040" cy="308592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Label these as projections out loud. If he challenges the 300 households a day, agree immediately that it is unproven and say the pilot exists to find the real number. Never defend a modelled figure as though it were measured — that is how credibility goes in one sentence.</a:t>
            </a:r>
            <a:endParaRPr b="0" lang="en-US" sz="2000" spc="-1" strike="noStrike">
              <a:solidFill>
                <a:srgbClr val="000000"/>
              </a:solidFill>
              <a:latin typeface="Arial"/>
            </a:endParaRPr>
          </a:p>
        </p:txBody>
      </p:sp>
      <p:sp>
        <p:nvSpPr>
          <p:cNvPr id="359"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33EB6F6-9456-40DF-AC3E-F0DFDE2E906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6040" cy="308592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Do not soften the right-hand column and do not let anyone in the room soften it for you. Officials discount decks by default; a founder who volunteers the weak half is the one they believe on the strong half. If he asks why you have not simply launched: because a market needs its committee's permission to be on the platform, and that is the one thing you cannot build.</a:t>
            </a:r>
            <a:endParaRPr b="0" lang="en-US" sz="2000" spc="-1" strike="noStrike">
              <a:solidFill>
                <a:srgbClr val="000000"/>
              </a:solidFill>
              <a:latin typeface="Arial"/>
            </a:endParaRPr>
          </a:p>
        </p:txBody>
      </p:sp>
      <p:sp>
        <p:nvSpPr>
          <p:cNvPr id="362"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104A640-8ADD-487E-9364-7004882D838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6040" cy="308592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Deliver ask one and then stop talking. The 'what I am not asking for' line is what makes it a cheap yes — say it slowly. If he offers only ask three, take it and ask again for the introduction: the Innovation Hub without a market is mentoring with nothing to mentor.</a:t>
            </a:r>
            <a:endParaRPr b="0" lang="en-US" sz="2000" spc="-1" strike="noStrike">
              <a:solidFill>
                <a:srgbClr val="000000"/>
              </a:solidFill>
              <a:latin typeface="Arial"/>
            </a:endParaRPr>
          </a:p>
        </p:txBody>
      </p:sp>
      <p:sp>
        <p:nvSpPr>
          <p:cNvPr id="365"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A1D0AF3-2BB5-4141-A19D-F49D765D3F9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6040" cy="308592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Close on the last line, verbatim: 'If these numbers do not appear, the gate stays shut, and that is the correct outcome.' It is the sentence that separates you from everyone else who pitched him this month. Then ask one question — 'Which market committee should I speak to first?' — a question whose answer is a name, not a yes or a no.</a:t>
            </a:r>
            <a:endParaRPr b="0" lang="en-US" sz="2000" spc="-1" strike="noStrike">
              <a:solidFill>
                <a:srgbClr val="000000"/>
              </a:solidFill>
              <a:latin typeface="Arial"/>
            </a:endParaRPr>
          </a:p>
        </p:txBody>
      </p:sp>
      <p:sp>
        <p:nvSpPr>
          <p:cNvPr id="368"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91B5768-B6E0-4A23-AF3E-AF7A82802DC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DARK">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C4E359CC-DF0F-4607-980B-9254E8E38646}"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_TINT">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C80205EC-A19A-4FF2-A0E3-0FA212E136D5}"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E_DAR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8E4806DA-CA1B-49F3-9D86-7DFDE8B5761C}"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73b1b"/>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40080" y="1874520"/>
            <a:ext cx="10881000" cy="1737000"/>
          </a:xfrm>
          <a:prstGeom prst="rect">
            <a:avLst/>
          </a:prstGeom>
          <a:noFill/>
          <a:ln w="0">
            <a:noFill/>
          </a:ln>
        </p:spPr>
        <p:txBody>
          <a:bodyPr lIns="90000" rIns="90000" tIns="45000" bIns="45000" anchor="t">
            <a:noAutofit/>
          </a:bodyPr>
          <a:p>
            <a:pPr indent="0">
              <a:buNone/>
            </a:pPr>
            <a:r>
              <a:rPr b="0" lang="en-US" sz="3800" spc="-1" strike="noStrike">
                <a:solidFill>
                  <a:schemeClr val="dk1"/>
                </a:solidFill>
                <a:latin typeface="Calibri"/>
              </a:rPr>
              <a:t>Click to edit the title text format</a:t>
            </a:r>
            <a:endParaRPr b="0" lang="en-US" sz="3800" spc="-1" strike="noStrike">
              <a:solidFill>
                <a:schemeClr val="dk1"/>
              </a:solidFill>
              <a:latin typeface="Calibri"/>
            </a:endParaRPr>
          </a:p>
        </p:txBody>
      </p:sp>
      <p:sp>
        <p:nvSpPr>
          <p:cNvPr id="1" name="PlaceHolder 2"/>
          <p:cNvSpPr>
            <a:spLocks noGrp="1"/>
          </p:cNvSpPr>
          <p:nvPr>
            <p:ph type="body"/>
          </p:nvPr>
        </p:nvSpPr>
        <p:spPr>
          <a:xfrm>
            <a:off x="640080" y="3767400"/>
            <a:ext cx="9509400" cy="1096920"/>
          </a:xfrm>
          <a:prstGeom prst="rect">
            <a:avLst/>
          </a:prstGeom>
          <a:noFill/>
          <a:ln w="0">
            <a:noFill/>
          </a:ln>
        </p:spPr>
        <p:txBody>
          <a:bodyPr lIns="90000" rIns="90000" tIns="45000" bIns="45000" anchor="t">
            <a:noAutofit/>
          </a:bodyPr>
          <a:p>
            <a:pPr marL="432000" indent="-324000">
              <a:spcBef>
                <a:spcPts val="1417"/>
              </a:spcBef>
              <a:buClr>
                <a:srgbClr val="ffffff"/>
              </a:buClr>
              <a:buSzPct val="45000"/>
              <a:buFont typeface="Wingdings" charset="2"/>
              <a:buChar char=""/>
            </a:pPr>
            <a:r>
              <a:rPr b="0" lang="en-US" sz="1700" spc="-1" strike="noStrike">
                <a:solidFill>
                  <a:schemeClr val="dk1"/>
                </a:solidFill>
                <a:latin typeface="Calibri"/>
              </a:rPr>
              <a:t>Click to edit the outline text format</a:t>
            </a:r>
            <a:endParaRPr b="0" lang="en-US" sz="1700" spc="-1" strike="noStrike">
              <a:solidFill>
                <a:schemeClr val="dk1"/>
              </a:solidFill>
              <a:latin typeface="Calibri"/>
            </a:endParaRPr>
          </a:p>
          <a:p>
            <a:pPr lvl="1" marL="864000" indent="-324000">
              <a:spcBef>
                <a:spcPts val="1134"/>
              </a:spcBef>
              <a:buClr>
                <a:srgbClr val="ffffff"/>
              </a:buClr>
              <a:buSzPct val="75000"/>
              <a:buFont typeface="Symbol" charset="2"/>
              <a:buChar char=""/>
            </a:pPr>
            <a:r>
              <a:rPr b="0" lang="en-US" sz="1700" spc="-1" strike="noStrike">
                <a:solidFill>
                  <a:schemeClr val="dk1"/>
                </a:solidFill>
                <a:latin typeface="Calibri"/>
              </a:rPr>
              <a:t>Second Outline Level</a:t>
            </a:r>
            <a:endParaRPr b="0" lang="en-US" sz="1700" spc="-1" strike="noStrike">
              <a:solidFill>
                <a:schemeClr val="dk1"/>
              </a:solidFill>
              <a:latin typeface="Calibri"/>
            </a:endParaRPr>
          </a:p>
          <a:p>
            <a:pPr lvl="2" marL="1296000" indent="-288000">
              <a:spcBef>
                <a:spcPts val="850"/>
              </a:spcBef>
              <a:buClr>
                <a:srgbClr val="ffffff"/>
              </a:buClr>
              <a:buSzPct val="45000"/>
              <a:buFont typeface="Wingdings" charset="2"/>
              <a:buChar char=""/>
            </a:pPr>
            <a:r>
              <a:rPr b="0" lang="en-US" sz="1700" spc="-1" strike="noStrike">
                <a:solidFill>
                  <a:schemeClr val="dk1"/>
                </a:solidFill>
                <a:latin typeface="Calibri"/>
              </a:rPr>
              <a:t>Third Outline Level</a:t>
            </a:r>
            <a:endParaRPr b="0" lang="en-US" sz="1700" spc="-1" strike="noStrike">
              <a:solidFill>
                <a:schemeClr val="dk1"/>
              </a:solidFill>
              <a:latin typeface="Calibri"/>
            </a:endParaRPr>
          </a:p>
          <a:p>
            <a:pPr lvl="3" marL="1728000" indent="-216000">
              <a:spcBef>
                <a:spcPts val="567"/>
              </a:spcBef>
              <a:buClr>
                <a:srgbClr val="ffffff"/>
              </a:buClr>
              <a:buSzPct val="75000"/>
              <a:buFont typeface="Symbol" charset="2"/>
              <a:buChar char=""/>
            </a:pPr>
            <a:r>
              <a:rPr b="0" lang="en-US" sz="1700" spc="-1" strike="noStrike">
                <a:solidFill>
                  <a:schemeClr val="dk1"/>
                </a:solidFill>
                <a:latin typeface="Calibri"/>
              </a:rPr>
              <a:t>Fourth Outline Level</a:t>
            </a:r>
            <a:endParaRPr b="0" lang="en-US" sz="1700" spc="-1" strike="noStrike">
              <a:solidFill>
                <a:schemeClr val="dk1"/>
              </a:solidFill>
              <a:latin typeface="Calibri"/>
            </a:endParaRPr>
          </a:p>
          <a:p>
            <a:pPr lvl="4" marL="2160000" indent="-216000">
              <a:spcBef>
                <a:spcPts val="283"/>
              </a:spcBef>
              <a:buClr>
                <a:srgbClr val="ffffff"/>
              </a:buClr>
              <a:buSzPct val="45000"/>
              <a:buFont typeface="Wingdings" charset="2"/>
              <a:buChar char=""/>
            </a:pPr>
            <a:r>
              <a:rPr b="0" lang="en-US" sz="1700" spc="-1" strike="noStrike">
                <a:solidFill>
                  <a:schemeClr val="dk1"/>
                </a:solidFill>
                <a:latin typeface="Calibri"/>
              </a:rPr>
              <a:t>Fifth Outline Level</a:t>
            </a:r>
            <a:endParaRPr b="0" lang="en-US" sz="1700" spc="-1" strike="noStrike">
              <a:solidFill>
                <a:schemeClr val="dk1"/>
              </a:solidFill>
              <a:latin typeface="Calibri"/>
            </a:endParaRPr>
          </a:p>
          <a:p>
            <a:pPr lvl="5" marL="2592000" indent="-216000">
              <a:spcBef>
                <a:spcPts val="283"/>
              </a:spcBef>
              <a:buClr>
                <a:srgbClr val="ffffff"/>
              </a:buClr>
              <a:buSzPct val="45000"/>
              <a:buFont typeface="Wingdings" charset="2"/>
              <a:buChar char=""/>
            </a:pPr>
            <a:r>
              <a:rPr b="0" lang="en-US" sz="1700" spc="-1" strike="noStrike">
                <a:solidFill>
                  <a:schemeClr val="dk1"/>
                </a:solidFill>
                <a:latin typeface="Calibri"/>
              </a:rPr>
              <a:t>Sixth Outline Level</a:t>
            </a:r>
            <a:endParaRPr b="0" lang="en-US" sz="1700" spc="-1" strike="noStrike">
              <a:solidFill>
                <a:schemeClr val="dk1"/>
              </a:solidFill>
              <a:latin typeface="Calibri"/>
            </a:endParaRPr>
          </a:p>
          <a:p>
            <a:pPr lvl="6" marL="3024000" indent="-216000">
              <a:spcBef>
                <a:spcPts val="283"/>
              </a:spcBef>
              <a:buClr>
                <a:srgbClr val="ffffff"/>
              </a:buClr>
              <a:buSzPct val="45000"/>
              <a:buFont typeface="Wingdings" charset="2"/>
              <a:buChar char=""/>
            </a:pPr>
            <a:r>
              <a:rPr b="0" lang="en-US" sz="1700" spc="-1" strike="noStrike">
                <a:solidFill>
                  <a:schemeClr val="dk1"/>
                </a:solidFill>
                <a:latin typeface="Calibri"/>
              </a:rPr>
              <a:t>Seventh Outline Level</a:t>
            </a:r>
            <a:endParaRPr b="0" lang="en-US" sz="17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40080" y="420480"/>
            <a:ext cx="10881000" cy="731160"/>
          </a:xfrm>
          <a:prstGeom prst="rect">
            <a:avLst/>
          </a:prstGeom>
          <a:noFill/>
          <a:ln w="0">
            <a:noFill/>
          </a:ln>
        </p:spPr>
        <p:txBody>
          <a:bodyPr lIns="90000" rIns="90000" tIns="45000" bIns="45000" anchor="t">
            <a:noAutofit/>
          </a:bodyPr>
          <a:p>
            <a:pPr indent="0">
              <a:buNone/>
            </a:pPr>
            <a:r>
              <a:rPr b="0" lang="en-US" sz="3200" spc="-1" strike="noStrike">
                <a:solidFill>
                  <a:schemeClr val="dk1"/>
                </a:solidFill>
                <a:latin typeface="Calibri"/>
              </a:rPr>
              <a:t>Click to edit the title text format</a:t>
            </a:r>
            <a:endParaRPr b="0" lang="en-US" sz="3200" spc="-1" strike="noStrike">
              <a:solidFill>
                <a:schemeClr val="dk1"/>
              </a:solidFill>
              <a:latin typeface="Calibri"/>
            </a:endParaRPr>
          </a:p>
        </p:txBody>
      </p:sp>
      <p:sp>
        <p:nvSpPr>
          <p:cNvPr id="3" name="Text 0"/>
          <p:cNvSpPr/>
          <p:nvPr/>
        </p:nvSpPr>
        <p:spPr>
          <a:xfrm>
            <a:off x="640080" y="6346080"/>
            <a:ext cx="82292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e7f6e"/>
                </a:solidFill>
                <a:latin typeface="Calibri"/>
              </a:rPr>
              <a:t>VegDrop  ·  Rythu Bazaar delivery layer  ·  Proposal, 2026</a:t>
            </a:r>
            <a:endParaRPr b="0" lang="en-US" sz="900" spc="-1" strike="noStrike">
              <a:solidFill>
                <a:srgbClr val="000000"/>
              </a:solidFill>
              <a:latin typeface="Arial"/>
            </a:endParaRPr>
          </a:p>
        </p:txBody>
      </p:sp>
      <p:sp>
        <p:nvSpPr>
          <p:cNvPr id="4" name="PlaceHolder 2"/>
          <p:cNvSpPr>
            <a:spLocks noGrp="1"/>
          </p:cNvSpPr>
          <p:nvPr>
            <p:ph type="sldNum" idx="1"/>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EAFF43F5-A7C1-4A15-ABA1-3E51B0E1A9EC}"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
        <p:nvSpPr>
          <p:cNvPr id="5"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40080" y="420480"/>
            <a:ext cx="10881000" cy="731160"/>
          </a:xfrm>
          <a:prstGeom prst="rect">
            <a:avLst/>
          </a:prstGeom>
          <a:noFill/>
          <a:ln w="0">
            <a:noFill/>
          </a:ln>
        </p:spPr>
        <p:txBody>
          <a:bodyPr lIns="90000" rIns="90000" tIns="45000" bIns="45000" anchor="t">
            <a:noAutofit/>
          </a:bodyPr>
          <a:p>
            <a:pPr indent="0">
              <a:buNone/>
            </a:pPr>
            <a:r>
              <a:rPr b="0" lang="en-US" sz="3200" spc="-1" strike="noStrike">
                <a:solidFill>
                  <a:schemeClr val="dk1"/>
                </a:solidFill>
                <a:latin typeface="Calibri"/>
              </a:rPr>
              <a:t>Click to edit the title text format</a:t>
            </a:r>
            <a:endParaRPr b="0" lang="en-US" sz="3200" spc="-1" strike="noStrike">
              <a:solidFill>
                <a:schemeClr val="dk1"/>
              </a:solidFill>
              <a:latin typeface="Calibri"/>
            </a:endParaRPr>
          </a:p>
        </p:txBody>
      </p:sp>
      <p:sp>
        <p:nvSpPr>
          <p:cNvPr id="7" name="Text 0"/>
          <p:cNvSpPr/>
          <p:nvPr/>
        </p:nvSpPr>
        <p:spPr>
          <a:xfrm>
            <a:off x="640080" y="6346080"/>
            <a:ext cx="82292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e7f6e"/>
                </a:solidFill>
                <a:latin typeface="Calibri"/>
              </a:rPr>
              <a:t>VegDrop  ·  Rythu Bazaar delivery layer  ·  Proposal, 2026</a:t>
            </a:r>
            <a:endParaRPr b="0" lang="en-US" sz="900" spc="-1" strike="noStrike">
              <a:solidFill>
                <a:srgbClr val="000000"/>
              </a:solidFill>
              <a:latin typeface="Arial"/>
            </a:endParaRPr>
          </a:p>
        </p:txBody>
      </p:sp>
      <p:sp>
        <p:nvSpPr>
          <p:cNvPr id="8" name="PlaceHolder 2"/>
          <p:cNvSpPr>
            <a:spLocks noGrp="1"/>
          </p:cNvSpPr>
          <p:nvPr>
            <p:ph type="sldNum" idx="2"/>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4546030F-3410-44BD-938F-4B6372D63EAD}"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
        <p:nvSpPr>
          <p:cNvPr id="9"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73b1b"/>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640080" y="548640"/>
            <a:ext cx="10881000" cy="776880"/>
          </a:xfrm>
          <a:prstGeom prst="rect">
            <a:avLst/>
          </a:prstGeom>
          <a:noFill/>
          <a:ln w="0">
            <a:noFill/>
          </a:ln>
        </p:spPr>
        <p:txBody>
          <a:bodyPr lIns="90000" rIns="90000" tIns="45000" bIns="45000" anchor="t">
            <a:noAutofit/>
          </a:bodyPr>
          <a:p>
            <a:pPr indent="0">
              <a:buNone/>
            </a:pPr>
            <a:r>
              <a:rPr b="0" lang="en-US" sz="3200" spc="-1" strike="noStrike">
                <a:solidFill>
                  <a:schemeClr val="dk1"/>
                </a:solidFill>
                <a:latin typeface="Calibri"/>
              </a:rPr>
              <a:t>Click to edit the title text format</a:t>
            </a:r>
            <a:endParaRPr b="0" lang="en-US" sz="3200" spc="-1" strike="noStrike">
              <a:solidFill>
                <a:schemeClr val="dk1"/>
              </a:solidFill>
              <a:latin typeface="Calibri"/>
            </a:endParaRPr>
          </a:p>
        </p:txBody>
      </p:sp>
      <p:sp>
        <p:nvSpPr>
          <p:cNvPr id="11" name="PlaceHolder 2"/>
          <p:cNvSpPr>
            <a:spLocks noGrp="1"/>
          </p:cNvSpPr>
          <p:nvPr>
            <p:ph type="sldNum" idx="3"/>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1AC13D7A-EE89-4817-972B-6B496CDE875B}" type="slidenum">
              <a:rPr b="0" lang="en-US" sz="900" spc="-1" strike="noStrike">
                <a:solidFill>
                  <a:srgbClr val="6e7f6e"/>
                </a:solidFill>
                <a:latin typeface="Calibri"/>
              </a:rPr>
              <a:t>&lt;number&gt;</a:t>
            </a:fld>
            <a:endParaRPr b="0" lang="en-US" sz="900" spc="-1" strike="noStrike">
              <a:solidFill>
                <a:srgbClr val="ffffff"/>
              </a:solidFill>
              <a:latin typeface="Times New Roman"/>
            </a:endParaRPr>
          </a:p>
        </p:txBody>
      </p:sp>
      <p:sp>
        <p:nvSpPr>
          <p:cNvPr id="12"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ffffff"/>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ffffff"/>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ffffff"/>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ffffff"/>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ffffff"/>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ffffff"/>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motif-1"/>
          <p:cNvSpPr/>
          <p:nvPr/>
        </p:nvSpPr>
        <p:spPr>
          <a:xfrm>
            <a:off x="640080" y="868680"/>
            <a:ext cx="365400" cy="365400"/>
          </a:xfrm>
          <a:prstGeom prst="ellipse">
            <a:avLst/>
          </a:prstGeom>
          <a:solidFill>
            <a:srgbClr val="97bc6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 name="Text 1"/>
          <p:cNvSpPr/>
          <p:nvPr/>
        </p:nvSpPr>
        <p:spPr>
          <a:xfrm>
            <a:off x="640080" y="86868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 </a:t>
            </a:r>
            <a:endParaRPr b="0" lang="en-US" sz="1500" spc="-1" strike="noStrike">
              <a:solidFill>
                <a:srgbClr val="ffffff"/>
              </a:solidFill>
              <a:latin typeface="Arial"/>
            </a:endParaRPr>
          </a:p>
        </p:txBody>
      </p:sp>
      <p:sp>
        <p:nvSpPr>
          <p:cNvPr id="21" name="motif-2"/>
          <p:cNvSpPr/>
          <p:nvPr/>
        </p:nvSpPr>
        <p:spPr>
          <a:xfrm>
            <a:off x="1097280" y="868680"/>
            <a:ext cx="365400" cy="365400"/>
          </a:xfrm>
          <a:prstGeom prst="ellipse">
            <a:avLst/>
          </a:prstGeom>
          <a:solidFill>
            <a:srgbClr val="d2601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Text 3"/>
          <p:cNvSpPr/>
          <p:nvPr/>
        </p:nvSpPr>
        <p:spPr>
          <a:xfrm>
            <a:off x="1097280" y="86868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 </a:t>
            </a:r>
            <a:endParaRPr b="0" lang="en-US" sz="1500" spc="-1" strike="noStrike">
              <a:solidFill>
                <a:srgbClr val="ffffff"/>
              </a:solidFill>
              <a:latin typeface="Arial"/>
            </a:endParaRPr>
          </a:p>
        </p:txBody>
      </p:sp>
      <p:sp>
        <p:nvSpPr>
          <p:cNvPr id="23" name="motif-3"/>
          <p:cNvSpPr/>
          <p:nvPr/>
        </p:nvSpPr>
        <p:spPr>
          <a:xfrm>
            <a:off x="1554480" y="868680"/>
            <a:ext cx="365400" cy="365400"/>
          </a:xfrm>
          <a:prstGeom prst="ellipse">
            <a:avLst/>
          </a:prstGeom>
          <a:solidFill>
            <a:srgbClr val="b8860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Text 5"/>
          <p:cNvSpPr/>
          <p:nvPr/>
        </p:nvSpPr>
        <p:spPr>
          <a:xfrm>
            <a:off x="1554480" y="86868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 </a:t>
            </a:r>
            <a:endParaRPr b="0" lang="en-US" sz="1500" spc="-1" strike="noStrike">
              <a:solidFill>
                <a:srgbClr val="ffffff"/>
              </a:solidFill>
              <a:latin typeface="Arial"/>
            </a:endParaRPr>
          </a:p>
        </p:txBody>
      </p:sp>
      <p:sp>
        <p:nvSpPr>
          <p:cNvPr id="25" name="Text 6"/>
          <p:cNvSpPr/>
          <p:nvPr/>
        </p:nvSpPr>
        <p:spPr>
          <a:xfrm>
            <a:off x="640080" y="1389960"/>
            <a:ext cx="73148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299" strike="noStrike">
                <a:solidFill>
                  <a:srgbClr val="97bc62"/>
                </a:solidFill>
                <a:latin typeface="Calibri"/>
              </a:rPr>
              <a:t>VegDrop</a:t>
            </a:r>
            <a:endParaRPr b="0" lang="en-US" sz="1500" spc="-1" strike="noStrike">
              <a:solidFill>
                <a:srgbClr val="ffffff"/>
              </a:solidFill>
              <a:latin typeface="Arial"/>
            </a:endParaRPr>
          </a:p>
        </p:txBody>
      </p:sp>
      <p:sp>
        <p:nvSpPr>
          <p:cNvPr id="26" name="PlaceHolder 1"/>
          <p:cNvSpPr>
            <a:spLocks noGrp="1"/>
          </p:cNvSpPr>
          <p:nvPr>
            <p:ph type="title"/>
          </p:nvPr>
        </p:nvSpPr>
        <p:spPr>
          <a:xfrm>
            <a:off x="640080" y="1874520"/>
            <a:ext cx="10881000" cy="1737000"/>
          </a:xfrm>
          <a:prstGeom prst="rect">
            <a:avLst/>
          </a:prstGeom>
          <a:noFill/>
          <a:ln w="0">
            <a:noFill/>
          </a:ln>
        </p:spPr>
        <p:txBody>
          <a:bodyPr lIns="0" rIns="0" tIns="0" bIns="0" anchor="t">
            <a:noAutofit/>
          </a:bodyPr>
          <a:p>
            <a:pPr indent="0" defTabSz="914400">
              <a:lnSpc>
                <a:spcPct val="100000"/>
              </a:lnSpc>
              <a:buNone/>
              <a:tabLst>
                <a:tab algn="l" pos="0"/>
              </a:tabLst>
            </a:pPr>
            <a:r>
              <a:rPr b="1" lang="en-US" sz="3800" spc="-1" strike="noStrike">
                <a:solidFill>
                  <a:schemeClr val="lt1"/>
                </a:solidFill>
                <a:latin typeface="Cambria"/>
              </a:rPr>
              <a:t>Delivery infrastructure for</a:t>
            </a:r>
            <a:endParaRPr b="0" lang="en-US" sz="3800" spc="-1" strike="noStrike">
              <a:solidFill>
                <a:schemeClr val="dk1"/>
              </a:solidFill>
              <a:latin typeface="Calibri"/>
            </a:endParaRPr>
          </a:p>
          <a:p>
            <a:pPr indent="0" defTabSz="914400">
              <a:lnSpc>
                <a:spcPct val="100000"/>
              </a:lnSpc>
              <a:buNone/>
              <a:tabLst>
                <a:tab algn="l" pos="0"/>
              </a:tabLst>
            </a:pPr>
            <a:r>
              <a:rPr b="1" lang="en-US" sz="3800" spc="-1" strike="noStrike">
                <a:solidFill>
                  <a:schemeClr val="lt1"/>
                </a:solidFill>
                <a:latin typeface="Cambria"/>
              </a:rPr>
              <a:t>Andhra Pradesh's Rythu Bazaars</a:t>
            </a:r>
            <a:endParaRPr b="0" lang="en-US" sz="3800" spc="-1" strike="noStrike">
              <a:solidFill>
                <a:schemeClr val="dk1"/>
              </a:solidFill>
              <a:latin typeface="Calibri"/>
            </a:endParaRPr>
          </a:p>
        </p:txBody>
      </p:sp>
      <p:sp>
        <p:nvSpPr>
          <p:cNvPr id="27" name="PlaceHolder 2"/>
          <p:cNvSpPr>
            <a:spLocks noGrp="1"/>
          </p:cNvSpPr>
          <p:nvPr>
            <p:ph/>
          </p:nvPr>
        </p:nvSpPr>
        <p:spPr>
          <a:xfrm>
            <a:off x="640080" y="3767400"/>
            <a:ext cx="9509400" cy="1096920"/>
          </a:xfrm>
          <a:prstGeom prst="rect">
            <a:avLst/>
          </a:prstGeom>
          <a:noFill/>
          <a:ln w="0">
            <a:noFill/>
          </a:ln>
        </p:spPr>
        <p:txBody>
          <a:bodyPr lIns="0" rIns="0" tIns="0" bIns="0" anchor="t">
            <a:noAutofit/>
          </a:bodyPr>
          <a:p>
            <a:pPr indent="0" defTabSz="914400">
              <a:lnSpc>
                <a:spcPct val="100000"/>
              </a:lnSpc>
              <a:spcBef>
                <a:spcPts val="340"/>
              </a:spcBef>
              <a:buNone/>
              <a:tabLst>
                <a:tab algn="l" pos="0"/>
              </a:tabLst>
            </a:pPr>
            <a:r>
              <a:rPr b="0" lang="en-US" sz="1700" spc="-1" strike="noStrike">
                <a:solidFill>
                  <a:srgbClr val="97bc62"/>
                </a:solidFill>
                <a:latin typeface="Calibri"/>
              </a:rPr>
              <a:t>Any market registers itself. Any vendor sells from their own stall.</a:t>
            </a:r>
            <a:endParaRPr b="0" lang="en-US" sz="1700" spc="-1" strike="noStrike">
              <a:solidFill>
                <a:schemeClr val="dk1"/>
              </a:solidFill>
              <a:latin typeface="Calibri"/>
            </a:endParaRPr>
          </a:p>
          <a:p>
            <a:pPr indent="0" defTabSz="914400">
              <a:lnSpc>
                <a:spcPct val="100000"/>
              </a:lnSpc>
              <a:spcBef>
                <a:spcPts val="340"/>
              </a:spcBef>
              <a:buNone/>
              <a:tabLst>
                <a:tab algn="l" pos="0"/>
              </a:tabLst>
            </a:pPr>
            <a:r>
              <a:rPr b="0" lang="en-US" sz="1700" spc="-1" strike="noStrike">
                <a:solidFill>
                  <a:srgbClr val="97bc62"/>
                </a:solidFill>
                <a:latin typeface="Calibri"/>
              </a:rPr>
              <a:t>Any household orders in Telugu, Hindi or English.</a:t>
            </a:r>
            <a:endParaRPr b="0" lang="en-US" sz="1700" spc="-1" strike="noStrike">
              <a:solidFill>
                <a:schemeClr val="dk1"/>
              </a:solidFill>
              <a:latin typeface="Calibri"/>
            </a:endParaRPr>
          </a:p>
        </p:txBody>
      </p:sp>
      <p:sp>
        <p:nvSpPr>
          <p:cNvPr id="28" name="rule"/>
          <p:cNvSpPr/>
          <p:nvPr/>
        </p:nvSpPr>
        <p:spPr>
          <a:xfrm>
            <a:off x="640080" y="5230440"/>
            <a:ext cx="2925720" cy="18000"/>
          </a:xfrm>
          <a:prstGeom prst="rect">
            <a:avLst/>
          </a:prstGeom>
          <a:solidFill>
            <a:srgbClr val="97bc62"/>
          </a:solidFill>
          <a:ln w="0">
            <a:noFill/>
          </a:ln>
        </p:spPr>
        <p:style>
          <a:lnRef idx="0"/>
          <a:fillRef idx="0"/>
          <a:effectRef idx="0"/>
          <a:fontRef idx="minor"/>
        </p:style>
        <p:txBody>
          <a:bodyPr lIns="90000" rIns="90000" tIns="-26640" bIns="-26640" anchor="t">
            <a:noAutofit/>
          </a:bodyPr>
          <a:p>
            <a:endParaRPr b="0" lang="en-US" sz="1800" spc="-1" strike="noStrike">
              <a:solidFill>
                <a:srgbClr val="000000"/>
              </a:solidFill>
              <a:latin typeface="Arial"/>
            </a:endParaRPr>
          </a:p>
        </p:txBody>
      </p:sp>
      <p:sp>
        <p:nvSpPr>
          <p:cNvPr id="29" name="Text 10"/>
          <p:cNvSpPr/>
          <p:nvPr/>
        </p:nvSpPr>
        <p:spPr>
          <a:xfrm>
            <a:off x="640080" y="5358240"/>
            <a:ext cx="5851800" cy="914040"/>
          </a:xfrm>
          <a:prstGeom prst="rect">
            <a:avLst/>
          </a:prstGeom>
          <a:noFill/>
          <a:ln w="0">
            <a:noFill/>
          </a:ln>
        </p:spPr>
        <p:style>
          <a:lnRef idx="0"/>
          <a:fillRef idx="0"/>
          <a:effectRef idx="0"/>
          <a:fontRef idx="minor"/>
        </p:style>
        <p:txBody>
          <a:bodyPr lIns="0" rIns="0" tIns="0" bIns="0" anchor="ctr">
            <a:noAutofit/>
          </a:bodyPr>
          <a:p>
            <a:pPr defTabSz="914400">
              <a:lnSpc>
                <a:spcPct val="118000"/>
              </a:lnSpc>
              <a:tabLst>
                <a:tab algn="l" pos="0"/>
              </a:tabLst>
            </a:pPr>
            <a:r>
              <a:rPr b="1" lang="en-US" sz="1300" spc="-1" strike="noStrike">
                <a:solidFill>
                  <a:srgbClr val="ffffff"/>
                </a:solidFill>
                <a:latin typeface="Calibri"/>
              </a:rPr>
              <a:t>Presented to the Hon'ble Sri Nara Lokesh</a:t>
            </a:r>
            <a:endParaRPr b="0" lang="en-US" sz="1300" spc="-1" strike="noStrike">
              <a:solidFill>
                <a:srgbClr val="ffffff"/>
              </a:solidFill>
              <a:latin typeface="Arial"/>
            </a:endParaRPr>
          </a:p>
          <a:p>
            <a:pPr defTabSz="914400">
              <a:lnSpc>
                <a:spcPct val="118000"/>
              </a:lnSpc>
              <a:tabLst>
                <a:tab algn="l" pos="0"/>
              </a:tabLst>
            </a:pPr>
            <a:r>
              <a:rPr b="0" lang="en-US" sz="1300" spc="-1" strike="noStrike">
                <a:solidFill>
                  <a:srgbClr val="97bc62"/>
                </a:solidFill>
                <a:latin typeface="Calibri"/>
              </a:rPr>
              <a:t>Minister for IT, Electronics, Communications &amp; HRD,</a:t>
            </a:r>
            <a:endParaRPr b="0" lang="en-US" sz="1300" spc="-1" strike="noStrike">
              <a:solidFill>
                <a:srgbClr val="ffffff"/>
              </a:solidFill>
              <a:latin typeface="Arial"/>
            </a:endParaRPr>
          </a:p>
          <a:p>
            <a:pPr defTabSz="914400">
              <a:lnSpc>
                <a:spcPct val="118000"/>
              </a:lnSpc>
              <a:tabLst>
                <a:tab algn="l" pos="0"/>
              </a:tabLst>
            </a:pPr>
            <a:r>
              <a:rPr b="0" lang="en-US" sz="1300" spc="-1" strike="noStrike">
                <a:solidFill>
                  <a:srgbClr val="97bc62"/>
                </a:solidFill>
                <a:latin typeface="Calibri"/>
              </a:rPr>
              <a:t>Government of Andhra Pradesh</a:t>
            </a:r>
            <a:endParaRPr b="0" lang="en-US" sz="1300" spc="-1" strike="noStrike">
              <a:solidFill>
                <a:srgbClr val="ffffff"/>
              </a:solidFill>
              <a:latin typeface="Arial"/>
            </a:endParaRPr>
          </a:p>
        </p:txBody>
      </p:sp>
      <p:sp>
        <p:nvSpPr>
          <p:cNvPr id="30" name="Text 11"/>
          <p:cNvSpPr/>
          <p:nvPr/>
        </p:nvSpPr>
        <p:spPr>
          <a:xfrm>
            <a:off x="7589520" y="5175360"/>
            <a:ext cx="3931560" cy="21924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900" spc="199" strike="noStrike">
                <a:solidFill>
                  <a:srgbClr val="6e7f6e"/>
                </a:solidFill>
                <a:latin typeface="Calibri"/>
              </a:rPr>
              <a:t>PRESENTED BY</a:t>
            </a:r>
            <a:endParaRPr b="0" lang="en-US" sz="900" spc="-1" strike="noStrike">
              <a:solidFill>
                <a:srgbClr val="ffffff"/>
              </a:solidFill>
              <a:latin typeface="Arial"/>
            </a:endParaRPr>
          </a:p>
        </p:txBody>
      </p:sp>
      <p:sp>
        <p:nvSpPr>
          <p:cNvPr id="31" name="Text 12"/>
          <p:cNvSpPr/>
          <p:nvPr/>
        </p:nvSpPr>
        <p:spPr>
          <a:xfrm>
            <a:off x="7589520" y="5394960"/>
            <a:ext cx="3931560" cy="877320"/>
          </a:xfrm>
          <a:prstGeom prst="rect">
            <a:avLst/>
          </a:prstGeom>
          <a:noFill/>
          <a:ln w="0">
            <a:noFill/>
          </a:ln>
        </p:spPr>
        <p:style>
          <a:lnRef idx="0"/>
          <a:fillRef idx="0"/>
          <a:effectRef idx="0"/>
          <a:fontRef idx="minor"/>
        </p:style>
        <p:txBody>
          <a:bodyPr lIns="0" rIns="0" tIns="0" bIns="0" anchor="ctr">
            <a:noAutofit/>
          </a:bodyPr>
          <a:p>
            <a:pPr algn="r" defTabSz="914400">
              <a:lnSpc>
                <a:spcPct val="122000"/>
              </a:lnSpc>
              <a:tabLst>
                <a:tab algn="l" pos="0"/>
              </a:tabLst>
            </a:pPr>
            <a:r>
              <a:rPr b="1" lang="en-US" sz="1150" spc="-1" strike="noStrike">
                <a:solidFill>
                  <a:srgbClr val="ffffff"/>
                </a:solidFill>
                <a:latin typeface="Calibri"/>
              </a:rPr>
              <a:t>Samileti Revanth Gopal</a:t>
            </a:r>
            <a:r>
              <a:rPr b="0" lang="en-US" sz="1150" spc="-1" strike="noStrike">
                <a:solidFill>
                  <a:srgbClr val="6e7f6e"/>
                </a:solidFill>
                <a:latin typeface="Calibri"/>
              </a:rPr>
              <a:t>   ·   </a:t>
            </a:r>
            <a:r>
              <a:rPr b="0" lang="en-US" sz="1150" spc="-1" strike="noStrike">
                <a:solidFill>
                  <a:srgbClr val="97bc62"/>
                </a:solidFill>
                <a:latin typeface="Calibri"/>
              </a:rPr>
              <a:t>94414 88911</a:t>
            </a:r>
            <a:endParaRPr b="0" lang="en-US" sz="1150" spc="-1" strike="noStrike">
              <a:solidFill>
                <a:srgbClr val="ffffff"/>
              </a:solidFill>
              <a:latin typeface="Arial"/>
            </a:endParaRPr>
          </a:p>
          <a:p>
            <a:pPr algn="r" defTabSz="914400">
              <a:lnSpc>
                <a:spcPct val="122000"/>
              </a:lnSpc>
              <a:tabLst>
                <a:tab algn="l" pos="0"/>
              </a:tabLst>
            </a:pPr>
            <a:r>
              <a:rPr b="1" lang="en-US" sz="1150" spc="-1" strike="noStrike">
                <a:solidFill>
                  <a:srgbClr val="ffffff"/>
                </a:solidFill>
                <a:latin typeface="Calibri"/>
              </a:rPr>
              <a:t>Gandra Hemanth Kumar</a:t>
            </a:r>
            <a:r>
              <a:rPr b="0" lang="en-US" sz="1150" spc="-1" strike="noStrike">
                <a:solidFill>
                  <a:srgbClr val="6e7f6e"/>
                </a:solidFill>
                <a:latin typeface="Calibri"/>
              </a:rPr>
              <a:t>   ·   </a:t>
            </a:r>
            <a:r>
              <a:rPr b="0" lang="en-US" sz="1150" spc="-1" strike="noStrike">
                <a:solidFill>
                  <a:srgbClr val="97bc62"/>
                </a:solidFill>
                <a:latin typeface="Calibri"/>
              </a:rPr>
              <a:t>97055 41348</a:t>
            </a:r>
            <a:endParaRPr b="0" lang="en-US" sz="1150" spc="-1" strike="noStrike">
              <a:solidFill>
                <a:srgbClr val="ffffff"/>
              </a:solidFill>
              <a:latin typeface="Arial"/>
            </a:endParaRPr>
          </a:p>
          <a:p>
            <a:pPr algn="r" defTabSz="914400">
              <a:lnSpc>
                <a:spcPct val="122000"/>
              </a:lnSpc>
              <a:tabLst>
                <a:tab algn="l" pos="0"/>
              </a:tabLst>
            </a:pPr>
            <a:r>
              <a:rPr b="1" lang="en-US" sz="1150" spc="-1" strike="noStrike">
                <a:solidFill>
                  <a:srgbClr val="ffffff"/>
                </a:solidFill>
                <a:latin typeface="Calibri"/>
              </a:rPr>
              <a:t>Sangu Sai Bhargav</a:t>
            </a:r>
            <a:r>
              <a:rPr b="0" lang="en-US" sz="1150" spc="-1" strike="noStrike">
                <a:solidFill>
                  <a:srgbClr val="6e7f6e"/>
                </a:solidFill>
                <a:latin typeface="Calibri"/>
              </a:rPr>
              <a:t>   ·   </a:t>
            </a:r>
            <a:r>
              <a:rPr b="0" lang="en-US" sz="1150" spc="-1" strike="noStrike">
                <a:solidFill>
                  <a:srgbClr val="97bc62"/>
                </a:solidFill>
                <a:latin typeface="Calibri"/>
              </a:rPr>
              <a:t>90145 51801</a:t>
            </a:r>
            <a:endParaRPr b="0" lang="en-US" sz="11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d2601a"/>
                </a:solidFill>
                <a:latin typeface="Calibri"/>
              </a:rPr>
              <a:t>THE PROBLEM</a:t>
            </a:r>
            <a:endParaRPr b="0" lang="en-US" sz="1050" spc="-1" strike="noStrike">
              <a:solidFill>
                <a:srgbClr val="000000"/>
              </a:solidFill>
              <a:latin typeface="Arial"/>
            </a:endParaRPr>
          </a:p>
        </p:txBody>
      </p:sp>
      <p:sp>
        <p:nvSpPr>
          <p:cNvPr id="33" name="PlaceHolder 1"/>
          <p:cNvSpPr>
            <a:spLocks noGrp="1"/>
          </p:cNvSpPr>
          <p:nvPr>
            <p:ph type="title"/>
          </p:nvPr>
        </p:nvSpPr>
        <p:spPr>
          <a:xfrm>
            <a:off x="640080" y="420480"/>
            <a:ext cx="1088100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dk1"/>
                </a:solidFill>
                <a:latin typeface="Cambria"/>
              </a:rPr>
              <a:t>A vendor's reach ends at their own footpath</a:t>
            </a:r>
            <a:endParaRPr b="0" lang="en-US" sz="3200" spc="-1" strike="noStrike">
              <a:solidFill>
                <a:schemeClr val="dk1"/>
              </a:solidFill>
              <a:latin typeface="Calibri"/>
            </a:endParaRPr>
          </a:p>
        </p:txBody>
      </p:sp>
      <p:sp>
        <p:nvSpPr>
          <p:cNvPr id="34" name="problem-card-1"/>
          <p:cNvSpPr/>
          <p:nvPr/>
        </p:nvSpPr>
        <p:spPr>
          <a:xfrm>
            <a:off x="640080" y="1426320"/>
            <a:ext cx="10881000" cy="1298160"/>
          </a:xfrm>
          <a:prstGeom prst="roundRect">
            <a:avLst>
              <a:gd name="adj" fmla="val 2817"/>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 name="problem-badge-1"/>
          <p:cNvSpPr/>
          <p:nvPr/>
        </p:nvSpPr>
        <p:spPr>
          <a:xfrm>
            <a:off x="1024200" y="1837800"/>
            <a:ext cx="475200" cy="47520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 name="Text 4"/>
          <p:cNvSpPr/>
          <p:nvPr/>
        </p:nvSpPr>
        <p:spPr>
          <a:xfrm>
            <a:off x="1024200" y="1837800"/>
            <a:ext cx="47520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1</a:t>
            </a:r>
            <a:endParaRPr b="0" lang="en-US" sz="1500" spc="-1" strike="noStrike">
              <a:solidFill>
                <a:srgbClr val="000000"/>
              </a:solidFill>
              <a:latin typeface="Arial"/>
            </a:endParaRPr>
          </a:p>
        </p:txBody>
      </p:sp>
      <p:sp>
        <p:nvSpPr>
          <p:cNvPr id="37" name="Text 5"/>
          <p:cNvSpPr/>
          <p:nvPr/>
        </p:nvSpPr>
        <p:spPr>
          <a:xfrm>
            <a:off x="1719000" y="1609200"/>
            <a:ext cx="93265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chemeClr val="dk1"/>
                </a:solidFill>
                <a:latin typeface="Calibri"/>
              </a:rPr>
              <a:t>Reach ends at the stall</a:t>
            </a:r>
            <a:endParaRPr b="0" lang="en-US" sz="1800" spc="-1" strike="noStrike">
              <a:solidFill>
                <a:srgbClr val="000000"/>
              </a:solidFill>
              <a:latin typeface="Arial"/>
            </a:endParaRPr>
          </a:p>
        </p:txBody>
      </p:sp>
      <p:sp>
        <p:nvSpPr>
          <p:cNvPr id="38" name="Text 6"/>
          <p:cNvSpPr/>
          <p:nvPr/>
        </p:nvSpPr>
        <p:spPr>
          <a:xfrm>
            <a:off x="1719000" y="1974960"/>
            <a:ext cx="9326520" cy="603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6e7f6e"/>
                </a:solidFill>
                <a:latin typeface="Calibri"/>
              </a:rPr>
              <a:t>A vendor sells to whoever physically walks past, in the few hours the market is open. Their customer base is a stretch of pavement.</a:t>
            </a:r>
            <a:endParaRPr b="0" lang="en-US" sz="1350" spc="-1" strike="noStrike">
              <a:solidFill>
                <a:srgbClr val="000000"/>
              </a:solidFill>
              <a:latin typeface="Arial"/>
            </a:endParaRPr>
          </a:p>
        </p:txBody>
      </p:sp>
      <p:sp>
        <p:nvSpPr>
          <p:cNvPr id="39" name="problem-card-2"/>
          <p:cNvSpPr/>
          <p:nvPr/>
        </p:nvSpPr>
        <p:spPr>
          <a:xfrm>
            <a:off x="640080" y="2889360"/>
            <a:ext cx="10881000" cy="1298160"/>
          </a:xfrm>
          <a:prstGeom prst="roundRect">
            <a:avLst>
              <a:gd name="adj" fmla="val 2817"/>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 name="problem-badge-2"/>
          <p:cNvSpPr/>
          <p:nvPr/>
        </p:nvSpPr>
        <p:spPr>
          <a:xfrm>
            <a:off x="1024200" y="3300840"/>
            <a:ext cx="475200" cy="475200"/>
          </a:xfrm>
          <a:prstGeom prst="ellipse">
            <a:avLst/>
          </a:prstGeom>
          <a:solidFill>
            <a:srgbClr val="d2601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Text 9"/>
          <p:cNvSpPr/>
          <p:nvPr/>
        </p:nvSpPr>
        <p:spPr>
          <a:xfrm>
            <a:off x="1024200" y="3300840"/>
            <a:ext cx="47520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2</a:t>
            </a:r>
            <a:endParaRPr b="0" lang="en-US" sz="1500" spc="-1" strike="noStrike">
              <a:solidFill>
                <a:srgbClr val="000000"/>
              </a:solidFill>
              <a:latin typeface="Arial"/>
            </a:endParaRPr>
          </a:p>
        </p:txBody>
      </p:sp>
      <p:sp>
        <p:nvSpPr>
          <p:cNvPr id="42" name="Text 10"/>
          <p:cNvSpPr/>
          <p:nvPr/>
        </p:nvSpPr>
        <p:spPr>
          <a:xfrm>
            <a:off x="1719000" y="3072240"/>
            <a:ext cx="93265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chemeClr val="dk1"/>
                </a:solidFill>
                <a:latin typeface="Calibri"/>
              </a:rPr>
              <a:t>Unsold produce is a same-day loss</a:t>
            </a:r>
            <a:endParaRPr b="0" lang="en-US" sz="1800" spc="-1" strike="noStrike">
              <a:solidFill>
                <a:srgbClr val="000000"/>
              </a:solidFill>
              <a:latin typeface="Arial"/>
            </a:endParaRPr>
          </a:p>
        </p:txBody>
      </p:sp>
      <p:sp>
        <p:nvSpPr>
          <p:cNvPr id="43" name="Text 11"/>
          <p:cNvSpPr/>
          <p:nvPr/>
        </p:nvSpPr>
        <p:spPr>
          <a:xfrm>
            <a:off x="1719000" y="3438000"/>
            <a:ext cx="9326520" cy="603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6e7f6e"/>
                </a:solidFill>
                <a:latin typeface="Calibri"/>
              </a:rPr>
              <a:t>Vegetables are not inventory, they are a clock. What does not sell by closing is written off, by the person who can least afford it.</a:t>
            </a:r>
            <a:endParaRPr b="0" lang="en-US" sz="1350" spc="-1" strike="noStrike">
              <a:solidFill>
                <a:srgbClr val="000000"/>
              </a:solidFill>
              <a:latin typeface="Arial"/>
            </a:endParaRPr>
          </a:p>
        </p:txBody>
      </p:sp>
      <p:sp>
        <p:nvSpPr>
          <p:cNvPr id="44" name="problem-card-3"/>
          <p:cNvSpPr/>
          <p:nvPr/>
        </p:nvSpPr>
        <p:spPr>
          <a:xfrm>
            <a:off x="640080" y="4352400"/>
            <a:ext cx="10881000" cy="1298160"/>
          </a:xfrm>
          <a:prstGeom prst="roundRect">
            <a:avLst>
              <a:gd name="adj" fmla="val 2817"/>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 name="problem-badge-3"/>
          <p:cNvSpPr/>
          <p:nvPr/>
        </p:nvSpPr>
        <p:spPr>
          <a:xfrm>
            <a:off x="1024200" y="4763880"/>
            <a:ext cx="475200" cy="475200"/>
          </a:xfrm>
          <a:prstGeom prst="ellipse">
            <a:avLst/>
          </a:prstGeom>
          <a:solidFill>
            <a:srgbClr val="4e7a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 name="Text 14"/>
          <p:cNvSpPr/>
          <p:nvPr/>
        </p:nvSpPr>
        <p:spPr>
          <a:xfrm>
            <a:off x="1024200" y="4763880"/>
            <a:ext cx="47520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3</a:t>
            </a:r>
            <a:endParaRPr b="0" lang="en-US" sz="1500" spc="-1" strike="noStrike">
              <a:solidFill>
                <a:srgbClr val="000000"/>
              </a:solidFill>
              <a:latin typeface="Arial"/>
            </a:endParaRPr>
          </a:p>
        </p:txBody>
      </p:sp>
      <p:sp>
        <p:nvSpPr>
          <p:cNvPr id="47" name="Text 15"/>
          <p:cNvSpPr/>
          <p:nvPr/>
        </p:nvSpPr>
        <p:spPr>
          <a:xfrm>
            <a:off x="1719000" y="4535280"/>
            <a:ext cx="93265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chemeClr val="dk1"/>
                </a:solidFill>
                <a:latin typeface="Calibri"/>
              </a:rPr>
              <a:t>National delivery apps do not come here</a:t>
            </a:r>
            <a:endParaRPr b="0" lang="en-US" sz="1800" spc="-1" strike="noStrike">
              <a:solidFill>
                <a:srgbClr val="000000"/>
              </a:solidFill>
              <a:latin typeface="Arial"/>
            </a:endParaRPr>
          </a:p>
        </p:txBody>
      </p:sp>
      <p:sp>
        <p:nvSpPr>
          <p:cNvPr id="48" name="Text 16"/>
          <p:cNvSpPr/>
          <p:nvPr/>
        </p:nvSpPr>
        <p:spPr>
          <a:xfrm>
            <a:off x="1719000" y="4901040"/>
            <a:ext cx="9326520" cy="603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6e7f6e"/>
                </a:solidFill>
                <a:latin typeface="Calibri"/>
              </a:rPr>
              <a:t>They list warehouses and modern retail. A market stall has no warehouse and no fixed SKU list, so it is on no app a household already has.</a:t>
            </a:r>
            <a:endParaRPr b="0" lang="en-US" sz="1350" spc="-1" strike="noStrike">
              <a:solidFill>
                <a:srgbClr val="000000"/>
              </a:solidFill>
              <a:latin typeface="Arial"/>
            </a:endParaRPr>
          </a:p>
        </p:txBody>
      </p:sp>
      <p:sp>
        <p:nvSpPr>
          <p:cNvPr id="49" name="Text 17"/>
          <p:cNvSpPr/>
          <p:nvPr/>
        </p:nvSpPr>
        <p:spPr>
          <a:xfrm>
            <a:off x="640080" y="5797440"/>
            <a:ext cx="108810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400" spc="-1" strike="noStrike">
                <a:solidFill>
                  <a:srgbClr val="2c5f2d"/>
                </a:solidFill>
                <a:latin typeface="Calibri"/>
              </a:rPr>
              <a:t>None of this is a problem the vendor can solve with a better phone. It is a missing layer.</a:t>
            </a:r>
            <a:endParaRPr b="0" lang="en-US" sz="1400" spc="-1" strike="noStrike">
              <a:solidFill>
                <a:srgbClr val="000000"/>
              </a:solidFill>
              <a:latin typeface="Arial"/>
            </a:endParaRPr>
          </a:p>
        </p:txBody>
      </p:sp>
      <p:sp>
        <p:nvSpPr>
          <p:cNvPr id="50" name="PlaceHolder 2"/>
          <p:cNvSpPr>
            <a:spLocks noGrp="1"/>
          </p:cNvSpPr>
          <p:nvPr>
            <p:ph type="sldNum" idx="7"/>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1F1FDD1A-4EF0-4567-8F1D-7C0AD901F7DA}"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d2601a"/>
                </a:solidFill>
                <a:latin typeface="Calibri"/>
              </a:rPr>
              <a:t>WHY ANDHRA PRADESH</a:t>
            </a:r>
            <a:endParaRPr b="0" lang="en-US" sz="1050" spc="-1" strike="noStrike">
              <a:solidFill>
                <a:srgbClr val="000000"/>
              </a:solidFill>
              <a:latin typeface="Arial"/>
            </a:endParaRPr>
          </a:p>
        </p:txBody>
      </p:sp>
      <p:sp>
        <p:nvSpPr>
          <p:cNvPr id="52" name="PlaceHolder 1"/>
          <p:cNvSpPr>
            <a:spLocks noGrp="1"/>
          </p:cNvSpPr>
          <p:nvPr>
            <p:ph type="title"/>
          </p:nvPr>
        </p:nvSpPr>
        <p:spPr>
          <a:xfrm>
            <a:off x="640080" y="420480"/>
            <a:ext cx="1088100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dk1"/>
                </a:solidFill>
                <a:latin typeface="Cambria"/>
              </a:rPr>
              <a:t>The state already built three of the four layers</a:t>
            </a:r>
            <a:endParaRPr b="0" lang="en-US" sz="3200" spc="-1" strike="noStrike">
              <a:solidFill>
                <a:schemeClr val="dk1"/>
              </a:solidFill>
              <a:latin typeface="Calibri"/>
            </a:endParaRPr>
          </a:p>
        </p:txBody>
      </p:sp>
      <p:sp>
        <p:nvSpPr>
          <p:cNvPr id="53" name="layer-card-1"/>
          <p:cNvSpPr/>
          <p:nvPr/>
        </p:nvSpPr>
        <p:spPr>
          <a:xfrm>
            <a:off x="640080" y="1389960"/>
            <a:ext cx="2411280" cy="3711960"/>
          </a:xfrm>
          <a:prstGeom prst="roundRect">
            <a:avLst>
              <a:gd name="adj" fmla="val 1517"/>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 name="layer-badge-1"/>
          <p:cNvSpPr/>
          <p:nvPr/>
        </p:nvSpPr>
        <p:spPr>
          <a:xfrm>
            <a:off x="914400" y="1645920"/>
            <a:ext cx="548280" cy="54828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 name="Text 4"/>
          <p:cNvSpPr/>
          <p:nvPr/>
        </p:nvSpPr>
        <p:spPr>
          <a:xfrm>
            <a:off x="914400" y="16459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01</a:t>
            </a:r>
            <a:endParaRPr b="0" lang="en-US" sz="1400" spc="-1" strike="noStrike">
              <a:solidFill>
                <a:srgbClr val="000000"/>
              </a:solidFill>
              <a:latin typeface="Arial"/>
            </a:endParaRPr>
          </a:p>
        </p:txBody>
      </p:sp>
      <p:sp>
        <p:nvSpPr>
          <p:cNvPr id="56" name="Text 5"/>
          <p:cNvSpPr/>
          <p:nvPr/>
        </p:nvSpPr>
        <p:spPr>
          <a:xfrm>
            <a:off x="914400" y="2340720"/>
            <a:ext cx="18626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chemeClr val="dk1"/>
                </a:solidFill>
                <a:latin typeface="Calibri"/>
              </a:rPr>
              <a:t>The markets</a:t>
            </a:r>
            <a:endParaRPr b="0" lang="en-US" sz="1600" spc="-1" strike="noStrike">
              <a:solidFill>
                <a:srgbClr val="000000"/>
              </a:solidFill>
              <a:latin typeface="Arial"/>
            </a:endParaRPr>
          </a:p>
        </p:txBody>
      </p:sp>
      <p:sp>
        <p:nvSpPr>
          <p:cNvPr id="57" name="Text 6"/>
          <p:cNvSpPr/>
          <p:nvPr/>
        </p:nvSpPr>
        <p:spPr>
          <a:xfrm>
            <a:off x="914400" y="2926080"/>
            <a:ext cx="1862640" cy="1572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Rythu Bazaars have run since 1999 as state-backed farmer-to-consumer markets under market committees. The trust and the network already exist.</a:t>
            </a:r>
            <a:endParaRPr b="0" lang="en-US" sz="1200" spc="-1" strike="noStrike">
              <a:solidFill>
                <a:srgbClr val="000000"/>
              </a:solidFill>
              <a:latin typeface="Arial"/>
            </a:endParaRPr>
          </a:p>
        </p:txBody>
      </p:sp>
      <p:sp>
        <p:nvSpPr>
          <p:cNvPr id="58" name="Text 7"/>
          <p:cNvSpPr/>
          <p:nvPr/>
        </p:nvSpPr>
        <p:spPr>
          <a:xfrm>
            <a:off x="914400" y="4645080"/>
            <a:ext cx="18626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7" strike="noStrike">
                <a:solidFill>
                  <a:srgbClr val="2c5f2d"/>
                </a:solidFill>
                <a:latin typeface="Calibri"/>
              </a:rPr>
              <a:t>IN PLACE</a:t>
            </a:r>
            <a:endParaRPr b="0" lang="en-US" sz="1000" spc="-1" strike="noStrike">
              <a:solidFill>
                <a:srgbClr val="000000"/>
              </a:solidFill>
              <a:latin typeface="Arial"/>
            </a:endParaRPr>
          </a:p>
        </p:txBody>
      </p:sp>
      <p:sp>
        <p:nvSpPr>
          <p:cNvPr id="59" name="layer-card-2"/>
          <p:cNvSpPr/>
          <p:nvPr/>
        </p:nvSpPr>
        <p:spPr>
          <a:xfrm>
            <a:off x="3463200" y="1389960"/>
            <a:ext cx="2411280" cy="3711960"/>
          </a:xfrm>
          <a:prstGeom prst="roundRect">
            <a:avLst>
              <a:gd name="adj" fmla="val 1517"/>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 name="layer-badge-2"/>
          <p:cNvSpPr/>
          <p:nvPr/>
        </p:nvSpPr>
        <p:spPr>
          <a:xfrm>
            <a:off x="3737520" y="1645920"/>
            <a:ext cx="548280" cy="54828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 name="Text 10"/>
          <p:cNvSpPr/>
          <p:nvPr/>
        </p:nvSpPr>
        <p:spPr>
          <a:xfrm>
            <a:off x="3737520" y="16459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02</a:t>
            </a:r>
            <a:endParaRPr b="0" lang="en-US" sz="1400" spc="-1" strike="noStrike">
              <a:solidFill>
                <a:srgbClr val="000000"/>
              </a:solidFill>
              <a:latin typeface="Arial"/>
            </a:endParaRPr>
          </a:p>
        </p:txBody>
      </p:sp>
      <p:sp>
        <p:nvSpPr>
          <p:cNvPr id="62" name="Text 11"/>
          <p:cNvSpPr/>
          <p:nvPr/>
        </p:nvSpPr>
        <p:spPr>
          <a:xfrm>
            <a:off x="3737520" y="2340720"/>
            <a:ext cx="18626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chemeClr val="dk1"/>
                </a:solidFill>
                <a:latin typeface="Calibri"/>
              </a:rPr>
              <a:t>Digital marketplace</a:t>
            </a:r>
            <a:endParaRPr b="0" lang="en-US" sz="1600" spc="-1" strike="noStrike">
              <a:solidFill>
                <a:srgbClr val="000000"/>
              </a:solidFill>
              <a:latin typeface="Arial"/>
            </a:endParaRPr>
          </a:p>
        </p:txBody>
      </p:sp>
      <p:sp>
        <p:nvSpPr>
          <p:cNvPr id="63" name="Text 12"/>
          <p:cNvSpPr/>
          <p:nvPr/>
        </p:nvSpPr>
        <p:spPr>
          <a:xfrm>
            <a:off x="3737520" y="2926080"/>
            <a:ext cx="1862640" cy="1572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e-Rythu, built with Mastercard, digitised agri marketplace listings, payments and workflows for farmers and FPOs across the state.</a:t>
            </a:r>
            <a:endParaRPr b="0" lang="en-US" sz="1200" spc="-1" strike="noStrike">
              <a:solidFill>
                <a:srgbClr val="000000"/>
              </a:solidFill>
              <a:latin typeface="Arial"/>
            </a:endParaRPr>
          </a:p>
        </p:txBody>
      </p:sp>
      <p:sp>
        <p:nvSpPr>
          <p:cNvPr id="64" name="Text 13"/>
          <p:cNvSpPr/>
          <p:nvPr/>
        </p:nvSpPr>
        <p:spPr>
          <a:xfrm>
            <a:off x="3737520" y="4645080"/>
            <a:ext cx="18626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7" strike="noStrike">
                <a:solidFill>
                  <a:srgbClr val="2c5f2d"/>
                </a:solidFill>
                <a:latin typeface="Calibri"/>
              </a:rPr>
              <a:t>IN PLACE</a:t>
            </a:r>
            <a:endParaRPr b="0" lang="en-US" sz="1000" spc="-1" strike="noStrike">
              <a:solidFill>
                <a:srgbClr val="000000"/>
              </a:solidFill>
              <a:latin typeface="Arial"/>
            </a:endParaRPr>
          </a:p>
        </p:txBody>
      </p:sp>
      <p:sp>
        <p:nvSpPr>
          <p:cNvPr id="65" name="layer-card-3"/>
          <p:cNvSpPr/>
          <p:nvPr/>
        </p:nvSpPr>
        <p:spPr>
          <a:xfrm>
            <a:off x="6286680" y="1389960"/>
            <a:ext cx="2411280" cy="3711960"/>
          </a:xfrm>
          <a:prstGeom prst="roundRect">
            <a:avLst>
              <a:gd name="adj" fmla="val 1517"/>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6" name="layer-badge-3"/>
          <p:cNvSpPr/>
          <p:nvPr/>
        </p:nvSpPr>
        <p:spPr>
          <a:xfrm>
            <a:off x="6561000" y="1645920"/>
            <a:ext cx="548280" cy="54828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Text 16"/>
          <p:cNvSpPr/>
          <p:nvPr/>
        </p:nvSpPr>
        <p:spPr>
          <a:xfrm>
            <a:off x="6561000" y="16459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03</a:t>
            </a:r>
            <a:endParaRPr b="0" lang="en-US" sz="1400" spc="-1" strike="noStrike">
              <a:solidFill>
                <a:srgbClr val="000000"/>
              </a:solidFill>
              <a:latin typeface="Arial"/>
            </a:endParaRPr>
          </a:p>
        </p:txBody>
      </p:sp>
      <p:sp>
        <p:nvSpPr>
          <p:cNvPr id="68" name="Text 17"/>
          <p:cNvSpPr/>
          <p:nvPr/>
        </p:nvSpPr>
        <p:spPr>
          <a:xfrm>
            <a:off x="6561000" y="2340720"/>
            <a:ext cx="18626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chemeClr val="dk1"/>
                </a:solidFill>
                <a:latin typeface="Calibri"/>
              </a:rPr>
              <a:t>Farmer touchpoints</a:t>
            </a:r>
            <a:endParaRPr b="0" lang="en-US" sz="1600" spc="-1" strike="noStrike">
              <a:solidFill>
                <a:srgbClr val="000000"/>
              </a:solidFill>
              <a:latin typeface="Arial"/>
            </a:endParaRPr>
          </a:p>
        </p:txBody>
      </p:sp>
      <p:sp>
        <p:nvSpPr>
          <p:cNvPr id="69" name="Text 18"/>
          <p:cNvSpPr/>
          <p:nvPr/>
        </p:nvSpPr>
        <p:spPr>
          <a:xfrm>
            <a:off x="6561000" y="2926080"/>
            <a:ext cx="1862640" cy="1572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Rythu Bharosa Kendras and e-Farmarket already connect growers to traders at the village level.</a:t>
            </a:r>
            <a:endParaRPr b="0" lang="en-US" sz="1200" spc="-1" strike="noStrike">
              <a:solidFill>
                <a:srgbClr val="000000"/>
              </a:solidFill>
              <a:latin typeface="Arial"/>
            </a:endParaRPr>
          </a:p>
        </p:txBody>
      </p:sp>
      <p:sp>
        <p:nvSpPr>
          <p:cNvPr id="70" name="Text 19"/>
          <p:cNvSpPr/>
          <p:nvPr/>
        </p:nvSpPr>
        <p:spPr>
          <a:xfrm>
            <a:off x="6561000" y="4645080"/>
            <a:ext cx="18626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7" strike="noStrike">
                <a:solidFill>
                  <a:srgbClr val="2c5f2d"/>
                </a:solidFill>
                <a:latin typeface="Calibri"/>
              </a:rPr>
              <a:t>IN PLACE</a:t>
            </a:r>
            <a:endParaRPr b="0" lang="en-US" sz="1000" spc="-1" strike="noStrike">
              <a:solidFill>
                <a:srgbClr val="000000"/>
              </a:solidFill>
              <a:latin typeface="Arial"/>
            </a:endParaRPr>
          </a:p>
        </p:txBody>
      </p:sp>
      <p:sp>
        <p:nvSpPr>
          <p:cNvPr id="71" name="layer-card-4"/>
          <p:cNvSpPr/>
          <p:nvPr/>
        </p:nvSpPr>
        <p:spPr>
          <a:xfrm>
            <a:off x="9109800" y="1389960"/>
            <a:ext cx="2411280" cy="3711960"/>
          </a:xfrm>
          <a:prstGeom prst="roundRect">
            <a:avLst>
              <a:gd name="adj" fmla="val 1517"/>
            </a:avLst>
          </a:prstGeom>
          <a:solidFill>
            <a:schemeClr val="bg1"/>
          </a:solidFill>
          <a:ln w="9525">
            <a:solidFill>
              <a:srgbClr val="d2601a"/>
            </a:solidFill>
            <a:round/>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2" name="layer-badge-4"/>
          <p:cNvSpPr/>
          <p:nvPr/>
        </p:nvSpPr>
        <p:spPr>
          <a:xfrm>
            <a:off x="9384120" y="1645920"/>
            <a:ext cx="548280" cy="548280"/>
          </a:xfrm>
          <a:prstGeom prst="ellipse">
            <a:avLst/>
          </a:prstGeom>
          <a:solidFill>
            <a:srgbClr val="d2601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 name="Text 22"/>
          <p:cNvSpPr/>
          <p:nvPr/>
        </p:nvSpPr>
        <p:spPr>
          <a:xfrm>
            <a:off x="9384120" y="16459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04</a:t>
            </a:r>
            <a:endParaRPr b="0" lang="en-US" sz="1400" spc="-1" strike="noStrike">
              <a:solidFill>
                <a:srgbClr val="000000"/>
              </a:solidFill>
              <a:latin typeface="Arial"/>
            </a:endParaRPr>
          </a:p>
        </p:txBody>
      </p:sp>
      <p:sp>
        <p:nvSpPr>
          <p:cNvPr id="74" name="Text 23"/>
          <p:cNvSpPr/>
          <p:nvPr/>
        </p:nvSpPr>
        <p:spPr>
          <a:xfrm>
            <a:off x="9384120" y="2340720"/>
            <a:ext cx="18626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chemeClr val="dk1"/>
                </a:solidFill>
                <a:latin typeface="Calibri"/>
              </a:rPr>
              <a:t>Household last mile</a:t>
            </a:r>
            <a:endParaRPr b="0" lang="en-US" sz="1600" spc="-1" strike="noStrike">
              <a:solidFill>
                <a:srgbClr val="000000"/>
              </a:solidFill>
              <a:latin typeface="Arial"/>
            </a:endParaRPr>
          </a:p>
        </p:txBody>
      </p:sp>
      <p:sp>
        <p:nvSpPr>
          <p:cNvPr id="75" name="Text 24"/>
          <p:cNvSpPr/>
          <p:nvPr/>
        </p:nvSpPr>
        <p:spPr>
          <a:xfrm>
            <a:off x="9384120" y="2926080"/>
            <a:ext cx="1862640" cy="1572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No app a family orders a kilo of tomatoes from, and no rider who carries it from the stall to the door. This is the gap.</a:t>
            </a:r>
            <a:endParaRPr b="0" lang="en-US" sz="1200" spc="-1" strike="noStrike">
              <a:solidFill>
                <a:srgbClr val="000000"/>
              </a:solidFill>
              <a:latin typeface="Arial"/>
            </a:endParaRPr>
          </a:p>
        </p:txBody>
      </p:sp>
      <p:sp>
        <p:nvSpPr>
          <p:cNvPr id="76" name="Text 25"/>
          <p:cNvSpPr/>
          <p:nvPr/>
        </p:nvSpPr>
        <p:spPr>
          <a:xfrm>
            <a:off x="9384120" y="4645080"/>
            <a:ext cx="18626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57" strike="noStrike">
                <a:solidFill>
                  <a:srgbClr val="d2601a"/>
                </a:solidFill>
                <a:latin typeface="Calibri"/>
              </a:rPr>
              <a:t>MISSING</a:t>
            </a:r>
            <a:endParaRPr b="0" lang="en-US" sz="1000" spc="-1" strike="noStrike">
              <a:solidFill>
                <a:srgbClr val="000000"/>
              </a:solidFill>
              <a:latin typeface="Arial"/>
            </a:endParaRPr>
          </a:p>
        </p:txBody>
      </p:sp>
      <p:sp>
        <p:nvSpPr>
          <p:cNvPr id="77" name="closing-band"/>
          <p:cNvSpPr/>
          <p:nvPr/>
        </p:nvSpPr>
        <p:spPr>
          <a:xfrm>
            <a:off x="640080" y="5248800"/>
            <a:ext cx="10881000" cy="914040"/>
          </a:xfrm>
          <a:prstGeom prst="roundRect">
            <a:avLst>
              <a:gd name="adj" fmla="val 4000"/>
            </a:avLst>
          </a:prstGeom>
          <a:solidFill>
            <a:schemeClr val="tx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Text 27"/>
          <p:cNvSpPr/>
          <p:nvPr/>
        </p:nvSpPr>
        <p:spPr>
          <a:xfrm>
            <a:off x="1024200" y="5248800"/>
            <a:ext cx="1011276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rPr>
              <a:t>VegDrop is layer four, and only layer four. </a:t>
            </a:r>
            <a:r>
              <a:rPr b="0" lang="en-US" sz="1500" spc="-1" strike="noStrike">
                <a:solidFill>
                  <a:srgbClr val="97bc62"/>
                </a:solidFill>
                <a:latin typeface="Calibri"/>
              </a:rPr>
              <a:t>It does not replace the bazaar or compete with it — it extends one stall's catchment from a footpath to a whole town.</a:t>
            </a:r>
            <a:endParaRPr b="0" lang="en-US" sz="1500" spc="-1" strike="noStrike">
              <a:solidFill>
                <a:srgbClr val="000000"/>
              </a:solidFill>
              <a:latin typeface="Arial"/>
            </a:endParaRPr>
          </a:p>
        </p:txBody>
      </p:sp>
      <p:sp>
        <p:nvSpPr>
          <p:cNvPr id="79" name="PlaceHolder 2"/>
          <p:cNvSpPr>
            <a:spLocks noGrp="1"/>
          </p:cNvSpPr>
          <p:nvPr>
            <p:ph type="sldNum" idx="8"/>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EFC53158-DFB7-476E-9A69-EF06436B17F3}"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d2601a"/>
                </a:solidFill>
                <a:latin typeface="Calibri"/>
              </a:rPr>
              <a:t>WHAT IT IS</a:t>
            </a:r>
            <a:endParaRPr b="0" lang="en-US" sz="1050" spc="-1" strike="noStrike">
              <a:solidFill>
                <a:srgbClr val="000000"/>
              </a:solidFill>
              <a:latin typeface="Arial"/>
            </a:endParaRPr>
          </a:p>
        </p:txBody>
      </p:sp>
      <p:sp>
        <p:nvSpPr>
          <p:cNvPr id="81" name="PlaceHolder 1"/>
          <p:cNvSpPr>
            <a:spLocks noGrp="1"/>
          </p:cNvSpPr>
          <p:nvPr>
            <p:ph type="title"/>
          </p:nvPr>
        </p:nvSpPr>
        <p:spPr>
          <a:xfrm>
            <a:off x="640080" y="420480"/>
            <a:ext cx="1088100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dk1"/>
                </a:solidFill>
                <a:latin typeface="Cambria"/>
              </a:rPr>
              <a:t>The seller is a market stall, not a warehouse</a:t>
            </a:r>
            <a:endParaRPr b="0" lang="en-US" sz="3200" spc="-1" strike="noStrike">
              <a:solidFill>
                <a:schemeClr val="dk1"/>
              </a:solidFill>
              <a:latin typeface="Calibri"/>
            </a:endParaRPr>
          </a:p>
        </p:txBody>
      </p:sp>
      <p:sp>
        <p:nvSpPr>
          <p:cNvPr id="82" name="Text 2"/>
          <p:cNvSpPr/>
          <p:nvPr/>
        </p:nvSpPr>
        <p:spPr>
          <a:xfrm>
            <a:off x="640080" y="1261800"/>
            <a:ext cx="108810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50" spc="-1" strike="noStrike">
                <a:solidFill>
                  <a:srgbClr val="6e7f6e"/>
                </a:solidFill>
                <a:latin typeface="Calibri"/>
              </a:rPr>
              <a:t>Four kinds of people use it, each with their own app, all on one codebase and one database.</a:t>
            </a:r>
            <a:endParaRPr b="0" lang="en-US" sz="1450" spc="-1" strike="noStrike">
              <a:solidFill>
                <a:srgbClr val="000000"/>
              </a:solidFill>
              <a:latin typeface="Arial"/>
            </a:endParaRPr>
          </a:p>
        </p:txBody>
      </p:sp>
      <p:sp>
        <p:nvSpPr>
          <p:cNvPr id="83" name="actor-card-1"/>
          <p:cNvSpPr/>
          <p:nvPr/>
        </p:nvSpPr>
        <p:spPr>
          <a:xfrm>
            <a:off x="640080" y="1682640"/>
            <a:ext cx="2445840" cy="3254760"/>
          </a:xfrm>
          <a:prstGeom prst="roundRect">
            <a:avLst>
              <a:gd name="adj" fmla="val 1495"/>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4" name="actor-badge-1"/>
          <p:cNvSpPr/>
          <p:nvPr/>
        </p:nvSpPr>
        <p:spPr>
          <a:xfrm>
            <a:off x="932760" y="1920240"/>
            <a:ext cx="548280" cy="54828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5" name="Text 5"/>
          <p:cNvSpPr/>
          <p:nvPr/>
        </p:nvSpPr>
        <p:spPr>
          <a:xfrm>
            <a:off x="932760" y="192024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chemeClr val="lt1"/>
                </a:solidFill>
                <a:latin typeface="Calibri"/>
              </a:rPr>
              <a:t>H</a:t>
            </a:r>
            <a:endParaRPr b="0" lang="en-US" sz="1800" spc="-1" strike="noStrike">
              <a:solidFill>
                <a:srgbClr val="000000"/>
              </a:solidFill>
              <a:latin typeface="Arial"/>
            </a:endParaRPr>
          </a:p>
        </p:txBody>
      </p:sp>
      <p:sp>
        <p:nvSpPr>
          <p:cNvPr id="86" name="Text 6"/>
          <p:cNvSpPr/>
          <p:nvPr/>
        </p:nvSpPr>
        <p:spPr>
          <a:xfrm>
            <a:off x="932760" y="2597040"/>
            <a:ext cx="1860480" cy="585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50" spc="-1" strike="noStrike">
                <a:solidFill>
                  <a:schemeClr val="dk1"/>
                </a:solidFill>
                <a:latin typeface="Calibri"/>
              </a:rPr>
              <a:t>The household</a:t>
            </a:r>
            <a:endParaRPr b="0" lang="en-US" sz="1650" spc="-1" strike="noStrike">
              <a:solidFill>
                <a:srgbClr val="000000"/>
              </a:solidFill>
              <a:latin typeface="Arial"/>
            </a:endParaRPr>
          </a:p>
        </p:txBody>
      </p:sp>
      <p:sp>
        <p:nvSpPr>
          <p:cNvPr id="87" name="Text 7"/>
          <p:cNvSpPr/>
          <p:nvPr/>
        </p:nvSpPr>
        <p:spPr>
          <a:xfrm>
            <a:off x="932760" y="3218760"/>
            <a:ext cx="1860480" cy="1261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6e7f6e"/>
                </a:solidFill>
                <a:latin typeface="Calibri"/>
              </a:rPr>
              <a:t>Browses the market's produce, builds a basket, pays by wallet or Razorpay, follows the rider. In Telugu, Hindi or English.</a:t>
            </a:r>
            <a:endParaRPr b="0" lang="en-US" sz="1250" spc="-1" strike="noStrike">
              <a:solidFill>
                <a:srgbClr val="000000"/>
              </a:solidFill>
              <a:latin typeface="Arial"/>
            </a:endParaRPr>
          </a:p>
        </p:txBody>
      </p:sp>
      <p:sp>
        <p:nvSpPr>
          <p:cNvPr id="88" name="Text 8"/>
          <p:cNvSpPr/>
          <p:nvPr/>
        </p:nvSpPr>
        <p:spPr>
          <a:xfrm>
            <a:off x="932760" y="4553640"/>
            <a:ext cx="18604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17" strike="noStrike">
                <a:solidFill>
                  <a:srgbClr val="2c5f2d"/>
                </a:solidFill>
                <a:latin typeface="Calibri"/>
              </a:rPr>
              <a:t>Customer app</a:t>
            </a:r>
            <a:endParaRPr b="0" lang="en-US" sz="1050" spc="-1" strike="noStrike">
              <a:solidFill>
                <a:srgbClr val="000000"/>
              </a:solidFill>
              <a:latin typeface="Arial"/>
            </a:endParaRPr>
          </a:p>
        </p:txBody>
      </p:sp>
      <p:sp>
        <p:nvSpPr>
          <p:cNvPr id="89" name="actor-card-2"/>
          <p:cNvSpPr/>
          <p:nvPr/>
        </p:nvSpPr>
        <p:spPr>
          <a:xfrm>
            <a:off x="3452040" y="1682640"/>
            <a:ext cx="2445840" cy="3254760"/>
          </a:xfrm>
          <a:prstGeom prst="roundRect">
            <a:avLst>
              <a:gd name="adj" fmla="val 1495"/>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0" name="actor-badge-2"/>
          <p:cNvSpPr/>
          <p:nvPr/>
        </p:nvSpPr>
        <p:spPr>
          <a:xfrm>
            <a:off x="3744360" y="1920240"/>
            <a:ext cx="548280" cy="548280"/>
          </a:xfrm>
          <a:prstGeom prst="ellipse">
            <a:avLst/>
          </a:prstGeom>
          <a:solidFill>
            <a:srgbClr val="d2601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1" name="Text 11"/>
          <p:cNvSpPr/>
          <p:nvPr/>
        </p:nvSpPr>
        <p:spPr>
          <a:xfrm>
            <a:off x="3744360" y="192024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chemeClr val="lt1"/>
                </a:solidFill>
                <a:latin typeface="Calibri"/>
              </a:rPr>
              <a:t>V</a:t>
            </a:r>
            <a:endParaRPr b="0" lang="en-US" sz="1800" spc="-1" strike="noStrike">
              <a:solidFill>
                <a:srgbClr val="000000"/>
              </a:solidFill>
              <a:latin typeface="Arial"/>
            </a:endParaRPr>
          </a:p>
        </p:txBody>
      </p:sp>
      <p:sp>
        <p:nvSpPr>
          <p:cNvPr id="92" name="Text 12"/>
          <p:cNvSpPr/>
          <p:nvPr/>
        </p:nvSpPr>
        <p:spPr>
          <a:xfrm>
            <a:off x="3744360" y="2597040"/>
            <a:ext cx="1860480" cy="585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50" spc="-1" strike="noStrike">
                <a:solidFill>
                  <a:schemeClr val="dk1"/>
                </a:solidFill>
                <a:latin typeface="Calibri"/>
              </a:rPr>
              <a:t>The stall vendor</a:t>
            </a:r>
            <a:endParaRPr b="0" lang="en-US" sz="1650" spc="-1" strike="noStrike">
              <a:solidFill>
                <a:srgbClr val="000000"/>
              </a:solidFill>
              <a:latin typeface="Arial"/>
            </a:endParaRPr>
          </a:p>
        </p:txBody>
      </p:sp>
      <p:sp>
        <p:nvSpPr>
          <p:cNvPr id="93" name="Text 13"/>
          <p:cNvSpPr/>
          <p:nvPr/>
        </p:nvSpPr>
        <p:spPr>
          <a:xfrm>
            <a:off x="3744360" y="3218760"/>
            <a:ext cx="1860480" cy="1261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6e7f6e"/>
                </a:solidFill>
                <a:latin typeface="Calibri"/>
              </a:rPr>
              <a:t>Lists what they have today, sets the morning price, confirms yesterday's prices in one tap, packs what the order assigns them.</a:t>
            </a:r>
            <a:endParaRPr b="0" lang="en-US" sz="1250" spc="-1" strike="noStrike">
              <a:solidFill>
                <a:srgbClr val="000000"/>
              </a:solidFill>
              <a:latin typeface="Arial"/>
            </a:endParaRPr>
          </a:p>
        </p:txBody>
      </p:sp>
      <p:sp>
        <p:nvSpPr>
          <p:cNvPr id="94" name="Text 14"/>
          <p:cNvSpPr/>
          <p:nvPr/>
        </p:nvSpPr>
        <p:spPr>
          <a:xfrm>
            <a:off x="3744360" y="4553640"/>
            <a:ext cx="18604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17" strike="noStrike">
                <a:solidFill>
                  <a:srgbClr val="d2601a"/>
                </a:solidFill>
                <a:latin typeface="Calibri"/>
              </a:rPr>
              <a:t>Shopkeeper app</a:t>
            </a:r>
            <a:endParaRPr b="0" lang="en-US" sz="1050" spc="-1" strike="noStrike">
              <a:solidFill>
                <a:srgbClr val="000000"/>
              </a:solidFill>
              <a:latin typeface="Arial"/>
            </a:endParaRPr>
          </a:p>
        </p:txBody>
      </p:sp>
      <p:sp>
        <p:nvSpPr>
          <p:cNvPr id="95" name="actor-card-3"/>
          <p:cNvSpPr/>
          <p:nvPr/>
        </p:nvSpPr>
        <p:spPr>
          <a:xfrm>
            <a:off x="6263640" y="1682640"/>
            <a:ext cx="2445840" cy="3254760"/>
          </a:xfrm>
          <a:prstGeom prst="roundRect">
            <a:avLst>
              <a:gd name="adj" fmla="val 1495"/>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6" name="actor-badge-3"/>
          <p:cNvSpPr/>
          <p:nvPr/>
        </p:nvSpPr>
        <p:spPr>
          <a:xfrm>
            <a:off x="6556320" y="1920240"/>
            <a:ext cx="548280" cy="548280"/>
          </a:xfrm>
          <a:prstGeom prst="ellipse">
            <a:avLst/>
          </a:prstGeom>
          <a:solidFill>
            <a:srgbClr val="4e7a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7" name="Text 17"/>
          <p:cNvSpPr/>
          <p:nvPr/>
        </p:nvSpPr>
        <p:spPr>
          <a:xfrm>
            <a:off x="6556320" y="192024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chemeClr val="lt1"/>
                </a:solidFill>
                <a:latin typeface="Calibri"/>
              </a:rPr>
              <a:t>R</a:t>
            </a:r>
            <a:endParaRPr b="0" lang="en-US" sz="1800" spc="-1" strike="noStrike">
              <a:solidFill>
                <a:srgbClr val="000000"/>
              </a:solidFill>
              <a:latin typeface="Arial"/>
            </a:endParaRPr>
          </a:p>
        </p:txBody>
      </p:sp>
      <p:sp>
        <p:nvSpPr>
          <p:cNvPr id="98" name="Text 18"/>
          <p:cNvSpPr/>
          <p:nvPr/>
        </p:nvSpPr>
        <p:spPr>
          <a:xfrm>
            <a:off x="6556320" y="2597040"/>
            <a:ext cx="1860480" cy="585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50" spc="-1" strike="noStrike">
                <a:solidFill>
                  <a:schemeClr val="dk1"/>
                </a:solidFill>
                <a:latin typeface="Calibri"/>
              </a:rPr>
              <a:t>The rider</a:t>
            </a:r>
            <a:endParaRPr b="0" lang="en-US" sz="1650" spc="-1" strike="noStrike">
              <a:solidFill>
                <a:srgbClr val="000000"/>
              </a:solidFill>
              <a:latin typeface="Arial"/>
            </a:endParaRPr>
          </a:p>
        </p:txBody>
      </p:sp>
      <p:sp>
        <p:nvSpPr>
          <p:cNvPr id="99" name="Text 19"/>
          <p:cNvSpPr/>
          <p:nvPr/>
        </p:nvSpPr>
        <p:spPr>
          <a:xfrm>
            <a:off x="6556320" y="3218760"/>
            <a:ext cx="1860480" cy="1261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6e7f6e"/>
                </a:solidFill>
                <a:latin typeface="Calibri"/>
              </a:rPr>
              <a:t>Takes a job, collects from each stall against that stall's own code, delivers against the household's code, is paid per order.</a:t>
            </a:r>
            <a:endParaRPr b="0" lang="en-US" sz="1250" spc="-1" strike="noStrike">
              <a:solidFill>
                <a:srgbClr val="000000"/>
              </a:solidFill>
              <a:latin typeface="Arial"/>
            </a:endParaRPr>
          </a:p>
        </p:txBody>
      </p:sp>
      <p:sp>
        <p:nvSpPr>
          <p:cNvPr id="100" name="Text 20"/>
          <p:cNvSpPr/>
          <p:nvPr/>
        </p:nvSpPr>
        <p:spPr>
          <a:xfrm>
            <a:off x="6556320" y="4553640"/>
            <a:ext cx="18604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17" strike="noStrike">
                <a:solidFill>
                  <a:srgbClr val="4e7a68"/>
                </a:solidFill>
                <a:latin typeface="Calibri"/>
              </a:rPr>
              <a:t>Delivery app</a:t>
            </a:r>
            <a:endParaRPr b="0" lang="en-US" sz="1050" spc="-1" strike="noStrike">
              <a:solidFill>
                <a:srgbClr val="000000"/>
              </a:solidFill>
              <a:latin typeface="Arial"/>
            </a:endParaRPr>
          </a:p>
        </p:txBody>
      </p:sp>
      <p:sp>
        <p:nvSpPr>
          <p:cNvPr id="101" name="actor-card-4"/>
          <p:cNvSpPr/>
          <p:nvPr/>
        </p:nvSpPr>
        <p:spPr>
          <a:xfrm>
            <a:off x="9075600" y="1682640"/>
            <a:ext cx="2445840" cy="3254760"/>
          </a:xfrm>
          <a:prstGeom prst="roundRect">
            <a:avLst>
              <a:gd name="adj" fmla="val 1495"/>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2" name="actor-badge-4"/>
          <p:cNvSpPr/>
          <p:nvPr/>
        </p:nvSpPr>
        <p:spPr>
          <a:xfrm>
            <a:off x="9367920" y="1920240"/>
            <a:ext cx="548280" cy="548280"/>
          </a:xfrm>
          <a:prstGeom prst="ellipse">
            <a:avLst/>
          </a:prstGeom>
          <a:solidFill>
            <a:srgbClr val="b8860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3" name="Text 23"/>
          <p:cNvSpPr/>
          <p:nvPr/>
        </p:nvSpPr>
        <p:spPr>
          <a:xfrm>
            <a:off x="9367920" y="192024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chemeClr val="lt1"/>
                </a:solidFill>
                <a:latin typeface="Calibri"/>
              </a:rPr>
              <a:t>M</a:t>
            </a:r>
            <a:endParaRPr b="0" lang="en-US" sz="1800" spc="-1" strike="noStrike">
              <a:solidFill>
                <a:srgbClr val="000000"/>
              </a:solidFill>
              <a:latin typeface="Arial"/>
            </a:endParaRPr>
          </a:p>
        </p:txBody>
      </p:sp>
      <p:sp>
        <p:nvSpPr>
          <p:cNvPr id="104" name="Text 24"/>
          <p:cNvSpPr/>
          <p:nvPr/>
        </p:nvSpPr>
        <p:spPr>
          <a:xfrm>
            <a:off x="9367920" y="2597040"/>
            <a:ext cx="1860480" cy="585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50" spc="-1" strike="noStrike">
                <a:solidFill>
                  <a:schemeClr val="dk1"/>
                </a:solidFill>
                <a:latin typeface="Calibri"/>
              </a:rPr>
              <a:t>Market committee</a:t>
            </a:r>
            <a:endParaRPr b="0" lang="en-US" sz="1650" spc="-1" strike="noStrike">
              <a:solidFill>
                <a:srgbClr val="000000"/>
              </a:solidFill>
              <a:latin typeface="Arial"/>
            </a:endParaRPr>
          </a:p>
        </p:txBody>
      </p:sp>
      <p:sp>
        <p:nvSpPr>
          <p:cNvPr id="105" name="Text 25"/>
          <p:cNvSpPr/>
          <p:nvPr/>
        </p:nvSpPr>
        <p:spPr>
          <a:xfrm>
            <a:off x="9367920" y="3218760"/>
            <a:ext cx="1860480" cy="1261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6e7f6e"/>
                </a:solidFill>
                <a:latin typeface="Calibri"/>
              </a:rPr>
              <a:t>Registers the market, approves or refuses each stall, sees the market's analytics, and sets how every rupee is divided.</a:t>
            </a:r>
            <a:endParaRPr b="0" lang="en-US" sz="1250" spc="-1" strike="noStrike">
              <a:solidFill>
                <a:srgbClr val="000000"/>
              </a:solidFill>
              <a:latin typeface="Arial"/>
            </a:endParaRPr>
          </a:p>
        </p:txBody>
      </p:sp>
      <p:sp>
        <p:nvSpPr>
          <p:cNvPr id="106" name="Text 26"/>
          <p:cNvSpPr/>
          <p:nvPr/>
        </p:nvSpPr>
        <p:spPr>
          <a:xfrm>
            <a:off x="9367920" y="4553640"/>
            <a:ext cx="18604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17" strike="noStrike">
                <a:solidFill>
                  <a:srgbClr val="b8860b"/>
                </a:solidFill>
                <a:latin typeface="Calibri"/>
              </a:rPr>
              <a:t>Market owner app</a:t>
            </a:r>
            <a:endParaRPr b="0" lang="en-US" sz="1050" spc="-1" strike="noStrike">
              <a:solidFill>
                <a:srgbClr val="000000"/>
              </a:solidFill>
              <a:latin typeface="Arial"/>
            </a:endParaRPr>
          </a:p>
        </p:txBody>
      </p:sp>
      <p:sp>
        <p:nvSpPr>
          <p:cNvPr id="107" name="Text 27"/>
          <p:cNvSpPr/>
          <p:nvPr/>
        </p:nvSpPr>
        <p:spPr>
          <a:xfrm>
            <a:off x="640080" y="5157360"/>
            <a:ext cx="2445840" cy="585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2c5f2d"/>
                </a:solidFill>
                <a:latin typeface="Calibri"/>
              </a:rPr>
              <a:t>6</a:t>
            </a:r>
            <a:endParaRPr b="0" lang="en-US" sz="4000" spc="-1" strike="noStrike">
              <a:solidFill>
                <a:srgbClr val="000000"/>
              </a:solidFill>
              <a:latin typeface="Arial"/>
            </a:endParaRPr>
          </a:p>
        </p:txBody>
      </p:sp>
      <p:sp>
        <p:nvSpPr>
          <p:cNvPr id="108" name="Text 28"/>
          <p:cNvSpPr/>
          <p:nvPr/>
        </p:nvSpPr>
        <p:spPr>
          <a:xfrm>
            <a:off x="640080" y="5742360"/>
            <a:ext cx="244584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6e7f6e"/>
                </a:solidFill>
                <a:latin typeface="Calibri"/>
              </a:rPr>
              <a:t>separate role apps</a:t>
            </a:r>
            <a:endParaRPr b="0" lang="en-US" sz="1150" spc="-1" strike="noStrike">
              <a:solidFill>
                <a:srgbClr val="000000"/>
              </a:solidFill>
              <a:latin typeface="Arial"/>
            </a:endParaRPr>
          </a:p>
        </p:txBody>
      </p:sp>
      <p:sp>
        <p:nvSpPr>
          <p:cNvPr id="109" name="Text 29"/>
          <p:cNvSpPr/>
          <p:nvPr/>
        </p:nvSpPr>
        <p:spPr>
          <a:xfrm>
            <a:off x="3452040" y="5157360"/>
            <a:ext cx="2445840" cy="585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2c5f2d"/>
                </a:solidFill>
                <a:latin typeface="Calibri"/>
              </a:rPr>
              <a:t>3</a:t>
            </a:r>
            <a:endParaRPr b="0" lang="en-US" sz="4000" spc="-1" strike="noStrike">
              <a:solidFill>
                <a:srgbClr val="000000"/>
              </a:solidFill>
              <a:latin typeface="Arial"/>
            </a:endParaRPr>
          </a:p>
        </p:txBody>
      </p:sp>
      <p:sp>
        <p:nvSpPr>
          <p:cNvPr id="110" name="Text 30"/>
          <p:cNvSpPr/>
          <p:nvPr/>
        </p:nvSpPr>
        <p:spPr>
          <a:xfrm>
            <a:off x="3452040" y="5742360"/>
            <a:ext cx="244584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6e7f6e"/>
                </a:solidFill>
                <a:latin typeface="Calibri"/>
              </a:rPr>
              <a:t>languages in the UI</a:t>
            </a:r>
            <a:endParaRPr b="0" lang="en-US" sz="1150" spc="-1" strike="noStrike">
              <a:solidFill>
                <a:srgbClr val="000000"/>
              </a:solidFill>
              <a:latin typeface="Arial"/>
            </a:endParaRPr>
          </a:p>
        </p:txBody>
      </p:sp>
      <p:sp>
        <p:nvSpPr>
          <p:cNvPr id="111" name="Text 31"/>
          <p:cNvSpPr/>
          <p:nvPr/>
        </p:nvSpPr>
        <p:spPr>
          <a:xfrm>
            <a:off x="6263640" y="5157360"/>
            <a:ext cx="2445840" cy="585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2c5f2d"/>
                </a:solidFill>
                <a:latin typeface="Calibri"/>
              </a:rPr>
              <a:t>1</a:t>
            </a:r>
            <a:endParaRPr b="0" lang="en-US" sz="4000" spc="-1" strike="noStrike">
              <a:solidFill>
                <a:srgbClr val="000000"/>
              </a:solidFill>
              <a:latin typeface="Arial"/>
            </a:endParaRPr>
          </a:p>
        </p:txBody>
      </p:sp>
      <p:sp>
        <p:nvSpPr>
          <p:cNvPr id="112" name="Text 32"/>
          <p:cNvSpPr/>
          <p:nvPr/>
        </p:nvSpPr>
        <p:spPr>
          <a:xfrm>
            <a:off x="6263640" y="5742360"/>
            <a:ext cx="244584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6e7f6e"/>
                </a:solidFill>
                <a:latin typeface="Calibri"/>
              </a:rPr>
              <a:t>codebase, one database</a:t>
            </a:r>
            <a:endParaRPr b="0" lang="en-US" sz="1150" spc="-1" strike="noStrike">
              <a:solidFill>
                <a:srgbClr val="000000"/>
              </a:solidFill>
              <a:latin typeface="Arial"/>
            </a:endParaRPr>
          </a:p>
        </p:txBody>
      </p:sp>
      <p:sp>
        <p:nvSpPr>
          <p:cNvPr id="113" name="Text 33"/>
          <p:cNvSpPr/>
          <p:nvPr/>
        </p:nvSpPr>
        <p:spPr>
          <a:xfrm>
            <a:off x="9075600" y="5157360"/>
            <a:ext cx="2445840" cy="585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2c5f2d"/>
                </a:solidFill>
                <a:latin typeface="Calibri"/>
              </a:rPr>
              <a:t>0</a:t>
            </a:r>
            <a:endParaRPr b="0" lang="en-US" sz="4000" spc="-1" strike="noStrike">
              <a:solidFill>
                <a:srgbClr val="000000"/>
              </a:solidFill>
              <a:latin typeface="Arial"/>
            </a:endParaRPr>
          </a:p>
        </p:txBody>
      </p:sp>
      <p:sp>
        <p:nvSpPr>
          <p:cNvPr id="114" name="Text 34"/>
          <p:cNvSpPr/>
          <p:nvPr/>
        </p:nvSpPr>
        <p:spPr>
          <a:xfrm>
            <a:off x="9075600" y="5742360"/>
            <a:ext cx="244584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6e7f6e"/>
                </a:solidFill>
                <a:latin typeface="Calibri"/>
              </a:rPr>
              <a:t>passwords in the system</a:t>
            </a:r>
            <a:endParaRPr b="0" lang="en-US" sz="1150" spc="-1" strike="noStrike">
              <a:solidFill>
                <a:srgbClr val="000000"/>
              </a:solidFill>
              <a:latin typeface="Arial"/>
            </a:endParaRPr>
          </a:p>
        </p:txBody>
      </p:sp>
      <p:sp>
        <p:nvSpPr>
          <p:cNvPr id="115" name="PlaceHolder 2"/>
          <p:cNvSpPr>
            <a:spLocks noGrp="1"/>
          </p:cNvSpPr>
          <p:nvPr>
            <p:ph type="sldNum" idx="9"/>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0CC8F67E-1FB1-4246-8E7A-364BC256262D}"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d2601a"/>
                </a:solidFill>
                <a:latin typeface="Calibri"/>
              </a:rPr>
              <a:t>THE OPEN PLATFORM</a:t>
            </a:r>
            <a:endParaRPr b="0" lang="en-US" sz="1050" spc="-1" strike="noStrike">
              <a:solidFill>
                <a:srgbClr val="000000"/>
              </a:solidFill>
              <a:latin typeface="Arial"/>
            </a:endParaRPr>
          </a:p>
        </p:txBody>
      </p:sp>
      <p:sp>
        <p:nvSpPr>
          <p:cNvPr id="117" name="PlaceHolder 1"/>
          <p:cNvSpPr>
            <a:spLocks noGrp="1"/>
          </p:cNvSpPr>
          <p:nvPr>
            <p:ph type="title"/>
          </p:nvPr>
        </p:nvSpPr>
        <p:spPr>
          <a:xfrm>
            <a:off x="640080" y="420480"/>
            <a:ext cx="1088100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dk1"/>
                </a:solidFill>
                <a:latin typeface="Cambria"/>
              </a:rPr>
              <a:t>Any Rythu Bazaar can register itself</a:t>
            </a:r>
            <a:endParaRPr b="0" lang="en-US" sz="3200" spc="-1" strike="noStrike">
              <a:solidFill>
                <a:schemeClr val="dk1"/>
              </a:solidFill>
              <a:latin typeface="Calibri"/>
            </a:endParaRPr>
          </a:p>
        </p:txBody>
      </p:sp>
      <p:sp>
        <p:nvSpPr>
          <p:cNvPr id="118" name="step-card-1"/>
          <p:cNvSpPr/>
          <p:nvPr/>
        </p:nvSpPr>
        <p:spPr>
          <a:xfrm>
            <a:off x="640080" y="1371600"/>
            <a:ext cx="2473200" cy="2651400"/>
          </a:xfrm>
          <a:prstGeom prst="roundRect">
            <a:avLst>
              <a:gd name="adj" fmla="val 1479"/>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9" name="step-badge-1"/>
          <p:cNvSpPr/>
          <p:nvPr/>
        </p:nvSpPr>
        <p:spPr>
          <a:xfrm>
            <a:off x="896040" y="1609200"/>
            <a:ext cx="456840" cy="45684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Text 4"/>
          <p:cNvSpPr/>
          <p:nvPr/>
        </p:nvSpPr>
        <p:spPr>
          <a:xfrm>
            <a:off x="896040" y="16092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1</a:t>
            </a:r>
            <a:endParaRPr b="0" lang="en-US" sz="1500" spc="-1" strike="noStrike">
              <a:solidFill>
                <a:srgbClr val="000000"/>
              </a:solidFill>
              <a:latin typeface="Arial"/>
            </a:endParaRPr>
          </a:p>
        </p:txBody>
      </p:sp>
      <p:sp>
        <p:nvSpPr>
          <p:cNvPr id="121" name="Text 5"/>
          <p:cNvSpPr/>
          <p:nvPr/>
        </p:nvSpPr>
        <p:spPr>
          <a:xfrm>
            <a:off x="896040" y="2157840"/>
            <a:ext cx="196092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50" spc="-1" strike="noStrike">
                <a:solidFill>
                  <a:schemeClr val="dk1"/>
                </a:solidFill>
                <a:latin typeface="Calibri"/>
              </a:rPr>
              <a:t>The owner walks the perimeter</a:t>
            </a:r>
            <a:endParaRPr b="0" lang="en-US" sz="1450" spc="-1" strike="noStrike">
              <a:solidFill>
                <a:srgbClr val="000000"/>
              </a:solidFill>
              <a:latin typeface="Arial"/>
            </a:endParaRPr>
          </a:p>
        </p:txBody>
      </p:sp>
      <p:sp>
        <p:nvSpPr>
          <p:cNvPr id="122" name="Text 6"/>
          <p:cNvSpPr/>
          <p:nvPr/>
        </p:nvSpPr>
        <p:spPr>
          <a:xfrm>
            <a:off x="896040" y="2724840"/>
            <a:ext cx="1960920" cy="1151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Standing at each corner, they drop a GPS node. The nodes close into a boundary on the map.</a:t>
            </a:r>
            <a:endParaRPr b="0" lang="en-US" sz="1200" spc="-1" strike="noStrike">
              <a:solidFill>
                <a:srgbClr val="000000"/>
              </a:solidFill>
              <a:latin typeface="Arial"/>
            </a:endParaRPr>
          </a:p>
        </p:txBody>
      </p:sp>
      <p:sp>
        <p:nvSpPr>
          <p:cNvPr id="123" name="Text 7"/>
          <p:cNvSpPr/>
          <p:nvPr/>
        </p:nvSpPr>
        <p:spPr>
          <a:xfrm>
            <a:off x="3132000" y="2286000"/>
            <a:ext cx="2923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97bc62"/>
                </a:solidFill>
                <a:latin typeface="Calibri"/>
              </a:rPr>
              <a:t>→</a:t>
            </a:r>
            <a:endParaRPr b="0" lang="en-US" sz="1800" spc="-1" strike="noStrike">
              <a:solidFill>
                <a:srgbClr val="000000"/>
              </a:solidFill>
              <a:latin typeface="Arial"/>
            </a:endParaRPr>
          </a:p>
        </p:txBody>
      </p:sp>
      <p:sp>
        <p:nvSpPr>
          <p:cNvPr id="124" name="step-card-2"/>
          <p:cNvSpPr/>
          <p:nvPr/>
        </p:nvSpPr>
        <p:spPr>
          <a:xfrm>
            <a:off x="3442680" y="1371600"/>
            <a:ext cx="2473200" cy="2651400"/>
          </a:xfrm>
          <a:prstGeom prst="roundRect">
            <a:avLst>
              <a:gd name="adj" fmla="val 1479"/>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5" name="step-badge-2"/>
          <p:cNvSpPr/>
          <p:nvPr/>
        </p:nvSpPr>
        <p:spPr>
          <a:xfrm>
            <a:off x="3698640" y="1609200"/>
            <a:ext cx="456840" cy="45684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 name="Text 10"/>
          <p:cNvSpPr/>
          <p:nvPr/>
        </p:nvSpPr>
        <p:spPr>
          <a:xfrm>
            <a:off x="3698640" y="16092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2</a:t>
            </a:r>
            <a:endParaRPr b="0" lang="en-US" sz="1500" spc="-1" strike="noStrike">
              <a:solidFill>
                <a:srgbClr val="000000"/>
              </a:solidFill>
              <a:latin typeface="Arial"/>
            </a:endParaRPr>
          </a:p>
        </p:txBody>
      </p:sp>
      <p:sp>
        <p:nvSpPr>
          <p:cNvPr id="127" name="Text 11"/>
          <p:cNvSpPr/>
          <p:nvPr/>
        </p:nvSpPr>
        <p:spPr>
          <a:xfrm>
            <a:off x="3698640" y="2157840"/>
            <a:ext cx="196092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50" spc="-1" strike="noStrike">
                <a:solidFill>
                  <a:schemeClr val="dk1"/>
                </a:solidFill>
                <a:latin typeface="Calibri"/>
              </a:rPr>
              <a:t>A vendor applies from inside it</a:t>
            </a:r>
            <a:endParaRPr b="0" lang="en-US" sz="1450" spc="-1" strike="noStrike">
              <a:solidFill>
                <a:srgbClr val="000000"/>
              </a:solidFill>
              <a:latin typeface="Arial"/>
            </a:endParaRPr>
          </a:p>
        </p:txBody>
      </p:sp>
      <p:sp>
        <p:nvSpPr>
          <p:cNvPr id="128" name="Text 12"/>
          <p:cNvSpPr/>
          <p:nvPr/>
        </p:nvSpPr>
        <p:spPr>
          <a:xfrm>
            <a:off x="3698640" y="2724840"/>
            <a:ext cx="1960920" cy="1151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The application is accepted only if the phone's location sits inside that boundary, recently enough.</a:t>
            </a:r>
            <a:endParaRPr b="0" lang="en-US" sz="1200" spc="-1" strike="noStrike">
              <a:solidFill>
                <a:srgbClr val="000000"/>
              </a:solidFill>
              <a:latin typeface="Arial"/>
            </a:endParaRPr>
          </a:p>
        </p:txBody>
      </p:sp>
      <p:sp>
        <p:nvSpPr>
          <p:cNvPr id="129" name="Text 13"/>
          <p:cNvSpPr/>
          <p:nvPr/>
        </p:nvSpPr>
        <p:spPr>
          <a:xfrm>
            <a:off x="5934600" y="2286000"/>
            <a:ext cx="2923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97bc62"/>
                </a:solidFill>
                <a:latin typeface="Calibri"/>
              </a:rPr>
              <a:t>→</a:t>
            </a:r>
            <a:endParaRPr b="0" lang="en-US" sz="1800" spc="-1" strike="noStrike">
              <a:solidFill>
                <a:srgbClr val="000000"/>
              </a:solidFill>
              <a:latin typeface="Arial"/>
            </a:endParaRPr>
          </a:p>
        </p:txBody>
      </p:sp>
      <p:sp>
        <p:nvSpPr>
          <p:cNvPr id="130" name="step-card-3"/>
          <p:cNvSpPr/>
          <p:nvPr/>
        </p:nvSpPr>
        <p:spPr>
          <a:xfrm>
            <a:off x="6245280" y="1371600"/>
            <a:ext cx="2473200" cy="2651400"/>
          </a:xfrm>
          <a:prstGeom prst="roundRect">
            <a:avLst>
              <a:gd name="adj" fmla="val 1479"/>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1" name="step-badge-3"/>
          <p:cNvSpPr/>
          <p:nvPr/>
        </p:nvSpPr>
        <p:spPr>
          <a:xfrm>
            <a:off x="6501240" y="1609200"/>
            <a:ext cx="456840" cy="45684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2" name="Text 16"/>
          <p:cNvSpPr/>
          <p:nvPr/>
        </p:nvSpPr>
        <p:spPr>
          <a:xfrm>
            <a:off x="6501240" y="16092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3</a:t>
            </a:r>
            <a:endParaRPr b="0" lang="en-US" sz="1500" spc="-1" strike="noStrike">
              <a:solidFill>
                <a:srgbClr val="000000"/>
              </a:solidFill>
              <a:latin typeface="Arial"/>
            </a:endParaRPr>
          </a:p>
        </p:txBody>
      </p:sp>
      <p:sp>
        <p:nvSpPr>
          <p:cNvPr id="133" name="Text 17"/>
          <p:cNvSpPr/>
          <p:nvPr/>
        </p:nvSpPr>
        <p:spPr>
          <a:xfrm>
            <a:off x="6501240" y="2157840"/>
            <a:ext cx="196092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50" spc="-1" strike="noStrike">
                <a:solidFill>
                  <a:schemeClr val="dk1"/>
                </a:solidFill>
                <a:latin typeface="Calibri"/>
              </a:rPr>
              <a:t>The committee approves</a:t>
            </a:r>
            <a:endParaRPr b="0" lang="en-US" sz="1450" spc="-1" strike="noStrike">
              <a:solidFill>
                <a:srgbClr val="000000"/>
              </a:solidFill>
              <a:latin typeface="Arial"/>
            </a:endParaRPr>
          </a:p>
        </p:txBody>
      </p:sp>
      <p:sp>
        <p:nvSpPr>
          <p:cNvPr id="134" name="Text 18"/>
          <p:cNvSpPr/>
          <p:nvPr/>
        </p:nvSpPr>
        <p:spPr>
          <a:xfrm>
            <a:off x="6501240" y="2724840"/>
            <a:ext cx="1960920" cy="1151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Each application reaches the owner with the applicant's name, number, stall number and location check.</a:t>
            </a:r>
            <a:endParaRPr b="0" lang="en-US" sz="1200" spc="-1" strike="noStrike">
              <a:solidFill>
                <a:srgbClr val="000000"/>
              </a:solidFill>
              <a:latin typeface="Arial"/>
            </a:endParaRPr>
          </a:p>
        </p:txBody>
      </p:sp>
      <p:sp>
        <p:nvSpPr>
          <p:cNvPr id="135" name="Text 19"/>
          <p:cNvSpPr/>
          <p:nvPr/>
        </p:nvSpPr>
        <p:spPr>
          <a:xfrm>
            <a:off x="8737200" y="2286000"/>
            <a:ext cx="2923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97bc62"/>
                </a:solidFill>
                <a:latin typeface="Calibri"/>
              </a:rPr>
              <a:t>→</a:t>
            </a:r>
            <a:endParaRPr b="0" lang="en-US" sz="1800" spc="-1" strike="noStrike">
              <a:solidFill>
                <a:srgbClr val="000000"/>
              </a:solidFill>
              <a:latin typeface="Arial"/>
            </a:endParaRPr>
          </a:p>
        </p:txBody>
      </p:sp>
      <p:sp>
        <p:nvSpPr>
          <p:cNvPr id="136" name="step-card-4"/>
          <p:cNvSpPr/>
          <p:nvPr/>
        </p:nvSpPr>
        <p:spPr>
          <a:xfrm>
            <a:off x="9047880" y="1371600"/>
            <a:ext cx="2473200" cy="2651400"/>
          </a:xfrm>
          <a:prstGeom prst="roundRect">
            <a:avLst>
              <a:gd name="adj" fmla="val 1479"/>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7" name="step-badge-4"/>
          <p:cNvSpPr/>
          <p:nvPr/>
        </p:nvSpPr>
        <p:spPr>
          <a:xfrm>
            <a:off x="9304200" y="1609200"/>
            <a:ext cx="456840" cy="45684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8" name="Text 22"/>
          <p:cNvSpPr/>
          <p:nvPr/>
        </p:nvSpPr>
        <p:spPr>
          <a:xfrm>
            <a:off x="9304200" y="16092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4</a:t>
            </a:r>
            <a:endParaRPr b="0" lang="en-US" sz="1500" spc="-1" strike="noStrike">
              <a:solidFill>
                <a:srgbClr val="000000"/>
              </a:solidFill>
              <a:latin typeface="Arial"/>
            </a:endParaRPr>
          </a:p>
        </p:txBody>
      </p:sp>
      <p:sp>
        <p:nvSpPr>
          <p:cNvPr id="139" name="Text 23"/>
          <p:cNvSpPr/>
          <p:nvPr/>
        </p:nvSpPr>
        <p:spPr>
          <a:xfrm>
            <a:off x="9304200" y="2157840"/>
            <a:ext cx="196092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50" spc="-1" strike="noStrike">
                <a:solidFill>
                  <a:schemeClr val="dk1"/>
                </a:solidFill>
                <a:latin typeface="Calibri"/>
              </a:rPr>
              <a:t>The vendor proves the bank account</a:t>
            </a:r>
            <a:endParaRPr b="0" lang="en-US" sz="1450" spc="-1" strike="noStrike">
              <a:solidFill>
                <a:srgbClr val="000000"/>
              </a:solidFill>
              <a:latin typeface="Arial"/>
            </a:endParaRPr>
          </a:p>
        </p:txBody>
      </p:sp>
      <p:sp>
        <p:nvSpPr>
          <p:cNvPr id="140" name="Text 24"/>
          <p:cNvSpPr/>
          <p:nvPr/>
        </p:nvSpPr>
        <p:spPr>
          <a:xfrm>
            <a:off x="9304200" y="2724840"/>
            <a:ext cx="1960920" cy="1151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A randomised penny drop of 1 to 100 paise, reported back exactly, before they can list one item.</a:t>
            </a:r>
            <a:endParaRPr b="0" lang="en-US" sz="1200" spc="-1" strike="noStrike">
              <a:solidFill>
                <a:srgbClr val="000000"/>
              </a:solidFill>
              <a:latin typeface="Arial"/>
            </a:endParaRPr>
          </a:p>
        </p:txBody>
      </p:sp>
      <p:sp>
        <p:nvSpPr>
          <p:cNvPr id="141" name="why-card"/>
          <p:cNvSpPr/>
          <p:nvPr/>
        </p:nvSpPr>
        <p:spPr>
          <a:xfrm>
            <a:off x="640080" y="4224600"/>
            <a:ext cx="10881000" cy="1919880"/>
          </a:xfrm>
          <a:prstGeom prst="roundRect">
            <a:avLst>
              <a:gd name="adj" fmla="val 1905"/>
            </a:avLst>
          </a:prstGeom>
          <a:solidFill>
            <a:schemeClr val="bg1"/>
          </a:solidFill>
          <a:ln w="9525">
            <a:solidFill>
              <a:srgbClr val="d2601a"/>
            </a:solidFill>
            <a:round/>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2" name="Text 26"/>
          <p:cNvSpPr/>
          <p:nvPr/>
        </p:nvSpPr>
        <p:spPr>
          <a:xfrm>
            <a:off x="1024200" y="4425840"/>
            <a:ext cx="1011276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chemeClr val="dk1"/>
                </a:solidFill>
                <a:latin typeface="Calibri"/>
              </a:rPr>
              <a:t>Why this matters more than any feature in the app</a:t>
            </a:r>
            <a:endParaRPr b="0" lang="en-US" sz="1800" spc="-1" strike="noStrike">
              <a:solidFill>
                <a:srgbClr val="000000"/>
              </a:solidFill>
              <a:latin typeface="Arial"/>
            </a:endParaRPr>
          </a:p>
        </p:txBody>
      </p:sp>
      <p:sp>
        <p:nvSpPr>
          <p:cNvPr id="143" name="Text 27"/>
          <p:cNvSpPr/>
          <p:nvPr/>
        </p:nvSpPr>
        <p:spPr>
          <a:xfrm>
            <a:off x="1024200" y="4809600"/>
            <a:ext cx="10112760" cy="1096920"/>
          </a:xfrm>
          <a:prstGeom prst="rect">
            <a:avLst/>
          </a:prstGeom>
          <a:noFill/>
          <a:ln w="0">
            <a:noFill/>
          </a:ln>
        </p:spPr>
        <p:style>
          <a:lnRef idx="0"/>
          <a:fillRef idx="0"/>
          <a:effectRef idx="0"/>
          <a:fontRef idx="minor"/>
        </p:style>
        <p:txBody>
          <a:bodyPr lIns="0" rIns="0" tIns="0" bIns="0" anchor="t">
            <a:noAutofit/>
          </a:bodyPr>
          <a:p>
            <a:pPr defTabSz="914400">
              <a:lnSpc>
                <a:spcPct val="120000"/>
              </a:lnSpc>
              <a:tabLst>
                <a:tab algn="l" pos="0"/>
              </a:tabLst>
            </a:pPr>
            <a:r>
              <a:rPr b="1" lang="en-US" sz="1350" spc="-1" strike="noStrike">
                <a:solidFill>
                  <a:srgbClr val="2c5f2d"/>
                </a:solidFill>
                <a:latin typeface="Calibri"/>
              </a:rPr>
              <a:t>No state official does data entry. No central team visits a market. No engineer is needed to add one.</a:t>
            </a:r>
            <a:endParaRPr b="0" lang="en-US" sz="1350" spc="-1" strike="noStrike">
              <a:solidFill>
                <a:srgbClr val="000000"/>
              </a:solidFill>
              <a:latin typeface="Arial"/>
            </a:endParaRPr>
          </a:p>
          <a:p>
            <a:pPr defTabSz="914400">
              <a:lnSpc>
                <a:spcPct val="120000"/>
              </a:lnSpc>
              <a:tabLst>
                <a:tab algn="l" pos="0"/>
              </a:tabLst>
            </a:pPr>
            <a:r>
              <a:rPr b="0" lang="en-US" sz="1350" spc="-1" strike="noStrike">
                <a:solidFill>
                  <a:srgbClr val="6e7f6e"/>
                </a:solidFill>
                <a:latin typeface="Calibri"/>
              </a:rPr>
              <a:t>The hundredth Rythu Bazaar joins exactly the way the first one does — the committee walks its own perimeter on a phone. That is why this can be a people's platform rather than a pilot: the onboarding cost per market is one walk, borne by the market itself.</a:t>
            </a:r>
            <a:endParaRPr b="0" lang="en-US" sz="1350" spc="-1" strike="noStrike">
              <a:solidFill>
                <a:srgbClr val="000000"/>
              </a:solidFill>
              <a:latin typeface="Arial"/>
            </a:endParaRPr>
          </a:p>
        </p:txBody>
      </p:sp>
      <p:sp>
        <p:nvSpPr>
          <p:cNvPr id="144" name="PlaceHolder 2"/>
          <p:cNvSpPr>
            <a:spLocks noGrp="1"/>
          </p:cNvSpPr>
          <p:nvPr>
            <p:ph type="sldNum" idx="10"/>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E89ECC74-2A84-41A1-9FBE-C0765FDED73A}"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d2601a"/>
                </a:solidFill>
                <a:latin typeface="Calibri"/>
              </a:rPr>
              <a:t>HOW AN ORDER MOVES</a:t>
            </a:r>
            <a:endParaRPr b="0" lang="en-US" sz="1050" spc="-1" strike="noStrike">
              <a:solidFill>
                <a:srgbClr val="000000"/>
              </a:solidFill>
              <a:latin typeface="Arial"/>
            </a:endParaRPr>
          </a:p>
        </p:txBody>
      </p:sp>
      <p:sp>
        <p:nvSpPr>
          <p:cNvPr id="146" name="PlaceHolder 1"/>
          <p:cNvSpPr>
            <a:spLocks noGrp="1"/>
          </p:cNvSpPr>
          <p:nvPr>
            <p:ph type="title"/>
          </p:nvPr>
        </p:nvSpPr>
        <p:spPr>
          <a:xfrm>
            <a:off x="640080" y="420480"/>
            <a:ext cx="1088100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dk1"/>
                </a:solidFill>
                <a:latin typeface="Cambria"/>
              </a:rPr>
              <a:t>One basket, several stalls, two handovers</a:t>
            </a:r>
            <a:endParaRPr b="0" lang="en-US" sz="3200" spc="-1" strike="noStrike">
              <a:solidFill>
                <a:schemeClr val="dk1"/>
              </a:solidFill>
              <a:latin typeface="Calibri"/>
            </a:endParaRPr>
          </a:p>
        </p:txBody>
      </p:sp>
      <p:sp>
        <p:nvSpPr>
          <p:cNvPr id="147" name="flow-card-1"/>
          <p:cNvSpPr/>
          <p:nvPr/>
        </p:nvSpPr>
        <p:spPr>
          <a:xfrm>
            <a:off x="640080" y="1371600"/>
            <a:ext cx="1971000" cy="2697120"/>
          </a:xfrm>
          <a:prstGeom prst="roundRect">
            <a:avLst>
              <a:gd name="adj" fmla="val 1855"/>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8" name="flow-badge-1"/>
          <p:cNvSpPr/>
          <p:nvPr/>
        </p:nvSpPr>
        <p:spPr>
          <a:xfrm>
            <a:off x="877680" y="1609200"/>
            <a:ext cx="438480" cy="43848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Text 4"/>
          <p:cNvSpPr/>
          <p:nvPr/>
        </p:nvSpPr>
        <p:spPr>
          <a:xfrm>
            <a:off x="877680" y="1609200"/>
            <a:ext cx="43848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1</a:t>
            </a:r>
            <a:endParaRPr b="0" lang="en-US" sz="1500" spc="-1" strike="noStrike">
              <a:solidFill>
                <a:srgbClr val="000000"/>
              </a:solidFill>
              <a:latin typeface="Arial"/>
            </a:endParaRPr>
          </a:p>
        </p:txBody>
      </p:sp>
      <p:sp>
        <p:nvSpPr>
          <p:cNvPr id="150" name="Text 5"/>
          <p:cNvSpPr/>
          <p:nvPr/>
        </p:nvSpPr>
        <p:spPr>
          <a:xfrm>
            <a:off x="877680" y="2121480"/>
            <a:ext cx="14954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50" spc="-1" strike="noStrike">
                <a:solidFill>
                  <a:schemeClr val="dk1"/>
                </a:solidFill>
                <a:latin typeface="Calibri"/>
              </a:rPr>
              <a:t>Basket placed</a:t>
            </a:r>
            <a:endParaRPr b="0" lang="en-US" sz="1450" spc="-1" strike="noStrike">
              <a:solidFill>
                <a:srgbClr val="000000"/>
              </a:solidFill>
              <a:latin typeface="Arial"/>
            </a:endParaRPr>
          </a:p>
        </p:txBody>
      </p:sp>
      <p:sp>
        <p:nvSpPr>
          <p:cNvPr id="151" name="Text 6"/>
          <p:cNvSpPr/>
          <p:nvPr/>
        </p:nvSpPr>
        <p:spPr>
          <a:xfrm>
            <a:off x="877680" y="2688480"/>
            <a:ext cx="1495440" cy="1188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A household orders five items from one market.</a:t>
            </a:r>
            <a:endParaRPr b="0" lang="en-US" sz="1200" spc="-1" strike="noStrike">
              <a:solidFill>
                <a:srgbClr val="000000"/>
              </a:solidFill>
              <a:latin typeface="Arial"/>
            </a:endParaRPr>
          </a:p>
        </p:txBody>
      </p:sp>
      <p:sp>
        <p:nvSpPr>
          <p:cNvPr id="152" name="flow-card-2"/>
          <p:cNvSpPr/>
          <p:nvPr/>
        </p:nvSpPr>
        <p:spPr>
          <a:xfrm>
            <a:off x="2867400" y="1371600"/>
            <a:ext cx="1971000" cy="2697120"/>
          </a:xfrm>
          <a:prstGeom prst="roundRect">
            <a:avLst>
              <a:gd name="adj" fmla="val 1855"/>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3" name="flow-badge-2"/>
          <p:cNvSpPr/>
          <p:nvPr/>
        </p:nvSpPr>
        <p:spPr>
          <a:xfrm>
            <a:off x="3105360" y="1609200"/>
            <a:ext cx="438480" cy="43848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4" name="Text 9"/>
          <p:cNvSpPr/>
          <p:nvPr/>
        </p:nvSpPr>
        <p:spPr>
          <a:xfrm>
            <a:off x="3105360" y="1609200"/>
            <a:ext cx="43848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2</a:t>
            </a:r>
            <a:endParaRPr b="0" lang="en-US" sz="1500" spc="-1" strike="noStrike">
              <a:solidFill>
                <a:srgbClr val="000000"/>
              </a:solidFill>
              <a:latin typeface="Arial"/>
            </a:endParaRPr>
          </a:p>
        </p:txBody>
      </p:sp>
      <p:sp>
        <p:nvSpPr>
          <p:cNvPr id="155" name="Text 10"/>
          <p:cNvSpPr/>
          <p:nvPr/>
        </p:nvSpPr>
        <p:spPr>
          <a:xfrm>
            <a:off x="3105360" y="2121480"/>
            <a:ext cx="14954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50" spc="-1" strike="noStrike">
                <a:solidFill>
                  <a:schemeClr val="dk1"/>
                </a:solidFill>
                <a:latin typeface="Calibri"/>
              </a:rPr>
              <a:t>Split by coverage</a:t>
            </a:r>
            <a:endParaRPr b="0" lang="en-US" sz="1450" spc="-1" strike="noStrike">
              <a:solidFill>
                <a:srgbClr val="000000"/>
              </a:solidFill>
              <a:latin typeface="Arial"/>
            </a:endParaRPr>
          </a:p>
        </p:txBody>
      </p:sp>
      <p:sp>
        <p:nvSpPr>
          <p:cNvPr id="156" name="Text 11"/>
          <p:cNvSpPr/>
          <p:nvPr/>
        </p:nvSpPr>
        <p:spPr>
          <a:xfrm>
            <a:off x="3105360" y="2688480"/>
            <a:ext cx="1495440" cy="1188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The fewest stalls that cover the basket, so a rider walks to two pitches, not five.</a:t>
            </a:r>
            <a:endParaRPr b="0" lang="en-US" sz="1200" spc="-1" strike="noStrike">
              <a:solidFill>
                <a:srgbClr val="000000"/>
              </a:solidFill>
              <a:latin typeface="Arial"/>
            </a:endParaRPr>
          </a:p>
        </p:txBody>
      </p:sp>
      <p:sp>
        <p:nvSpPr>
          <p:cNvPr id="157" name="flow-card-3"/>
          <p:cNvSpPr/>
          <p:nvPr/>
        </p:nvSpPr>
        <p:spPr>
          <a:xfrm>
            <a:off x="5095080" y="1371600"/>
            <a:ext cx="1971000" cy="2697120"/>
          </a:xfrm>
          <a:prstGeom prst="roundRect">
            <a:avLst>
              <a:gd name="adj" fmla="val 1855"/>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8" name="flow-badge-3"/>
          <p:cNvSpPr/>
          <p:nvPr/>
        </p:nvSpPr>
        <p:spPr>
          <a:xfrm>
            <a:off x="5332680" y="1609200"/>
            <a:ext cx="438480" cy="43848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9" name="Text 14"/>
          <p:cNvSpPr/>
          <p:nvPr/>
        </p:nvSpPr>
        <p:spPr>
          <a:xfrm>
            <a:off x="5332680" y="1609200"/>
            <a:ext cx="43848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3</a:t>
            </a:r>
            <a:endParaRPr b="0" lang="en-US" sz="1500" spc="-1" strike="noStrike">
              <a:solidFill>
                <a:srgbClr val="000000"/>
              </a:solidFill>
              <a:latin typeface="Arial"/>
            </a:endParaRPr>
          </a:p>
        </p:txBody>
      </p:sp>
      <p:sp>
        <p:nvSpPr>
          <p:cNvPr id="160" name="Text 15"/>
          <p:cNvSpPr/>
          <p:nvPr/>
        </p:nvSpPr>
        <p:spPr>
          <a:xfrm>
            <a:off x="5332680" y="2121480"/>
            <a:ext cx="14954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50" spc="-1" strike="noStrike">
                <a:solidFill>
                  <a:schemeClr val="dk1"/>
                </a:solidFill>
                <a:latin typeface="Calibri"/>
              </a:rPr>
              <a:t>Stalls pack</a:t>
            </a:r>
            <a:endParaRPr b="0" lang="en-US" sz="1450" spc="-1" strike="noStrike">
              <a:solidFill>
                <a:srgbClr val="000000"/>
              </a:solidFill>
              <a:latin typeface="Arial"/>
            </a:endParaRPr>
          </a:p>
        </p:txBody>
      </p:sp>
      <p:sp>
        <p:nvSpPr>
          <p:cNvPr id="161" name="Text 16"/>
          <p:cNvSpPr/>
          <p:nvPr/>
        </p:nvSpPr>
        <p:spPr>
          <a:xfrm>
            <a:off x="5332680" y="2688480"/>
            <a:ext cx="1495440" cy="1188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Each stall sees only its own lines. The order moves on when every line is ready.</a:t>
            </a:r>
            <a:endParaRPr b="0" lang="en-US" sz="1200" spc="-1" strike="noStrike">
              <a:solidFill>
                <a:srgbClr val="000000"/>
              </a:solidFill>
              <a:latin typeface="Arial"/>
            </a:endParaRPr>
          </a:p>
        </p:txBody>
      </p:sp>
      <p:sp>
        <p:nvSpPr>
          <p:cNvPr id="162" name="flow-card-4"/>
          <p:cNvSpPr/>
          <p:nvPr/>
        </p:nvSpPr>
        <p:spPr>
          <a:xfrm>
            <a:off x="7322400" y="1371600"/>
            <a:ext cx="1971000" cy="2697120"/>
          </a:xfrm>
          <a:prstGeom prst="roundRect">
            <a:avLst>
              <a:gd name="adj" fmla="val 1855"/>
            </a:avLst>
          </a:prstGeom>
          <a:solidFill>
            <a:schemeClr val="tx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3" name="flow-badge-4"/>
          <p:cNvSpPr/>
          <p:nvPr/>
        </p:nvSpPr>
        <p:spPr>
          <a:xfrm>
            <a:off x="7560360" y="1609200"/>
            <a:ext cx="438480" cy="438480"/>
          </a:xfrm>
          <a:prstGeom prst="ellipse">
            <a:avLst/>
          </a:prstGeom>
          <a:solidFill>
            <a:srgbClr val="d2601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4" name="Text 19"/>
          <p:cNvSpPr/>
          <p:nvPr/>
        </p:nvSpPr>
        <p:spPr>
          <a:xfrm>
            <a:off x="7560360" y="1609200"/>
            <a:ext cx="43848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4</a:t>
            </a:r>
            <a:endParaRPr b="0" lang="en-US" sz="1500" spc="-1" strike="noStrike">
              <a:solidFill>
                <a:srgbClr val="000000"/>
              </a:solidFill>
              <a:latin typeface="Arial"/>
            </a:endParaRPr>
          </a:p>
        </p:txBody>
      </p:sp>
      <p:sp>
        <p:nvSpPr>
          <p:cNvPr id="165" name="Text 20"/>
          <p:cNvSpPr/>
          <p:nvPr/>
        </p:nvSpPr>
        <p:spPr>
          <a:xfrm>
            <a:off x="7560360" y="2121480"/>
            <a:ext cx="14954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50" spc="-1" strike="noStrike">
                <a:solidFill>
                  <a:srgbClr val="ffffff"/>
                </a:solidFill>
                <a:latin typeface="Calibri"/>
              </a:rPr>
              <a:t>Rider collects</a:t>
            </a:r>
            <a:endParaRPr b="0" lang="en-US" sz="1450" spc="-1" strike="noStrike">
              <a:solidFill>
                <a:srgbClr val="000000"/>
              </a:solidFill>
              <a:latin typeface="Arial"/>
            </a:endParaRPr>
          </a:p>
        </p:txBody>
      </p:sp>
      <p:sp>
        <p:nvSpPr>
          <p:cNvPr id="166" name="Text 21"/>
          <p:cNvSpPr/>
          <p:nvPr/>
        </p:nvSpPr>
        <p:spPr>
          <a:xfrm>
            <a:off x="7560360" y="2688480"/>
            <a:ext cx="1495440" cy="1188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97bc62"/>
                </a:solidFill>
                <a:latin typeface="Calibri"/>
              </a:rPr>
              <a:t>At each pitch the rider types that stall's own six-digit code.</a:t>
            </a:r>
            <a:endParaRPr b="0" lang="en-US" sz="1200" spc="-1" strike="noStrike">
              <a:solidFill>
                <a:srgbClr val="000000"/>
              </a:solidFill>
              <a:latin typeface="Arial"/>
            </a:endParaRPr>
          </a:p>
        </p:txBody>
      </p:sp>
      <p:sp>
        <p:nvSpPr>
          <p:cNvPr id="167" name="flow-card-5"/>
          <p:cNvSpPr/>
          <p:nvPr/>
        </p:nvSpPr>
        <p:spPr>
          <a:xfrm>
            <a:off x="9550080" y="1371600"/>
            <a:ext cx="1971000" cy="2697120"/>
          </a:xfrm>
          <a:prstGeom prst="roundRect">
            <a:avLst>
              <a:gd name="adj" fmla="val 1855"/>
            </a:avLst>
          </a:prstGeom>
          <a:solidFill>
            <a:schemeClr val="tx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8" name="flow-badge-5"/>
          <p:cNvSpPr/>
          <p:nvPr/>
        </p:nvSpPr>
        <p:spPr>
          <a:xfrm>
            <a:off x="9787680" y="1609200"/>
            <a:ext cx="438480" cy="438480"/>
          </a:xfrm>
          <a:prstGeom prst="ellipse">
            <a:avLst/>
          </a:prstGeom>
          <a:solidFill>
            <a:srgbClr val="d2601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9" name="Text 24"/>
          <p:cNvSpPr/>
          <p:nvPr/>
        </p:nvSpPr>
        <p:spPr>
          <a:xfrm>
            <a:off x="9787680" y="1609200"/>
            <a:ext cx="43848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chemeClr val="lt1"/>
                </a:solidFill>
                <a:latin typeface="Calibri"/>
              </a:rPr>
              <a:t>5</a:t>
            </a:r>
            <a:endParaRPr b="0" lang="en-US" sz="1500" spc="-1" strike="noStrike">
              <a:solidFill>
                <a:srgbClr val="000000"/>
              </a:solidFill>
              <a:latin typeface="Arial"/>
            </a:endParaRPr>
          </a:p>
        </p:txBody>
      </p:sp>
      <p:sp>
        <p:nvSpPr>
          <p:cNvPr id="170" name="Text 25"/>
          <p:cNvSpPr/>
          <p:nvPr/>
        </p:nvSpPr>
        <p:spPr>
          <a:xfrm>
            <a:off x="9787680" y="2121480"/>
            <a:ext cx="14954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50" spc="-1" strike="noStrike">
                <a:solidFill>
                  <a:srgbClr val="ffffff"/>
                </a:solidFill>
                <a:latin typeface="Calibri"/>
              </a:rPr>
              <a:t>Household confirms</a:t>
            </a:r>
            <a:endParaRPr b="0" lang="en-US" sz="1450" spc="-1" strike="noStrike">
              <a:solidFill>
                <a:srgbClr val="000000"/>
              </a:solidFill>
              <a:latin typeface="Arial"/>
            </a:endParaRPr>
          </a:p>
        </p:txBody>
      </p:sp>
      <p:sp>
        <p:nvSpPr>
          <p:cNvPr id="171" name="Text 26"/>
          <p:cNvSpPr/>
          <p:nvPr/>
        </p:nvSpPr>
        <p:spPr>
          <a:xfrm>
            <a:off x="9787680" y="2688480"/>
            <a:ext cx="1495440" cy="1188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97bc62"/>
                </a:solidFill>
                <a:latin typeface="Calibri"/>
              </a:rPr>
              <a:t>At the door the rider types the code the household is shown. Only then is it delivered.</a:t>
            </a:r>
            <a:endParaRPr b="0" lang="en-US" sz="1200" spc="-1" strike="noStrike">
              <a:solidFill>
                <a:srgbClr val="000000"/>
              </a:solidFill>
              <a:latin typeface="Arial"/>
            </a:endParaRPr>
          </a:p>
        </p:txBody>
      </p:sp>
      <p:sp>
        <p:nvSpPr>
          <p:cNvPr id="172" name="hand-note-1"/>
          <p:cNvSpPr/>
          <p:nvPr/>
        </p:nvSpPr>
        <p:spPr>
          <a:xfrm>
            <a:off x="640080" y="4279320"/>
            <a:ext cx="5257440" cy="1572480"/>
          </a:xfrm>
          <a:prstGeom prst="roundRect">
            <a:avLst>
              <a:gd name="adj" fmla="val 2326"/>
            </a:avLst>
          </a:prstGeom>
          <a:solidFill>
            <a:schemeClr val="bg2"/>
          </a:solidFill>
          <a:ln w="9525">
            <a:solidFill>
              <a:srgbClr val="97bc62"/>
            </a:solidFill>
            <a:round/>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3" name="Text 28"/>
          <p:cNvSpPr/>
          <p:nvPr/>
        </p:nvSpPr>
        <p:spPr>
          <a:xfrm>
            <a:off x="969120" y="4480560"/>
            <a:ext cx="4599000" cy="511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2c5f2d"/>
                </a:solidFill>
                <a:latin typeface="Calibri"/>
              </a:rPr>
              <a:t>The rider types both codes and is shown neither</a:t>
            </a:r>
            <a:endParaRPr b="0" lang="en-US" sz="1500" spc="-1" strike="noStrike">
              <a:solidFill>
                <a:srgbClr val="000000"/>
              </a:solidFill>
              <a:latin typeface="Arial"/>
            </a:endParaRPr>
          </a:p>
        </p:txBody>
      </p:sp>
      <p:sp>
        <p:nvSpPr>
          <p:cNvPr id="174" name="Text 29"/>
          <p:cNvSpPr/>
          <p:nvPr/>
        </p:nvSpPr>
        <p:spPr>
          <a:xfrm>
            <a:off x="969120" y="5010840"/>
            <a:ext cx="459900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6e7f6e"/>
                </a:solidFill>
                <a:latin typeface="Calibri"/>
              </a:rPr>
              <a:t>No screen or endpoint will put either code in front of a rider's session. A false handover needs two people to agree to it.</a:t>
            </a:r>
            <a:endParaRPr b="0" lang="en-US" sz="1250" spc="-1" strike="noStrike">
              <a:solidFill>
                <a:srgbClr val="000000"/>
              </a:solidFill>
              <a:latin typeface="Arial"/>
            </a:endParaRPr>
          </a:p>
        </p:txBody>
      </p:sp>
      <p:sp>
        <p:nvSpPr>
          <p:cNvPr id="175" name="hand-note-2"/>
          <p:cNvSpPr/>
          <p:nvPr/>
        </p:nvSpPr>
        <p:spPr>
          <a:xfrm>
            <a:off x="6263640" y="4279320"/>
            <a:ext cx="5257440" cy="1572480"/>
          </a:xfrm>
          <a:prstGeom prst="roundRect">
            <a:avLst>
              <a:gd name="adj" fmla="val 2326"/>
            </a:avLst>
          </a:prstGeom>
          <a:solidFill>
            <a:schemeClr val="bg2"/>
          </a:solidFill>
          <a:ln w="9525">
            <a:solidFill>
              <a:srgbClr val="97bc62"/>
            </a:solidFill>
            <a:round/>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6" name="Text 31"/>
          <p:cNvSpPr/>
          <p:nvPr/>
        </p:nvSpPr>
        <p:spPr>
          <a:xfrm>
            <a:off x="6592680" y="4480560"/>
            <a:ext cx="4599000" cy="511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2c5f2d"/>
                </a:solidFill>
                <a:latin typeface="Calibri"/>
              </a:rPr>
              <a:t>A code exists only once someone has been shown it</a:t>
            </a:r>
            <a:endParaRPr b="0" lang="en-US" sz="1500" spc="-1" strike="noStrike">
              <a:solidFill>
                <a:srgbClr val="000000"/>
              </a:solidFill>
              <a:latin typeface="Arial"/>
            </a:endParaRPr>
          </a:p>
        </p:txBody>
      </p:sp>
      <p:sp>
        <p:nvSpPr>
          <p:cNvPr id="177" name="Text 32"/>
          <p:cNvSpPr/>
          <p:nvPr/>
        </p:nvSpPr>
        <p:spPr>
          <a:xfrm>
            <a:off x="6592680" y="5010840"/>
            <a:ext cx="459900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6e7f6e"/>
                </a:solidFill>
                <a:latin typeface="Calibri"/>
              </a:rPr>
              <a:t>It is created the first time its holder opens it, so a code nobody has seen cannot be redeemed, and five wrong guesses kill it.</a:t>
            </a:r>
            <a:endParaRPr b="0" lang="en-US" sz="1250" spc="-1" strike="noStrike">
              <a:solidFill>
                <a:srgbClr val="000000"/>
              </a:solidFill>
              <a:latin typeface="Arial"/>
            </a:endParaRPr>
          </a:p>
        </p:txBody>
      </p:sp>
      <p:sp>
        <p:nvSpPr>
          <p:cNvPr id="178" name="PlaceHolder 2"/>
          <p:cNvSpPr>
            <a:spLocks noGrp="1"/>
          </p:cNvSpPr>
          <p:nvPr>
            <p:ph type="sldNum" idx="11"/>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F1AD0E29-F8FD-43BF-B5F9-AD4AEC15E49F}"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d2601a"/>
                </a:solidFill>
                <a:latin typeface="Calibri"/>
              </a:rPr>
              <a:t>CONTROLS</a:t>
            </a:r>
            <a:endParaRPr b="0" lang="en-US" sz="1050" spc="-1" strike="noStrike">
              <a:solidFill>
                <a:srgbClr val="000000"/>
              </a:solidFill>
              <a:latin typeface="Arial"/>
            </a:endParaRPr>
          </a:p>
        </p:txBody>
      </p:sp>
      <p:sp>
        <p:nvSpPr>
          <p:cNvPr id="180" name="PlaceHolder 1"/>
          <p:cNvSpPr>
            <a:spLocks noGrp="1"/>
          </p:cNvSpPr>
          <p:nvPr>
            <p:ph type="title"/>
          </p:nvPr>
        </p:nvSpPr>
        <p:spPr>
          <a:xfrm>
            <a:off x="640080" y="420480"/>
            <a:ext cx="1088100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dk1"/>
                </a:solidFill>
                <a:latin typeface="Cambria"/>
              </a:rPr>
              <a:t>Built so this cannot come back on you</a:t>
            </a:r>
            <a:endParaRPr b="0" lang="en-US" sz="3200" spc="-1" strike="noStrike">
              <a:solidFill>
                <a:schemeClr val="dk1"/>
              </a:solidFill>
              <a:latin typeface="Calibri"/>
            </a:endParaRPr>
          </a:p>
        </p:txBody>
      </p:sp>
      <p:sp>
        <p:nvSpPr>
          <p:cNvPr id="181" name="control-card-1"/>
          <p:cNvSpPr/>
          <p:nvPr/>
        </p:nvSpPr>
        <p:spPr>
          <a:xfrm>
            <a:off x="640080" y="1371600"/>
            <a:ext cx="3382920" cy="1828440"/>
          </a:xfrm>
          <a:prstGeom prst="roundRect">
            <a:avLst>
              <a:gd name="adj" fmla="val 2000"/>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2" name="control-badge-1"/>
          <p:cNvSpPr/>
          <p:nvPr/>
        </p:nvSpPr>
        <p:spPr>
          <a:xfrm>
            <a:off x="914400" y="1609200"/>
            <a:ext cx="420120" cy="42012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3" name="Text 4"/>
          <p:cNvSpPr/>
          <p:nvPr/>
        </p:nvSpPr>
        <p:spPr>
          <a:xfrm>
            <a:off x="914400" y="1609200"/>
            <a:ext cx="42012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A</a:t>
            </a:r>
            <a:endParaRPr b="0" lang="en-US" sz="1400" spc="-1" strike="noStrike">
              <a:solidFill>
                <a:srgbClr val="000000"/>
              </a:solidFill>
              <a:latin typeface="Arial"/>
            </a:endParaRPr>
          </a:p>
        </p:txBody>
      </p:sp>
      <p:sp>
        <p:nvSpPr>
          <p:cNvPr id="184" name="Text 5"/>
          <p:cNvSpPr/>
          <p:nvPr/>
        </p:nvSpPr>
        <p:spPr>
          <a:xfrm>
            <a:off x="1444680" y="1572840"/>
            <a:ext cx="230400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chemeClr val="dk1"/>
                </a:solidFill>
                <a:latin typeface="Calibri"/>
              </a:rPr>
              <a:t>No passwords exist</a:t>
            </a:r>
            <a:endParaRPr b="0" lang="en-US" sz="1450" spc="-1" strike="noStrike">
              <a:solidFill>
                <a:srgbClr val="000000"/>
              </a:solidFill>
              <a:latin typeface="Arial"/>
            </a:endParaRPr>
          </a:p>
        </p:txBody>
      </p:sp>
      <p:sp>
        <p:nvSpPr>
          <p:cNvPr id="185" name="Text 6"/>
          <p:cNvSpPr/>
          <p:nvPr/>
        </p:nvSpPr>
        <p:spPr>
          <a:xfrm>
            <a:off x="914400" y="2157840"/>
            <a:ext cx="283428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Possession of the phone number is the only credential. No password field, no reset, nothing to leak or reuse. Codes arrive over WhatsApp.</a:t>
            </a:r>
            <a:endParaRPr b="0" lang="en-US" sz="1200" spc="-1" strike="noStrike">
              <a:solidFill>
                <a:srgbClr val="000000"/>
              </a:solidFill>
              <a:latin typeface="Arial"/>
            </a:endParaRPr>
          </a:p>
        </p:txBody>
      </p:sp>
      <p:sp>
        <p:nvSpPr>
          <p:cNvPr id="186" name="control-card-2"/>
          <p:cNvSpPr/>
          <p:nvPr/>
        </p:nvSpPr>
        <p:spPr>
          <a:xfrm>
            <a:off x="4389120" y="1371600"/>
            <a:ext cx="3382920" cy="1828440"/>
          </a:xfrm>
          <a:prstGeom prst="roundRect">
            <a:avLst>
              <a:gd name="adj" fmla="val 2000"/>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7" name="control-badge-2"/>
          <p:cNvSpPr/>
          <p:nvPr/>
        </p:nvSpPr>
        <p:spPr>
          <a:xfrm>
            <a:off x="4663440" y="1609200"/>
            <a:ext cx="420120" cy="420120"/>
          </a:xfrm>
          <a:prstGeom prst="ellipse">
            <a:avLst/>
          </a:prstGeom>
          <a:solidFill>
            <a:srgbClr val="d2601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8" name="Text 9"/>
          <p:cNvSpPr/>
          <p:nvPr/>
        </p:nvSpPr>
        <p:spPr>
          <a:xfrm>
            <a:off x="4663440" y="1609200"/>
            <a:ext cx="42012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B</a:t>
            </a:r>
            <a:endParaRPr b="0" lang="en-US" sz="1400" spc="-1" strike="noStrike">
              <a:solidFill>
                <a:srgbClr val="000000"/>
              </a:solidFill>
              <a:latin typeface="Arial"/>
            </a:endParaRPr>
          </a:p>
        </p:txBody>
      </p:sp>
      <p:sp>
        <p:nvSpPr>
          <p:cNvPr id="189" name="Text 10"/>
          <p:cNvSpPr/>
          <p:nvPr/>
        </p:nvSpPr>
        <p:spPr>
          <a:xfrm>
            <a:off x="5193720" y="1572840"/>
            <a:ext cx="230400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chemeClr val="dk1"/>
                </a:solidFill>
                <a:latin typeface="Calibri"/>
              </a:rPr>
              <a:t>A bank account is proven, not typed</a:t>
            </a:r>
            <a:endParaRPr b="0" lang="en-US" sz="1450" spc="-1" strike="noStrike">
              <a:solidFill>
                <a:srgbClr val="000000"/>
              </a:solidFill>
              <a:latin typeface="Arial"/>
            </a:endParaRPr>
          </a:p>
        </p:txBody>
      </p:sp>
      <p:sp>
        <p:nvSpPr>
          <p:cNvPr id="190" name="Text 11"/>
          <p:cNvSpPr/>
          <p:nvPr/>
        </p:nvSpPr>
        <p:spPr>
          <a:xfrm>
            <a:off x="4663440" y="2157840"/>
            <a:ext cx="283428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A randomised 1–100 paise deposit, reported back exactly. The account number is encrypted at rest and only ever shown as the last four digits.</a:t>
            </a:r>
            <a:endParaRPr b="0" lang="en-US" sz="1200" spc="-1" strike="noStrike">
              <a:solidFill>
                <a:srgbClr val="000000"/>
              </a:solidFill>
              <a:latin typeface="Arial"/>
            </a:endParaRPr>
          </a:p>
        </p:txBody>
      </p:sp>
      <p:sp>
        <p:nvSpPr>
          <p:cNvPr id="191" name="control-card-3"/>
          <p:cNvSpPr/>
          <p:nvPr/>
        </p:nvSpPr>
        <p:spPr>
          <a:xfrm>
            <a:off x="8138160" y="1371600"/>
            <a:ext cx="3382920" cy="1828440"/>
          </a:xfrm>
          <a:prstGeom prst="roundRect">
            <a:avLst>
              <a:gd name="adj" fmla="val 2000"/>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2" name="control-badge-3"/>
          <p:cNvSpPr/>
          <p:nvPr/>
        </p:nvSpPr>
        <p:spPr>
          <a:xfrm>
            <a:off x="8412480" y="1609200"/>
            <a:ext cx="420120" cy="420120"/>
          </a:xfrm>
          <a:prstGeom prst="ellipse">
            <a:avLst/>
          </a:prstGeom>
          <a:solidFill>
            <a:srgbClr val="4e7a68"/>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3" name="Text 14"/>
          <p:cNvSpPr/>
          <p:nvPr/>
        </p:nvSpPr>
        <p:spPr>
          <a:xfrm>
            <a:off x="8412480" y="1609200"/>
            <a:ext cx="42012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C</a:t>
            </a:r>
            <a:endParaRPr b="0" lang="en-US" sz="1400" spc="-1" strike="noStrike">
              <a:solidFill>
                <a:srgbClr val="000000"/>
              </a:solidFill>
              <a:latin typeface="Arial"/>
            </a:endParaRPr>
          </a:p>
        </p:txBody>
      </p:sp>
      <p:sp>
        <p:nvSpPr>
          <p:cNvPr id="194" name="Text 15"/>
          <p:cNvSpPr/>
          <p:nvPr/>
        </p:nvSpPr>
        <p:spPr>
          <a:xfrm>
            <a:off x="8942760" y="1572840"/>
            <a:ext cx="230400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chemeClr val="dk1"/>
                </a:solidFill>
                <a:latin typeface="Calibri"/>
              </a:rPr>
              <a:t>Money is integer paise, never a float</a:t>
            </a:r>
            <a:endParaRPr b="0" lang="en-US" sz="1450" spc="-1" strike="noStrike">
              <a:solidFill>
                <a:srgbClr val="000000"/>
              </a:solidFill>
              <a:latin typeface="Arial"/>
            </a:endParaRPr>
          </a:p>
        </p:txBody>
      </p:sp>
      <p:sp>
        <p:nvSpPr>
          <p:cNvPr id="195" name="Text 16"/>
          <p:cNvSpPr/>
          <p:nvPr/>
        </p:nvSpPr>
        <p:spPr>
          <a:xfrm>
            <a:off x="8412480" y="2157840"/>
            <a:ext cx="283428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Every amount is whole paise. A wallet balance is derived from an append-only ledger, not a field anyone can edit, and crediting is idempotent.</a:t>
            </a:r>
            <a:endParaRPr b="0" lang="en-US" sz="1200" spc="-1" strike="noStrike">
              <a:solidFill>
                <a:srgbClr val="000000"/>
              </a:solidFill>
              <a:latin typeface="Arial"/>
            </a:endParaRPr>
          </a:p>
        </p:txBody>
      </p:sp>
      <p:sp>
        <p:nvSpPr>
          <p:cNvPr id="196" name="control-card-4"/>
          <p:cNvSpPr/>
          <p:nvPr/>
        </p:nvSpPr>
        <p:spPr>
          <a:xfrm>
            <a:off x="640080" y="3474720"/>
            <a:ext cx="3382920" cy="1828440"/>
          </a:xfrm>
          <a:prstGeom prst="roundRect">
            <a:avLst>
              <a:gd name="adj" fmla="val 2000"/>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7" name="control-badge-4"/>
          <p:cNvSpPr/>
          <p:nvPr/>
        </p:nvSpPr>
        <p:spPr>
          <a:xfrm>
            <a:off x="914400" y="3712320"/>
            <a:ext cx="420120" cy="420120"/>
          </a:xfrm>
          <a:prstGeom prst="ellipse">
            <a:avLst/>
          </a:prstGeom>
          <a:solidFill>
            <a:srgbClr val="b8860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8" name="Text 19"/>
          <p:cNvSpPr/>
          <p:nvPr/>
        </p:nvSpPr>
        <p:spPr>
          <a:xfrm>
            <a:off x="914400" y="3712320"/>
            <a:ext cx="42012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D</a:t>
            </a:r>
            <a:endParaRPr b="0" lang="en-US" sz="1400" spc="-1" strike="noStrike">
              <a:solidFill>
                <a:srgbClr val="000000"/>
              </a:solidFill>
              <a:latin typeface="Arial"/>
            </a:endParaRPr>
          </a:p>
        </p:txBody>
      </p:sp>
      <p:sp>
        <p:nvSpPr>
          <p:cNvPr id="199" name="Text 20"/>
          <p:cNvSpPr/>
          <p:nvPr/>
        </p:nvSpPr>
        <p:spPr>
          <a:xfrm>
            <a:off x="1444680" y="3675960"/>
            <a:ext cx="230400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chemeClr val="dk1"/>
                </a:solidFill>
                <a:latin typeface="Calibri"/>
              </a:rPr>
              <a:t>Nobody sees another's business</a:t>
            </a:r>
            <a:endParaRPr b="0" lang="en-US" sz="1450" spc="-1" strike="noStrike">
              <a:solidFill>
                <a:srgbClr val="000000"/>
              </a:solidFill>
              <a:latin typeface="Arial"/>
            </a:endParaRPr>
          </a:p>
        </p:txBody>
      </p:sp>
      <p:sp>
        <p:nvSpPr>
          <p:cNvPr id="200" name="Text 21"/>
          <p:cNvSpPr/>
          <p:nvPr/>
        </p:nvSpPr>
        <p:spPr>
          <a:xfrm>
            <a:off x="914400" y="4260960"/>
            <a:ext cx="283428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Order visibility is scoped by role on the server, on every request. One vendor cannot read another's customers, prices or volumes.</a:t>
            </a:r>
            <a:endParaRPr b="0" lang="en-US" sz="1200" spc="-1" strike="noStrike">
              <a:solidFill>
                <a:srgbClr val="000000"/>
              </a:solidFill>
              <a:latin typeface="Arial"/>
            </a:endParaRPr>
          </a:p>
        </p:txBody>
      </p:sp>
      <p:sp>
        <p:nvSpPr>
          <p:cNvPr id="201" name="control-card-5"/>
          <p:cNvSpPr/>
          <p:nvPr/>
        </p:nvSpPr>
        <p:spPr>
          <a:xfrm>
            <a:off x="4389120" y="3474720"/>
            <a:ext cx="3382920" cy="1828440"/>
          </a:xfrm>
          <a:prstGeom prst="roundRect">
            <a:avLst>
              <a:gd name="adj" fmla="val 2000"/>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2" name="control-badge-5"/>
          <p:cNvSpPr/>
          <p:nvPr/>
        </p:nvSpPr>
        <p:spPr>
          <a:xfrm>
            <a:off x="4663440" y="3712320"/>
            <a:ext cx="420120" cy="42012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3" name="Text 24"/>
          <p:cNvSpPr/>
          <p:nvPr/>
        </p:nvSpPr>
        <p:spPr>
          <a:xfrm>
            <a:off x="4663440" y="3712320"/>
            <a:ext cx="42012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E</a:t>
            </a:r>
            <a:endParaRPr b="0" lang="en-US" sz="1400" spc="-1" strike="noStrike">
              <a:solidFill>
                <a:srgbClr val="000000"/>
              </a:solidFill>
              <a:latin typeface="Arial"/>
            </a:endParaRPr>
          </a:p>
        </p:txBody>
      </p:sp>
      <p:sp>
        <p:nvSpPr>
          <p:cNvPr id="204" name="Text 25"/>
          <p:cNvSpPr/>
          <p:nvPr/>
        </p:nvSpPr>
        <p:spPr>
          <a:xfrm>
            <a:off x="5193720" y="3675960"/>
            <a:ext cx="230400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chemeClr val="dk1"/>
                </a:solidFill>
                <a:latin typeface="Calibri"/>
              </a:rPr>
              <a:t>A suspension takes effect at once</a:t>
            </a:r>
            <a:endParaRPr b="0" lang="en-US" sz="1450" spc="-1" strike="noStrike">
              <a:solidFill>
                <a:srgbClr val="000000"/>
              </a:solidFill>
              <a:latin typeface="Arial"/>
            </a:endParaRPr>
          </a:p>
        </p:txBody>
      </p:sp>
      <p:sp>
        <p:nvSpPr>
          <p:cNvPr id="205" name="Text 26"/>
          <p:cNvSpPr/>
          <p:nvPr/>
        </p:nvSpPr>
        <p:spPr>
          <a:xfrm>
            <a:off x="4663440" y="4260960"/>
            <a:ext cx="283428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Role and verification status are re-read from the database on every single request, so a de-verified vendor stops trading immediately.</a:t>
            </a:r>
            <a:endParaRPr b="0" lang="en-US" sz="1200" spc="-1" strike="noStrike">
              <a:solidFill>
                <a:srgbClr val="000000"/>
              </a:solidFill>
              <a:latin typeface="Arial"/>
            </a:endParaRPr>
          </a:p>
        </p:txBody>
      </p:sp>
      <p:sp>
        <p:nvSpPr>
          <p:cNvPr id="206" name="control-card-6"/>
          <p:cNvSpPr/>
          <p:nvPr/>
        </p:nvSpPr>
        <p:spPr>
          <a:xfrm>
            <a:off x="8138160" y="3474720"/>
            <a:ext cx="3382920" cy="1828440"/>
          </a:xfrm>
          <a:prstGeom prst="roundRect">
            <a:avLst>
              <a:gd name="adj" fmla="val 2000"/>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7" name="control-badge-6"/>
          <p:cNvSpPr/>
          <p:nvPr/>
        </p:nvSpPr>
        <p:spPr>
          <a:xfrm>
            <a:off x="8412480" y="3712320"/>
            <a:ext cx="420120" cy="420120"/>
          </a:xfrm>
          <a:prstGeom prst="ellipse">
            <a:avLst/>
          </a:prstGeom>
          <a:solidFill>
            <a:srgbClr val="d2601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8" name="Text 29"/>
          <p:cNvSpPr/>
          <p:nvPr/>
        </p:nvSpPr>
        <p:spPr>
          <a:xfrm>
            <a:off x="8412480" y="3712320"/>
            <a:ext cx="420120" cy="42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chemeClr val="lt1"/>
                </a:solidFill>
                <a:latin typeface="Calibri"/>
              </a:rPr>
              <a:t>F</a:t>
            </a:r>
            <a:endParaRPr b="0" lang="en-US" sz="1400" spc="-1" strike="noStrike">
              <a:solidFill>
                <a:srgbClr val="000000"/>
              </a:solidFill>
              <a:latin typeface="Arial"/>
            </a:endParaRPr>
          </a:p>
        </p:txBody>
      </p:sp>
      <p:sp>
        <p:nvSpPr>
          <p:cNvPr id="209" name="Text 30"/>
          <p:cNvSpPr/>
          <p:nvPr/>
        </p:nvSpPr>
        <p:spPr>
          <a:xfrm>
            <a:off x="8942760" y="3675960"/>
            <a:ext cx="230400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chemeClr val="dk1"/>
                </a:solidFill>
                <a:latin typeface="Calibri"/>
              </a:rPr>
              <a:t>67 automated test suites on the server</a:t>
            </a:r>
            <a:endParaRPr b="0" lang="en-US" sz="1450" spc="-1" strike="noStrike">
              <a:solidFill>
                <a:srgbClr val="000000"/>
              </a:solidFill>
              <a:latin typeface="Arial"/>
            </a:endParaRPr>
          </a:p>
        </p:txBody>
      </p:sp>
      <p:sp>
        <p:nvSpPr>
          <p:cNvPr id="210" name="Text 31"/>
          <p:cNvSpPr/>
          <p:nvPr/>
        </p:nvSpPr>
        <p:spPr>
          <a:xfrm>
            <a:off x="8412480" y="4260960"/>
            <a:ext cx="283428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6e7f6e"/>
                </a:solidFill>
                <a:latin typeface="Calibri"/>
              </a:rPr>
              <a:t>Covering settlement arithmetic, authorisation boundaries, handover-code leakage, geo-fencing and migrations. They run on every change.</a:t>
            </a:r>
            <a:endParaRPr b="0" lang="en-US" sz="1200" spc="-1" strike="noStrike">
              <a:solidFill>
                <a:srgbClr val="000000"/>
              </a:solidFill>
              <a:latin typeface="Arial"/>
            </a:endParaRPr>
          </a:p>
        </p:txBody>
      </p:sp>
      <p:sp>
        <p:nvSpPr>
          <p:cNvPr id="211" name="Text 32"/>
          <p:cNvSpPr/>
          <p:nvPr/>
        </p:nvSpPr>
        <p:spPr>
          <a:xfrm>
            <a:off x="640080" y="5614560"/>
            <a:ext cx="108810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i="1" lang="en-US" sz="1350" spc="-1" strike="noStrike">
                <a:solidFill>
                  <a:srgbClr val="2c5f2d"/>
                </a:solidFill>
                <a:latin typeface="Calibri"/>
              </a:rPr>
              <a:t>Every item above is in the code today and can be read by any auditor your department nominates.</a:t>
            </a:r>
            <a:endParaRPr b="0" lang="en-US" sz="1350" spc="-1" strike="noStrike">
              <a:solidFill>
                <a:srgbClr val="000000"/>
              </a:solidFill>
              <a:latin typeface="Arial"/>
            </a:endParaRPr>
          </a:p>
        </p:txBody>
      </p:sp>
      <p:sp>
        <p:nvSpPr>
          <p:cNvPr id="212" name="PlaceHolder 2"/>
          <p:cNvSpPr>
            <a:spLocks noGrp="1"/>
          </p:cNvSpPr>
          <p:nvPr>
            <p:ph type="sldNum" idx="12"/>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993B6A4D-BD2C-4DD3-AA59-B8840317BD8B}"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d2601a"/>
                </a:solidFill>
                <a:latin typeface="Calibri"/>
              </a:rPr>
              <a:t>THE COMMERCIAL MODEL</a:t>
            </a:r>
            <a:endParaRPr b="0" lang="en-US" sz="1050" spc="-1" strike="noStrike">
              <a:solidFill>
                <a:srgbClr val="000000"/>
              </a:solidFill>
              <a:latin typeface="Arial"/>
            </a:endParaRPr>
          </a:p>
        </p:txBody>
      </p:sp>
      <p:sp>
        <p:nvSpPr>
          <p:cNvPr id="214" name="PlaceHolder 1"/>
          <p:cNvSpPr>
            <a:spLocks noGrp="1"/>
          </p:cNvSpPr>
          <p:nvPr>
            <p:ph type="title"/>
          </p:nvPr>
        </p:nvSpPr>
        <p:spPr>
          <a:xfrm>
            <a:off x="640080" y="420480"/>
            <a:ext cx="1088100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dk1"/>
                </a:solidFill>
                <a:latin typeface="Cambria"/>
              </a:rPr>
              <a:t>The market sets the split, not the platform</a:t>
            </a:r>
            <a:endParaRPr b="0" lang="en-US" sz="3200" spc="-1" strike="noStrike">
              <a:solidFill>
                <a:schemeClr val="dk1"/>
              </a:solidFill>
              <a:latin typeface="Calibri"/>
            </a:endParaRPr>
          </a:p>
        </p:txBody>
      </p:sp>
      <p:sp>
        <p:nvSpPr>
          <p:cNvPr id="215" name="Text 2"/>
          <p:cNvSpPr/>
          <p:nvPr/>
        </p:nvSpPr>
        <p:spPr>
          <a:xfrm>
            <a:off x="640080" y="1243440"/>
            <a:ext cx="10881000" cy="529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6e7f6e"/>
                </a:solidFill>
                <a:latin typeface="Calibri"/>
              </a:rPr>
              <a:t>Every order's gross is divided into five buckets that must add up to exactly 100%. There is a state-wide default and a per-market override, so a Rythu Bazaar can run on different terms from a private market.</a:t>
            </a:r>
            <a:endParaRPr b="0" lang="en-US" sz="1400" spc="-1" strike="noStrike">
              <a:solidFill>
                <a:srgbClr val="000000"/>
              </a:solidFill>
              <a:latin typeface="Arial"/>
            </a:endParaRPr>
          </a:p>
        </p:txBody>
      </p:sp>
      <p:sp>
        <p:nvSpPr>
          <p:cNvPr id="216" name="Text 3"/>
          <p:cNvSpPr/>
          <p:nvPr/>
        </p:nvSpPr>
        <p:spPr>
          <a:xfrm>
            <a:off x="640080" y="1810440"/>
            <a:ext cx="649188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50" spc="180" strike="noStrike">
                <a:solidFill>
                  <a:srgbClr val="6e7f6e"/>
                </a:solidFill>
                <a:latin typeface="Calibri"/>
              </a:rPr>
              <a:t>SHARE OF EACH ORDER'S GROSS</a:t>
            </a:r>
            <a:endParaRPr b="0" lang="en-US" sz="950" spc="-1" strike="noStrike">
              <a:solidFill>
                <a:srgbClr val="000000"/>
              </a:solidFill>
              <a:latin typeface="Arial"/>
            </a:endParaRPr>
          </a:p>
        </p:txBody>
      </p:sp>
      <p:sp>
        <p:nvSpPr>
          <p:cNvPr id="217" name="Text 4"/>
          <p:cNvSpPr/>
          <p:nvPr/>
        </p:nvSpPr>
        <p:spPr>
          <a:xfrm>
            <a:off x="640080" y="2103120"/>
            <a:ext cx="1782720" cy="3654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250" spc="-1" strike="noStrike">
                <a:solidFill>
                  <a:schemeClr val="dk1"/>
                </a:solidFill>
                <a:latin typeface="Calibri"/>
              </a:rPr>
              <a:t>Stall vendor</a:t>
            </a:r>
            <a:endParaRPr b="0" lang="en-US" sz="1250" spc="-1" strike="noStrike">
              <a:solidFill>
                <a:srgbClr val="000000"/>
              </a:solidFill>
              <a:latin typeface="Arial"/>
            </a:endParaRPr>
          </a:p>
        </p:txBody>
      </p:sp>
      <p:sp>
        <p:nvSpPr>
          <p:cNvPr id="218" name="split-track-1"/>
          <p:cNvSpPr/>
          <p:nvPr/>
        </p:nvSpPr>
        <p:spPr>
          <a:xfrm>
            <a:off x="2560320" y="2167200"/>
            <a:ext cx="3657240" cy="237240"/>
          </a:xfrm>
          <a:prstGeom prst="roundRect">
            <a:avLst>
              <a:gd name="adj" fmla="val 192308"/>
            </a:avLst>
          </a:prstGeom>
          <a:solidFill>
            <a:schemeClr val="bg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9" name="split-bar-1"/>
          <p:cNvSpPr/>
          <p:nvPr/>
        </p:nvSpPr>
        <p:spPr>
          <a:xfrm>
            <a:off x="2560320" y="2167200"/>
            <a:ext cx="3108600" cy="237240"/>
          </a:xfrm>
          <a:prstGeom prst="roundRect">
            <a:avLst>
              <a:gd name="adj" fmla="val 192308"/>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0" name="Text 7"/>
          <p:cNvSpPr/>
          <p:nvPr/>
        </p:nvSpPr>
        <p:spPr>
          <a:xfrm>
            <a:off x="6346080" y="2103120"/>
            <a:ext cx="7311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2c5f2d"/>
                </a:solidFill>
                <a:latin typeface="Calibri"/>
              </a:rPr>
              <a:t>85%</a:t>
            </a:r>
            <a:endParaRPr b="0" lang="en-US" sz="1300" spc="-1" strike="noStrike">
              <a:solidFill>
                <a:srgbClr val="000000"/>
              </a:solidFill>
              <a:latin typeface="Arial"/>
            </a:endParaRPr>
          </a:p>
        </p:txBody>
      </p:sp>
      <p:sp>
        <p:nvSpPr>
          <p:cNvPr id="221" name="Text 8"/>
          <p:cNvSpPr/>
          <p:nvPr/>
        </p:nvSpPr>
        <p:spPr>
          <a:xfrm>
            <a:off x="640080" y="2670120"/>
            <a:ext cx="1782720" cy="3654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250" spc="-1" strike="noStrike">
                <a:solidFill>
                  <a:schemeClr val="dk1"/>
                </a:solidFill>
                <a:latin typeface="Calibri"/>
              </a:rPr>
              <a:t>Rider</a:t>
            </a:r>
            <a:endParaRPr b="0" lang="en-US" sz="1250" spc="-1" strike="noStrike">
              <a:solidFill>
                <a:srgbClr val="000000"/>
              </a:solidFill>
              <a:latin typeface="Arial"/>
            </a:endParaRPr>
          </a:p>
        </p:txBody>
      </p:sp>
      <p:sp>
        <p:nvSpPr>
          <p:cNvPr id="222" name="split-track-2"/>
          <p:cNvSpPr/>
          <p:nvPr/>
        </p:nvSpPr>
        <p:spPr>
          <a:xfrm>
            <a:off x="2560320" y="2734200"/>
            <a:ext cx="3657240" cy="237240"/>
          </a:xfrm>
          <a:prstGeom prst="roundRect">
            <a:avLst>
              <a:gd name="adj" fmla="val 192308"/>
            </a:avLst>
          </a:prstGeom>
          <a:solidFill>
            <a:schemeClr val="bg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3" name="split-bar-2"/>
          <p:cNvSpPr/>
          <p:nvPr/>
        </p:nvSpPr>
        <p:spPr>
          <a:xfrm>
            <a:off x="2560320" y="2734200"/>
            <a:ext cx="365400" cy="237240"/>
          </a:xfrm>
          <a:prstGeom prst="roundRect">
            <a:avLst>
              <a:gd name="adj" fmla="val 192308"/>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4" name="Text 11"/>
          <p:cNvSpPr/>
          <p:nvPr/>
        </p:nvSpPr>
        <p:spPr>
          <a:xfrm>
            <a:off x="6346080" y="2670120"/>
            <a:ext cx="7311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2c5f2d"/>
                </a:solidFill>
                <a:latin typeface="Calibri"/>
              </a:rPr>
              <a:t>10%</a:t>
            </a:r>
            <a:endParaRPr b="0" lang="en-US" sz="1300" spc="-1" strike="noStrike">
              <a:solidFill>
                <a:srgbClr val="000000"/>
              </a:solidFill>
              <a:latin typeface="Arial"/>
            </a:endParaRPr>
          </a:p>
        </p:txBody>
      </p:sp>
      <p:sp>
        <p:nvSpPr>
          <p:cNvPr id="225" name="Text 12"/>
          <p:cNvSpPr/>
          <p:nvPr/>
        </p:nvSpPr>
        <p:spPr>
          <a:xfrm>
            <a:off x="640080" y="3237120"/>
            <a:ext cx="1782720" cy="3654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250" spc="-1" strike="noStrike">
                <a:solidFill>
                  <a:schemeClr val="dk1"/>
                </a:solidFill>
                <a:latin typeface="Calibri"/>
              </a:rPr>
              <a:t>Market committee</a:t>
            </a:r>
            <a:endParaRPr b="0" lang="en-US" sz="1250" spc="-1" strike="noStrike">
              <a:solidFill>
                <a:srgbClr val="000000"/>
              </a:solidFill>
              <a:latin typeface="Arial"/>
            </a:endParaRPr>
          </a:p>
        </p:txBody>
      </p:sp>
      <p:sp>
        <p:nvSpPr>
          <p:cNvPr id="226" name="split-track-3"/>
          <p:cNvSpPr/>
          <p:nvPr/>
        </p:nvSpPr>
        <p:spPr>
          <a:xfrm>
            <a:off x="2560320" y="3300840"/>
            <a:ext cx="3657240" cy="237240"/>
          </a:xfrm>
          <a:prstGeom prst="roundRect">
            <a:avLst>
              <a:gd name="adj" fmla="val 192308"/>
            </a:avLst>
          </a:prstGeom>
          <a:solidFill>
            <a:schemeClr val="bg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7" name="split-bar-3"/>
          <p:cNvSpPr/>
          <p:nvPr/>
        </p:nvSpPr>
        <p:spPr>
          <a:xfrm>
            <a:off x="2560320" y="3300840"/>
            <a:ext cx="145800" cy="237240"/>
          </a:xfrm>
          <a:prstGeom prst="roundRect">
            <a:avLst>
              <a:gd name="adj" fmla="val 312500"/>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8" name="Text 15"/>
          <p:cNvSpPr/>
          <p:nvPr/>
        </p:nvSpPr>
        <p:spPr>
          <a:xfrm>
            <a:off x="6346080" y="3237120"/>
            <a:ext cx="7311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2c5f2d"/>
                </a:solidFill>
                <a:latin typeface="Calibri"/>
              </a:rPr>
              <a:t>3%</a:t>
            </a:r>
            <a:endParaRPr b="0" lang="en-US" sz="1300" spc="-1" strike="noStrike">
              <a:solidFill>
                <a:srgbClr val="000000"/>
              </a:solidFill>
              <a:latin typeface="Arial"/>
            </a:endParaRPr>
          </a:p>
        </p:txBody>
      </p:sp>
      <p:sp>
        <p:nvSpPr>
          <p:cNvPr id="229" name="Text 16"/>
          <p:cNvSpPr/>
          <p:nvPr/>
        </p:nvSpPr>
        <p:spPr>
          <a:xfrm>
            <a:off x="640080" y="3803760"/>
            <a:ext cx="1782720" cy="3654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250" spc="-1" strike="noStrike">
                <a:solidFill>
                  <a:schemeClr val="dk1"/>
                </a:solidFill>
                <a:latin typeface="Calibri"/>
              </a:rPr>
              <a:t>Customer incentive</a:t>
            </a:r>
            <a:endParaRPr b="0" lang="en-US" sz="1250" spc="-1" strike="noStrike">
              <a:solidFill>
                <a:srgbClr val="000000"/>
              </a:solidFill>
              <a:latin typeface="Arial"/>
            </a:endParaRPr>
          </a:p>
        </p:txBody>
      </p:sp>
      <p:sp>
        <p:nvSpPr>
          <p:cNvPr id="230" name="split-track-4"/>
          <p:cNvSpPr/>
          <p:nvPr/>
        </p:nvSpPr>
        <p:spPr>
          <a:xfrm>
            <a:off x="2560320" y="3867840"/>
            <a:ext cx="3657240" cy="237240"/>
          </a:xfrm>
          <a:prstGeom prst="roundRect">
            <a:avLst>
              <a:gd name="adj" fmla="val 192308"/>
            </a:avLst>
          </a:prstGeom>
          <a:solidFill>
            <a:schemeClr val="bg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1" name="split-bar-4"/>
          <p:cNvSpPr/>
          <p:nvPr/>
        </p:nvSpPr>
        <p:spPr>
          <a:xfrm>
            <a:off x="2560320" y="3867840"/>
            <a:ext cx="145800" cy="237240"/>
          </a:xfrm>
          <a:prstGeom prst="roundRect">
            <a:avLst>
              <a:gd name="adj" fmla="val 312500"/>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2" name="Text 19"/>
          <p:cNvSpPr/>
          <p:nvPr/>
        </p:nvSpPr>
        <p:spPr>
          <a:xfrm>
            <a:off x="6346080" y="3803760"/>
            <a:ext cx="7311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2c5f2d"/>
                </a:solidFill>
                <a:latin typeface="Calibri"/>
              </a:rPr>
              <a:t>2%</a:t>
            </a:r>
            <a:endParaRPr b="0" lang="en-US" sz="1300" spc="-1" strike="noStrike">
              <a:solidFill>
                <a:srgbClr val="000000"/>
              </a:solidFill>
              <a:latin typeface="Arial"/>
            </a:endParaRPr>
          </a:p>
        </p:txBody>
      </p:sp>
      <p:sp>
        <p:nvSpPr>
          <p:cNvPr id="233" name="Text 20"/>
          <p:cNvSpPr/>
          <p:nvPr/>
        </p:nvSpPr>
        <p:spPr>
          <a:xfrm>
            <a:off x="640080" y="4370760"/>
            <a:ext cx="1782720" cy="3654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1250" spc="-1" strike="noStrike">
                <a:solidFill>
                  <a:srgbClr val="d2601a"/>
                </a:solidFill>
                <a:latin typeface="Calibri"/>
              </a:rPr>
              <a:t>VegDrop platform</a:t>
            </a:r>
            <a:endParaRPr b="0" lang="en-US" sz="1250" spc="-1" strike="noStrike">
              <a:solidFill>
                <a:srgbClr val="000000"/>
              </a:solidFill>
              <a:latin typeface="Arial"/>
            </a:endParaRPr>
          </a:p>
        </p:txBody>
      </p:sp>
      <p:sp>
        <p:nvSpPr>
          <p:cNvPr id="234" name="split-track-5"/>
          <p:cNvSpPr/>
          <p:nvPr/>
        </p:nvSpPr>
        <p:spPr>
          <a:xfrm>
            <a:off x="2560320" y="4434840"/>
            <a:ext cx="3657240" cy="237240"/>
          </a:xfrm>
          <a:prstGeom prst="roundRect">
            <a:avLst>
              <a:gd name="adj" fmla="val 192308"/>
            </a:avLst>
          </a:prstGeom>
          <a:solidFill>
            <a:schemeClr val="bg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5" name="Text 22"/>
          <p:cNvSpPr/>
          <p:nvPr/>
        </p:nvSpPr>
        <p:spPr>
          <a:xfrm>
            <a:off x="6346080" y="4370760"/>
            <a:ext cx="73116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d2601a"/>
                </a:solidFill>
                <a:latin typeface="Calibri"/>
              </a:rPr>
              <a:t>0%</a:t>
            </a:r>
            <a:endParaRPr b="0" lang="en-US" sz="1300" spc="-1" strike="noStrike">
              <a:solidFill>
                <a:srgbClr val="000000"/>
              </a:solidFill>
              <a:latin typeface="Arial"/>
            </a:endParaRPr>
          </a:p>
        </p:txBody>
      </p:sp>
      <p:sp>
        <p:nvSpPr>
          <p:cNvPr id="236" name="Text 23"/>
          <p:cNvSpPr/>
          <p:nvPr/>
        </p:nvSpPr>
        <p:spPr>
          <a:xfrm>
            <a:off x="640080" y="4919400"/>
            <a:ext cx="64918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50" spc="-1" strike="noStrike">
                <a:solidFill>
                  <a:srgbClr val="6e7f6e"/>
                </a:solidFill>
                <a:latin typeface="Calibri"/>
              </a:rPr>
              <a:t>Illustrative split, not a fixed rate. The committee chooses these five numbers.</a:t>
            </a:r>
            <a:endParaRPr b="0" lang="en-US" sz="1050" spc="-1" strike="noStrike">
              <a:solidFill>
                <a:srgbClr val="000000"/>
              </a:solidFill>
              <a:latin typeface="Arial"/>
            </a:endParaRPr>
          </a:p>
        </p:txBody>
      </p:sp>
      <p:sp>
        <p:nvSpPr>
          <p:cNvPr id="237" name="Text 24"/>
          <p:cNvSpPr/>
          <p:nvPr/>
        </p:nvSpPr>
        <p:spPr>
          <a:xfrm>
            <a:off x="640080" y="5285160"/>
            <a:ext cx="6491880" cy="5666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50" spc="-1" strike="noStrike">
                <a:solidFill>
                  <a:srgbClr val="6e7f6e"/>
                </a:solidFill>
                <a:latin typeface="Calibri"/>
              </a:rPr>
              <a:t>Commission has exactly one source of truth in the ledger. It is never re-derived as a percentage of sales, so no screen can report revenue the platform never took.</a:t>
            </a:r>
            <a:endParaRPr b="0" lang="en-US" sz="1150" spc="-1" strike="noStrike">
              <a:solidFill>
                <a:srgbClr val="000000"/>
              </a:solidFill>
              <a:latin typeface="Arial"/>
            </a:endParaRPr>
          </a:p>
        </p:txBody>
      </p:sp>
      <p:sp>
        <p:nvSpPr>
          <p:cNvPr id="238" name="zero-card"/>
          <p:cNvSpPr/>
          <p:nvPr/>
        </p:nvSpPr>
        <p:spPr>
          <a:xfrm>
            <a:off x="7498080" y="1828800"/>
            <a:ext cx="4023000" cy="1682280"/>
          </a:xfrm>
          <a:prstGeom prst="roundRect">
            <a:avLst>
              <a:gd name="adj" fmla="val 2174"/>
            </a:avLst>
          </a:prstGeom>
          <a:solidFill>
            <a:schemeClr val="tx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Text 26"/>
          <p:cNvSpPr/>
          <p:nvPr/>
        </p:nvSpPr>
        <p:spPr>
          <a:xfrm>
            <a:off x="7827120" y="1920240"/>
            <a:ext cx="336456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5200" spc="-1" strike="noStrike">
                <a:solidFill>
                  <a:srgbClr val="97bc62"/>
                </a:solidFill>
                <a:latin typeface="Calibri"/>
              </a:rPr>
              <a:t>0%</a:t>
            </a:r>
            <a:endParaRPr b="0" lang="en-US" sz="5200" spc="-1" strike="noStrike">
              <a:solidFill>
                <a:srgbClr val="000000"/>
              </a:solidFill>
              <a:latin typeface="Arial"/>
            </a:endParaRPr>
          </a:p>
        </p:txBody>
      </p:sp>
      <p:sp>
        <p:nvSpPr>
          <p:cNvPr id="240" name="Text 27"/>
          <p:cNvSpPr/>
          <p:nvPr/>
        </p:nvSpPr>
        <p:spPr>
          <a:xfrm>
            <a:off x="7827120" y="2670120"/>
            <a:ext cx="336456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ffffff"/>
                </a:solidFill>
                <a:latin typeface="Calibri"/>
              </a:rPr>
              <a:t>is the platform commission the software ships with. Not a launch offer — the shipped default.</a:t>
            </a:r>
            <a:endParaRPr b="0" lang="en-US" sz="1300" spc="-1" strike="noStrike">
              <a:solidFill>
                <a:srgbClr val="000000"/>
              </a:solidFill>
              <a:latin typeface="Arial"/>
            </a:endParaRPr>
          </a:p>
        </p:txBody>
      </p:sp>
      <p:sp>
        <p:nvSpPr>
          <p:cNvPr id="241" name="gov-terms-card"/>
          <p:cNvSpPr/>
          <p:nvPr/>
        </p:nvSpPr>
        <p:spPr>
          <a:xfrm>
            <a:off x="7498080" y="3602880"/>
            <a:ext cx="4023000" cy="2285640"/>
          </a:xfrm>
          <a:prstGeom prst="roundRect">
            <a:avLst>
              <a:gd name="adj" fmla="val 1600"/>
            </a:avLst>
          </a:prstGeom>
          <a:solidFill>
            <a:schemeClr val="bg2"/>
          </a:solidFill>
          <a:ln w="9525">
            <a:solidFill>
              <a:srgbClr val="d2601a"/>
            </a:solidFill>
            <a:round/>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2" name="Text 29"/>
          <p:cNvSpPr/>
          <p:nvPr/>
        </p:nvSpPr>
        <p:spPr>
          <a:xfrm>
            <a:off x="7827120" y="3785760"/>
            <a:ext cx="3364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2c5f2d"/>
                </a:solidFill>
                <a:latin typeface="Calibri"/>
              </a:rPr>
              <a:t>What that means for a Rythu Bazaar</a:t>
            </a:r>
            <a:endParaRPr b="0" lang="en-US" sz="1400" spc="-1" strike="noStrike">
              <a:solidFill>
                <a:srgbClr val="000000"/>
              </a:solidFill>
              <a:latin typeface="Arial"/>
            </a:endParaRPr>
          </a:p>
        </p:txBody>
      </p:sp>
      <p:sp>
        <p:nvSpPr>
          <p:cNvPr id="243" name="Text 30"/>
          <p:cNvSpPr/>
          <p:nvPr/>
        </p:nvSpPr>
        <p:spPr>
          <a:xfrm>
            <a:off x="7827120" y="4133160"/>
            <a:ext cx="3364560" cy="1645560"/>
          </a:xfrm>
          <a:prstGeom prst="rect">
            <a:avLst/>
          </a:prstGeom>
          <a:noFill/>
          <a:ln w="0">
            <a:noFill/>
          </a:ln>
        </p:spPr>
        <p:style>
          <a:lnRef idx="0"/>
          <a:fillRef idx="0"/>
          <a:effectRef idx="0"/>
          <a:fontRef idx="minor"/>
        </p:style>
        <p:txBody>
          <a:bodyPr lIns="0" rIns="0" tIns="0" bIns="0" anchor="t">
            <a:noAutofit/>
          </a:bodyPr>
          <a:p>
            <a:pPr defTabSz="914400">
              <a:lnSpc>
                <a:spcPct val="120000"/>
              </a:lnSpc>
              <a:tabLst>
                <a:tab algn="l" pos="0"/>
              </a:tabLst>
            </a:pPr>
            <a:r>
              <a:rPr b="0" lang="en-US" sz="1200" spc="-1" strike="noStrike">
                <a:solidFill>
                  <a:srgbClr val="6e7f6e"/>
                </a:solidFill>
                <a:latin typeface="Calibri"/>
              </a:rPr>
              <a:t>The state or the committee can set the platform's cut to nil, and VegDrop takes nothing from the vendor.</a:t>
            </a:r>
            <a:endParaRPr b="0" lang="en-US" sz="1200" spc="-1" strike="noStrike">
              <a:solidFill>
                <a:srgbClr val="000000"/>
              </a:solidFill>
              <a:latin typeface="Arial"/>
            </a:endParaRPr>
          </a:p>
          <a:p>
            <a:pPr defTabSz="914400">
              <a:lnSpc>
                <a:spcPct val="120000"/>
              </a:lnSpc>
              <a:tabLst>
                <a:tab algn="l" pos="0"/>
              </a:tabLst>
            </a:pPr>
            <a:r>
              <a:rPr b="0" lang="en-US" sz="1200" spc="-1" strike="noStrike">
                <a:solidFill>
                  <a:srgbClr val="6e7f6e"/>
                </a:solidFill>
                <a:latin typeface="Calibri"/>
              </a:rPr>
              <a:t>The rider's and committee's shares are then the only deductions, visible to the vendor line by line.</a:t>
            </a:r>
            <a:endParaRPr b="0" lang="en-US" sz="1200" spc="-1" strike="noStrike">
              <a:solidFill>
                <a:srgbClr val="000000"/>
              </a:solidFill>
              <a:latin typeface="Arial"/>
            </a:endParaRPr>
          </a:p>
        </p:txBody>
      </p:sp>
      <p:sp>
        <p:nvSpPr>
          <p:cNvPr id="244" name="PlaceHolder 2"/>
          <p:cNvSpPr>
            <a:spLocks noGrp="1"/>
          </p:cNvSpPr>
          <p:nvPr>
            <p:ph type="sldNum" idx="13"/>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BD443683-3423-45AD-B1B7-FA67F742ADE7}"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d2601a"/>
                </a:solidFill>
                <a:latin typeface="Calibri"/>
              </a:rPr>
              <a:t>PROJECTION, NOT MEASUREMENT</a:t>
            </a:r>
            <a:endParaRPr b="0" lang="en-US" sz="1050" spc="-1" strike="noStrike">
              <a:solidFill>
                <a:srgbClr val="000000"/>
              </a:solidFill>
              <a:latin typeface="Arial"/>
            </a:endParaRPr>
          </a:p>
        </p:txBody>
      </p:sp>
      <p:sp>
        <p:nvSpPr>
          <p:cNvPr id="246" name="PlaceHolder 1"/>
          <p:cNvSpPr>
            <a:spLocks noGrp="1"/>
          </p:cNvSpPr>
          <p:nvPr>
            <p:ph type="title"/>
          </p:nvPr>
        </p:nvSpPr>
        <p:spPr>
          <a:xfrm>
            <a:off x="640080" y="420480"/>
            <a:ext cx="1088100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dk1"/>
                </a:solidFill>
                <a:latin typeface="Cambria"/>
              </a:rPr>
              <a:t>What one market at steady state would mean</a:t>
            </a:r>
            <a:endParaRPr b="0" lang="en-US" sz="3200" spc="-1" strike="noStrike">
              <a:solidFill>
                <a:schemeClr val="dk1"/>
              </a:solidFill>
              <a:latin typeface="Calibri"/>
            </a:endParaRPr>
          </a:p>
        </p:txBody>
      </p:sp>
      <p:sp>
        <p:nvSpPr>
          <p:cNvPr id="247" name="assumption-card"/>
          <p:cNvSpPr/>
          <p:nvPr/>
        </p:nvSpPr>
        <p:spPr>
          <a:xfrm>
            <a:off x="640080" y="1261800"/>
            <a:ext cx="10881000" cy="731160"/>
          </a:xfrm>
          <a:prstGeom prst="roundRect">
            <a:avLst>
              <a:gd name="adj" fmla="val 5000"/>
            </a:avLst>
          </a:prstGeom>
          <a:solidFill>
            <a:schemeClr val="bg1"/>
          </a:solidFill>
          <a:ln w="9525">
            <a:solidFill>
              <a:srgbClr val="d2601a"/>
            </a:solidFill>
            <a:round/>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8" name="Text 3"/>
          <p:cNvSpPr/>
          <p:nvPr/>
        </p:nvSpPr>
        <p:spPr>
          <a:xfrm>
            <a:off x="969120" y="1261800"/>
            <a:ext cx="1022256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d2601a"/>
                </a:solidFill>
                <a:latin typeface="Calibri"/>
              </a:rPr>
              <a:t>Assumption: </a:t>
            </a:r>
            <a:r>
              <a:rPr b="0" lang="en-US" sz="1300" spc="-1" strike="noStrike">
                <a:solidFill>
                  <a:srgbClr val="6e7f6e"/>
                </a:solidFill>
                <a:latin typeface="Calibri"/>
              </a:rPr>
              <a:t>one market of 60 stalls serving 300 households a day at an average basket of ₹250. Nothing here is measured yet — the arithmetic is shown so you can reject the assumption rather than the conclusion.</a:t>
            </a:r>
            <a:endParaRPr b="0" lang="en-US" sz="1300" spc="-1" strike="noStrike">
              <a:solidFill>
                <a:srgbClr val="000000"/>
              </a:solidFill>
              <a:latin typeface="Arial"/>
            </a:endParaRPr>
          </a:p>
        </p:txBody>
      </p:sp>
      <p:sp>
        <p:nvSpPr>
          <p:cNvPr id="249" name="impact-card-1"/>
          <p:cNvSpPr/>
          <p:nvPr/>
        </p:nvSpPr>
        <p:spPr>
          <a:xfrm>
            <a:off x="640080" y="2157840"/>
            <a:ext cx="2445840" cy="2651400"/>
          </a:xfrm>
          <a:prstGeom prst="roundRect">
            <a:avLst>
              <a:gd name="adj" fmla="val 1495"/>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0" name="Text 5"/>
          <p:cNvSpPr/>
          <p:nvPr/>
        </p:nvSpPr>
        <p:spPr>
          <a:xfrm>
            <a:off x="877680" y="2340720"/>
            <a:ext cx="2043360" cy="694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2c5f2d"/>
                </a:solidFill>
                <a:latin typeface="Calibri"/>
              </a:rPr>
              <a:t>₹</a:t>
            </a:r>
            <a:r>
              <a:rPr b="1" lang="en-US" sz="3000" spc="-1" strike="noStrike">
                <a:solidFill>
                  <a:srgbClr val="2c5f2d"/>
                </a:solidFill>
                <a:latin typeface="Calibri"/>
              </a:rPr>
              <a:t>75,000</a:t>
            </a:r>
            <a:endParaRPr b="0" lang="en-US" sz="3000" spc="-1" strike="noStrike">
              <a:solidFill>
                <a:srgbClr val="000000"/>
              </a:solidFill>
              <a:latin typeface="Arial"/>
            </a:endParaRPr>
          </a:p>
        </p:txBody>
      </p:sp>
      <p:sp>
        <p:nvSpPr>
          <p:cNvPr id="251" name="Text 6"/>
          <p:cNvSpPr/>
          <p:nvPr/>
        </p:nvSpPr>
        <p:spPr>
          <a:xfrm>
            <a:off x="877680" y="3054240"/>
            <a:ext cx="19886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chemeClr val="dk1"/>
                </a:solidFill>
                <a:latin typeface="Calibri"/>
              </a:rPr>
              <a:t>of produce moved</a:t>
            </a:r>
            <a:endParaRPr b="0" lang="en-US" sz="1250" spc="-1" strike="noStrike">
              <a:solidFill>
                <a:srgbClr val="000000"/>
              </a:solidFill>
              <a:latin typeface="Arial"/>
            </a:endParaRPr>
          </a:p>
          <a:p>
            <a:pPr defTabSz="914400">
              <a:lnSpc>
                <a:spcPct val="100000"/>
              </a:lnSpc>
              <a:tabLst>
                <a:tab algn="l" pos="0"/>
              </a:tabLst>
            </a:pPr>
            <a:r>
              <a:rPr b="1" lang="en-US" sz="1250" spc="-1" strike="noStrike">
                <a:solidFill>
                  <a:schemeClr val="dk1"/>
                </a:solidFill>
                <a:latin typeface="Calibri"/>
              </a:rPr>
              <a:t>per market per day</a:t>
            </a:r>
            <a:endParaRPr b="0" lang="en-US" sz="1250" spc="-1" strike="noStrike">
              <a:solidFill>
                <a:srgbClr val="000000"/>
              </a:solidFill>
              <a:latin typeface="Arial"/>
            </a:endParaRPr>
          </a:p>
        </p:txBody>
      </p:sp>
      <p:sp>
        <p:nvSpPr>
          <p:cNvPr id="252" name="Text 7"/>
          <p:cNvSpPr/>
          <p:nvPr/>
        </p:nvSpPr>
        <p:spPr>
          <a:xfrm>
            <a:off x="877680" y="3639240"/>
            <a:ext cx="1988640" cy="1005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6e7f6e"/>
                </a:solidFill>
                <a:latin typeface="Calibri"/>
              </a:rPr>
              <a:t>300 baskets × ₹250. Demand that no longer depends on who walks past the stall.</a:t>
            </a:r>
            <a:endParaRPr b="0" lang="en-US" sz="1150" spc="-1" strike="noStrike">
              <a:solidFill>
                <a:srgbClr val="000000"/>
              </a:solidFill>
              <a:latin typeface="Arial"/>
            </a:endParaRPr>
          </a:p>
        </p:txBody>
      </p:sp>
      <p:sp>
        <p:nvSpPr>
          <p:cNvPr id="253" name="impact-card-2"/>
          <p:cNvSpPr/>
          <p:nvPr/>
        </p:nvSpPr>
        <p:spPr>
          <a:xfrm>
            <a:off x="3452040" y="2157840"/>
            <a:ext cx="2445840" cy="2651400"/>
          </a:xfrm>
          <a:prstGeom prst="roundRect">
            <a:avLst>
              <a:gd name="adj" fmla="val 1495"/>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4" name="Text 9"/>
          <p:cNvSpPr/>
          <p:nvPr/>
        </p:nvSpPr>
        <p:spPr>
          <a:xfrm>
            <a:off x="3689640" y="2340720"/>
            <a:ext cx="2043360" cy="694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2c5f2d"/>
                </a:solidFill>
                <a:latin typeface="Calibri"/>
              </a:rPr>
              <a:t>₹</a:t>
            </a:r>
            <a:r>
              <a:rPr b="1" lang="en-US" sz="3000" spc="-1" strike="noStrike">
                <a:solidFill>
                  <a:srgbClr val="2c5f2d"/>
                </a:solidFill>
                <a:latin typeface="Calibri"/>
              </a:rPr>
              <a:t>22.5 L</a:t>
            </a:r>
            <a:endParaRPr b="0" lang="en-US" sz="3000" spc="-1" strike="noStrike">
              <a:solidFill>
                <a:srgbClr val="000000"/>
              </a:solidFill>
              <a:latin typeface="Arial"/>
            </a:endParaRPr>
          </a:p>
        </p:txBody>
      </p:sp>
      <p:sp>
        <p:nvSpPr>
          <p:cNvPr id="255" name="Text 10"/>
          <p:cNvSpPr/>
          <p:nvPr/>
        </p:nvSpPr>
        <p:spPr>
          <a:xfrm>
            <a:off x="3689640" y="3054240"/>
            <a:ext cx="19886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chemeClr val="dk1"/>
                </a:solidFill>
                <a:latin typeface="Calibri"/>
              </a:rPr>
              <a:t>per market</a:t>
            </a:r>
            <a:endParaRPr b="0" lang="en-US" sz="1250" spc="-1" strike="noStrike">
              <a:solidFill>
                <a:srgbClr val="000000"/>
              </a:solidFill>
              <a:latin typeface="Arial"/>
            </a:endParaRPr>
          </a:p>
          <a:p>
            <a:pPr defTabSz="914400">
              <a:lnSpc>
                <a:spcPct val="100000"/>
              </a:lnSpc>
              <a:tabLst>
                <a:tab algn="l" pos="0"/>
              </a:tabLst>
            </a:pPr>
            <a:r>
              <a:rPr b="1" lang="en-US" sz="1250" spc="-1" strike="noStrike">
                <a:solidFill>
                  <a:schemeClr val="dk1"/>
                </a:solidFill>
                <a:latin typeface="Calibri"/>
              </a:rPr>
              <a:t>per month</a:t>
            </a:r>
            <a:endParaRPr b="0" lang="en-US" sz="1250" spc="-1" strike="noStrike">
              <a:solidFill>
                <a:srgbClr val="000000"/>
              </a:solidFill>
              <a:latin typeface="Arial"/>
            </a:endParaRPr>
          </a:p>
        </p:txBody>
      </p:sp>
      <p:sp>
        <p:nvSpPr>
          <p:cNvPr id="256" name="Text 11"/>
          <p:cNvSpPr/>
          <p:nvPr/>
        </p:nvSpPr>
        <p:spPr>
          <a:xfrm>
            <a:off x="3689640" y="3639240"/>
            <a:ext cx="1988640" cy="1005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6e7f6e"/>
                </a:solidFill>
                <a:latin typeface="Calibri"/>
              </a:rPr>
              <a:t>The same arithmetic over 30 market days, flowing to vendors rather than an intermediary.</a:t>
            </a:r>
            <a:endParaRPr b="0" lang="en-US" sz="1150" spc="-1" strike="noStrike">
              <a:solidFill>
                <a:srgbClr val="000000"/>
              </a:solidFill>
              <a:latin typeface="Arial"/>
            </a:endParaRPr>
          </a:p>
        </p:txBody>
      </p:sp>
      <p:sp>
        <p:nvSpPr>
          <p:cNvPr id="257" name="impact-card-3"/>
          <p:cNvSpPr/>
          <p:nvPr/>
        </p:nvSpPr>
        <p:spPr>
          <a:xfrm>
            <a:off x="6263640" y="2157840"/>
            <a:ext cx="2445840" cy="2651400"/>
          </a:xfrm>
          <a:prstGeom prst="roundRect">
            <a:avLst>
              <a:gd name="adj" fmla="val 1495"/>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8" name="Text 13"/>
          <p:cNvSpPr/>
          <p:nvPr/>
        </p:nvSpPr>
        <p:spPr>
          <a:xfrm>
            <a:off x="6501240" y="2340720"/>
            <a:ext cx="2043360" cy="694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2c5f2d"/>
                </a:solidFill>
                <a:latin typeface="Calibri"/>
              </a:rPr>
              <a:t>~10</a:t>
            </a:r>
            <a:endParaRPr b="0" lang="en-US" sz="3000" spc="-1" strike="noStrike">
              <a:solidFill>
                <a:srgbClr val="000000"/>
              </a:solidFill>
              <a:latin typeface="Arial"/>
            </a:endParaRPr>
          </a:p>
        </p:txBody>
      </p:sp>
      <p:sp>
        <p:nvSpPr>
          <p:cNvPr id="259" name="Text 14"/>
          <p:cNvSpPr/>
          <p:nvPr/>
        </p:nvSpPr>
        <p:spPr>
          <a:xfrm>
            <a:off x="6501240" y="3054240"/>
            <a:ext cx="19886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chemeClr val="dk1"/>
                </a:solidFill>
                <a:latin typeface="Calibri"/>
              </a:rPr>
              <a:t>rider earning slots</a:t>
            </a:r>
            <a:endParaRPr b="0" lang="en-US" sz="1250" spc="-1" strike="noStrike">
              <a:solidFill>
                <a:srgbClr val="000000"/>
              </a:solidFill>
              <a:latin typeface="Arial"/>
            </a:endParaRPr>
          </a:p>
          <a:p>
            <a:pPr defTabSz="914400">
              <a:lnSpc>
                <a:spcPct val="100000"/>
              </a:lnSpc>
              <a:tabLst>
                <a:tab algn="l" pos="0"/>
              </a:tabLst>
            </a:pPr>
            <a:r>
              <a:rPr b="1" lang="en-US" sz="1250" spc="-1" strike="noStrike">
                <a:solidFill>
                  <a:schemeClr val="dk1"/>
                </a:solidFill>
                <a:latin typeface="Calibri"/>
              </a:rPr>
              <a:t>per market</a:t>
            </a:r>
            <a:endParaRPr b="0" lang="en-US" sz="1250" spc="-1" strike="noStrike">
              <a:solidFill>
                <a:srgbClr val="000000"/>
              </a:solidFill>
              <a:latin typeface="Arial"/>
            </a:endParaRPr>
          </a:p>
        </p:txBody>
      </p:sp>
      <p:sp>
        <p:nvSpPr>
          <p:cNvPr id="260" name="Text 15"/>
          <p:cNvSpPr/>
          <p:nvPr/>
        </p:nvSpPr>
        <p:spPr>
          <a:xfrm>
            <a:off x="6501240" y="3639240"/>
            <a:ext cx="1988640" cy="1005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6e7f6e"/>
                </a:solidFill>
                <a:latin typeface="Calibri"/>
              </a:rPr>
              <a:t>At roughly 30 deliveries per rider per day, paid per order from the same ledger.</a:t>
            </a:r>
            <a:endParaRPr b="0" lang="en-US" sz="1150" spc="-1" strike="noStrike">
              <a:solidFill>
                <a:srgbClr val="000000"/>
              </a:solidFill>
              <a:latin typeface="Arial"/>
            </a:endParaRPr>
          </a:p>
        </p:txBody>
      </p:sp>
      <p:sp>
        <p:nvSpPr>
          <p:cNvPr id="261" name="impact-card-4"/>
          <p:cNvSpPr/>
          <p:nvPr/>
        </p:nvSpPr>
        <p:spPr>
          <a:xfrm>
            <a:off x="9075600" y="2157840"/>
            <a:ext cx="2445840" cy="2651400"/>
          </a:xfrm>
          <a:prstGeom prst="roundRect">
            <a:avLst>
              <a:gd name="adj" fmla="val 1495"/>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2" name="Text 17"/>
          <p:cNvSpPr/>
          <p:nvPr/>
        </p:nvSpPr>
        <p:spPr>
          <a:xfrm>
            <a:off x="9313200" y="2340720"/>
            <a:ext cx="2043360" cy="694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2c5f2d"/>
                </a:solidFill>
                <a:latin typeface="Calibri"/>
              </a:rPr>
              <a:t>~1,000</a:t>
            </a:r>
            <a:endParaRPr b="0" lang="en-US" sz="3000" spc="-1" strike="noStrike">
              <a:solidFill>
                <a:srgbClr val="000000"/>
              </a:solidFill>
              <a:latin typeface="Arial"/>
            </a:endParaRPr>
          </a:p>
        </p:txBody>
      </p:sp>
      <p:sp>
        <p:nvSpPr>
          <p:cNvPr id="263" name="Text 18"/>
          <p:cNvSpPr/>
          <p:nvPr/>
        </p:nvSpPr>
        <p:spPr>
          <a:xfrm>
            <a:off x="9313200" y="3054240"/>
            <a:ext cx="19886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chemeClr val="dk1"/>
                </a:solidFill>
                <a:latin typeface="Calibri"/>
              </a:rPr>
              <a:t>rider slots if</a:t>
            </a:r>
            <a:endParaRPr b="0" lang="en-US" sz="1250" spc="-1" strike="noStrike">
              <a:solidFill>
                <a:srgbClr val="000000"/>
              </a:solidFill>
              <a:latin typeface="Arial"/>
            </a:endParaRPr>
          </a:p>
          <a:p>
            <a:pPr defTabSz="914400">
              <a:lnSpc>
                <a:spcPct val="100000"/>
              </a:lnSpc>
              <a:tabLst>
                <a:tab algn="l" pos="0"/>
              </a:tabLst>
            </a:pPr>
            <a:r>
              <a:rPr b="1" lang="en-US" sz="1250" spc="-1" strike="noStrike">
                <a:solidFill>
                  <a:schemeClr val="dk1"/>
                </a:solidFill>
                <a:latin typeface="Calibri"/>
              </a:rPr>
              <a:t>100 markets register</a:t>
            </a:r>
            <a:endParaRPr b="0" lang="en-US" sz="1250" spc="-1" strike="noStrike">
              <a:solidFill>
                <a:srgbClr val="000000"/>
              </a:solidFill>
              <a:latin typeface="Arial"/>
            </a:endParaRPr>
          </a:p>
        </p:txBody>
      </p:sp>
      <p:sp>
        <p:nvSpPr>
          <p:cNvPr id="264" name="Text 19"/>
          <p:cNvSpPr/>
          <p:nvPr/>
        </p:nvSpPr>
        <p:spPr>
          <a:xfrm>
            <a:off x="9313200" y="3639240"/>
            <a:ext cx="1988640" cy="1005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6e7f6e"/>
                </a:solidFill>
                <a:latin typeface="Calibri"/>
              </a:rPr>
              <a:t>Onboarding costs one perimeter walk per market, so this scales without state headcount.</a:t>
            </a:r>
            <a:endParaRPr b="0" lang="en-US" sz="1150" spc="-1" strike="noStrike">
              <a:solidFill>
                <a:srgbClr val="000000"/>
              </a:solidFill>
              <a:latin typeface="Arial"/>
            </a:endParaRPr>
          </a:p>
        </p:txBody>
      </p:sp>
      <p:sp>
        <p:nvSpPr>
          <p:cNvPr id="265" name="jobs-band"/>
          <p:cNvSpPr/>
          <p:nvPr/>
        </p:nvSpPr>
        <p:spPr>
          <a:xfrm>
            <a:off x="640080" y="4974480"/>
            <a:ext cx="10881000" cy="1151640"/>
          </a:xfrm>
          <a:prstGeom prst="roundRect">
            <a:avLst>
              <a:gd name="adj" fmla="val 3175"/>
            </a:avLst>
          </a:prstGeom>
          <a:solidFill>
            <a:schemeClr val="tx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6" name="Text 21"/>
          <p:cNvSpPr/>
          <p:nvPr/>
        </p:nvSpPr>
        <p:spPr>
          <a:xfrm>
            <a:off x="1024200" y="4974480"/>
            <a:ext cx="10112760" cy="1151640"/>
          </a:xfrm>
          <a:prstGeom prst="rect">
            <a:avLst/>
          </a:prstGeom>
          <a:noFill/>
          <a:ln w="0">
            <a:noFill/>
          </a:ln>
        </p:spPr>
        <p:style>
          <a:lnRef idx="0"/>
          <a:fillRef idx="0"/>
          <a:effectRef idx="0"/>
          <a:fontRef idx="minor"/>
        </p:style>
        <p:txBody>
          <a:bodyPr lIns="0" rIns="0" tIns="0" bIns="0" anchor="ctr">
            <a:noAutofit/>
          </a:bodyPr>
          <a:p>
            <a:pPr defTabSz="914400">
              <a:lnSpc>
                <a:spcPct val="118000"/>
              </a:lnSpc>
              <a:tabLst>
                <a:tab algn="l" pos="0"/>
              </a:tabLst>
            </a:pPr>
            <a:r>
              <a:rPr b="1" lang="en-US" sz="1300" spc="-1" strike="noStrike">
                <a:solidFill>
                  <a:srgbClr val="ffffff"/>
                </a:solidFill>
                <a:latin typeface="Calibri"/>
              </a:rPr>
              <a:t>The job this creates is a rider's, and it is created in the vendor's own town.</a:t>
            </a:r>
            <a:endParaRPr b="0" lang="en-US" sz="1300" spc="-1" strike="noStrike">
              <a:solidFill>
                <a:srgbClr val="000000"/>
              </a:solidFill>
              <a:latin typeface="Arial"/>
            </a:endParaRPr>
          </a:p>
          <a:p>
            <a:pPr defTabSz="914400">
              <a:lnSpc>
                <a:spcPct val="118000"/>
              </a:lnSpc>
              <a:tabLst>
                <a:tab algn="l" pos="0"/>
              </a:tabLst>
            </a:pPr>
            <a:r>
              <a:rPr b="0" lang="en-US" sz="1300" spc="-1" strike="noStrike">
                <a:solidFill>
                  <a:srgbClr val="97bc62"/>
                </a:solidFill>
                <a:latin typeface="Calibri"/>
              </a:rPr>
              <a:t>Not a software job in a metro — a delivery shift that pays per order, in the district the market is in, with the earnings on a ledger the rider can read. I am not asking you to take these numbers on trust. The last slide is what I will come back with, measured.</a:t>
            </a:r>
            <a:endParaRPr b="0" lang="en-US" sz="1300" spc="-1" strike="noStrike">
              <a:solidFill>
                <a:srgbClr val="000000"/>
              </a:solidFill>
              <a:latin typeface="Arial"/>
            </a:endParaRPr>
          </a:p>
        </p:txBody>
      </p:sp>
      <p:sp>
        <p:nvSpPr>
          <p:cNvPr id="267" name="PlaceHolder 2"/>
          <p:cNvSpPr>
            <a:spLocks noGrp="1"/>
          </p:cNvSpPr>
          <p:nvPr>
            <p:ph type="sldNum" idx="14"/>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572B8399-BCF4-46CA-8AC3-AC5D22771CE8}"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d2601a"/>
                </a:solidFill>
                <a:latin typeface="Calibri"/>
              </a:rPr>
              <a:t>HONEST STATUS</a:t>
            </a:r>
            <a:endParaRPr b="0" lang="en-US" sz="1050" spc="-1" strike="noStrike">
              <a:solidFill>
                <a:srgbClr val="000000"/>
              </a:solidFill>
              <a:latin typeface="Arial"/>
            </a:endParaRPr>
          </a:p>
        </p:txBody>
      </p:sp>
      <p:sp>
        <p:nvSpPr>
          <p:cNvPr id="269" name="PlaceHolder 1"/>
          <p:cNvSpPr>
            <a:spLocks noGrp="1"/>
          </p:cNvSpPr>
          <p:nvPr>
            <p:ph type="title"/>
          </p:nvPr>
        </p:nvSpPr>
        <p:spPr>
          <a:xfrm>
            <a:off x="640080" y="420480"/>
            <a:ext cx="1088100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dk1"/>
                </a:solidFill>
                <a:latin typeface="Cambria"/>
              </a:rPr>
              <a:t>Where the project actually stands today</a:t>
            </a:r>
            <a:endParaRPr b="0" lang="en-US" sz="3200" spc="-1" strike="noStrike">
              <a:solidFill>
                <a:schemeClr val="dk1"/>
              </a:solidFill>
              <a:latin typeface="Calibri"/>
            </a:endParaRPr>
          </a:p>
        </p:txBody>
      </p:sp>
      <p:sp>
        <p:nvSpPr>
          <p:cNvPr id="270" name="built-card"/>
          <p:cNvSpPr/>
          <p:nvPr/>
        </p:nvSpPr>
        <p:spPr>
          <a:xfrm>
            <a:off x="640080" y="1316880"/>
            <a:ext cx="5211720" cy="4132800"/>
          </a:xfrm>
          <a:prstGeom prst="roundRect">
            <a:avLst>
              <a:gd name="adj" fmla="val 885"/>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1" name="built-badge"/>
          <p:cNvSpPr/>
          <p:nvPr/>
        </p:nvSpPr>
        <p:spPr>
          <a:xfrm>
            <a:off x="951120" y="1554480"/>
            <a:ext cx="456840" cy="456840"/>
          </a:xfrm>
          <a:prstGeom prst="ellipse">
            <a:avLst/>
          </a:prstGeom>
          <a:solidFill>
            <a:srgbClr val="2c5f2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2" name="Text 4"/>
          <p:cNvSpPr/>
          <p:nvPr/>
        </p:nvSpPr>
        <p:spPr>
          <a:xfrm>
            <a:off x="951120" y="155448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chemeClr val="lt1"/>
                </a:solidFill>
                <a:latin typeface="Calibri"/>
              </a:rPr>
              <a:t>✓</a:t>
            </a:r>
            <a:endParaRPr b="0" lang="en-US" sz="1700" spc="-1" strike="noStrike">
              <a:solidFill>
                <a:srgbClr val="000000"/>
              </a:solidFill>
              <a:latin typeface="Arial"/>
            </a:endParaRPr>
          </a:p>
        </p:txBody>
      </p:sp>
      <p:sp>
        <p:nvSpPr>
          <p:cNvPr id="273" name="Text 5"/>
          <p:cNvSpPr/>
          <p:nvPr/>
        </p:nvSpPr>
        <p:spPr>
          <a:xfrm>
            <a:off x="1517760" y="1554480"/>
            <a:ext cx="40230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pc="-1" strike="noStrike">
                <a:solidFill>
                  <a:srgbClr val="2c5f2d"/>
                </a:solidFill>
                <a:latin typeface="Calibri"/>
              </a:rPr>
              <a:t>Built and working</a:t>
            </a:r>
            <a:endParaRPr b="0" lang="en-US" sz="2000" spc="-1" strike="noStrike">
              <a:solidFill>
                <a:srgbClr val="000000"/>
              </a:solidFill>
              <a:latin typeface="Arial"/>
            </a:endParaRPr>
          </a:p>
        </p:txBody>
      </p:sp>
      <p:sp>
        <p:nvSpPr>
          <p:cNvPr id="274" name="Text 6"/>
          <p:cNvSpPr/>
          <p:nvPr/>
        </p:nvSpPr>
        <p:spPr>
          <a:xfrm>
            <a:off x="987480" y="2103120"/>
            <a:ext cx="4516920" cy="31086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All six role apps end to end — order, split, pack, collect, deliver, settle</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About 93,600 lines of code, 27 data models, 20 API modules</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67 automated server test suites, run on every change</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Telugu, Hindi and English through the customer interface</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Razorpay payments and RazorpayX vendor payouts integrated</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GPS market boundaries, penny-drop verification, handover codes</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A cooking assistant with 83 hand-checked recipes that fills a basket</a:t>
            </a:r>
            <a:endParaRPr b="0" lang="en-US" sz="1250" spc="-1" strike="noStrike">
              <a:solidFill>
                <a:srgbClr val="000000"/>
              </a:solidFill>
              <a:latin typeface="Arial"/>
            </a:endParaRPr>
          </a:p>
        </p:txBody>
      </p:sp>
      <p:sp>
        <p:nvSpPr>
          <p:cNvPr id="275" name="notyet-card"/>
          <p:cNvSpPr/>
          <p:nvPr/>
        </p:nvSpPr>
        <p:spPr>
          <a:xfrm>
            <a:off x="6309360" y="1316880"/>
            <a:ext cx="5211720" cy="4132800"/>
          </a:xfrm>
          <a:prstGeom prst="roundRect">
            <a:avLst>
              <a:gd name="adj" fmla="val 885"/>
            </a:avLst>
          </a:prstGeom>
          <a:solidFill>
            <a:schemeClr val="bg1"/>
          </a:solidFill>
          <a:ln w="9525">
            <a:solidFill>
              <a:srgbClr val="d2601a"/>
            </a:solidFill>
            <a:round/>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6" name="notyet-badge"/>
          <p:cNvSpPr/>
          <p:nvPr/>
        </p:nvSpPr>
        <p:spPr>
          <a:xfrm>
            <a:off x="6620400" y="1554480"/>
            <a:ext cx="456840" cy="456840"/>
          </a:xfrm>
          <a:prstGeom prst="ellipse">
            <a:avLst/>
          </a:prstGeom>
          <a:solidFill>
            <a:srgbClr val="d2601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7" name="Text 9"/>
          <p:cNvSpPr/>
          <p:nvPr/>
        </p:nvSpPr>
        <p:spPr>
          <a:xfrm>
            <a:off x="6620400" y="155448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700" spc="-1" strike="noStrike">
                <a:solidFill>
                  <a:schemeClr val="lt1"/>
                </a:solidFill>
                <a:latin typeface="Calibri"/>
              </a:rPr>
              <a:t>!</a:t>
            </a:r>
            <a:endParaRPr b="0" lang="en-US" sz="1700" spc="-1" strike="noStrike">
              <a:solidFill>
                <a:srgbClr val="000000"/>
              </a:solidFill>
              <a:latin typeface="Arial"/>
            </a:endParaRPr>
          </a:p>
        </p:txBody>
      </p:sp>
      <p:sp>
        <p:nvSpPr>
          <p:cNvPr id="278" name="Text 10"/>
          <p:cNvSpPr/>
          <p:nvPr/>
        </p:nvSpPr>
        <p:spPr>
          <a:xfrm>
            <a:off x="7187040" y="1554480"/>
            <a:ext cx="40230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pc="-1" strike="noStrike">
                <a:solidFill>
                  <a:srgbClr val="d2601a"/>
                </a:solidFill>
                <a:latin typeface="Calibri"/>
              </a:rPr>
              <a:t>Not yet true</a:t>
            </a:r>
            <a:endParaRPr b="0" lang="en-US" sz="2000" spc="-1" strike="noStrike">
              <a:solidFill>
                <a:srgbClr val="000000"/>
              </a:solidFill>
              <a:latin typeface="Arial"/>
            </a:endParaRPr>
          </a:p>
        </p:txBody>
      </p:sp>
      <p:sp>
        <p:nvSpPr>
          <p:cNvPr id="279" name="Text 11"/>
          <p:cNvSpPr/>
          <p:nvPr/>
        </p:nvSpPr>
        <p:spPr>
          <a:xfrm>
            <a:off x="6656760" y="2103120"/>
            <a:ext cx="4516920" cy="31086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700"/>
              </a:spcAft>
              <a:buClr>
                <a:srgbClr val="16301a"/>
              </a:buClr>
              <a:buFont typeface="Symbol" charset="2"/>
              <a:buChar char=""/>
            </a:pPr>
            <a:r>
              <a:rPr b="1" lang="en-US" sz="1250" spc="-1" strike="noStrike">
                <a:solidFill>
                  <a:schemeClr val="dk1"/>
                </a:solidFill>
                <a:latin typeface="Calibri"/>
              </a:rPr>
              <a:t>Zero real orders. Not one. No household has used this.</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Not in production — it runs as a working demonstration</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No market has registered and no vendor has been verified</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Needs a WhatsApp authentication template approved for real sign-ins</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No external security or financial audit has been done</a:t>
            </a:r>
            <a:endParaRPr b="0" lang="en-US" sz="1250" spc="-1" strike="noStrike">
              <a:solidFill>
                <a:srgbClr val="000000"/>
              </a:solidFill>
              <a:latin typeface="Arial"/>
            </a:endParaRPr>
          </a:p>
          <a:p>
            <a:pPr marL="343080" indent="-343080" defTabSz="914400">
              <a:lnSpc>
                <a:spcPct val="100000"/>
              </a:lnSpc>
              <a:spcAft>
                <a:spcPts val="700"/>
              </a:spcAft>
              <a:buClr>
                <a:srgbClr val="16301a"/>
              </a:buClr>
              <a:buFont typeface="Symbol" charset="2"/>
              <a:buChar char=""/>
            </a:pPr>
            <a:r>
              <a:rPr b="0" lang="en-US" sz="1250" spc="-1" strike="noStrike">
                <a:solidFill>
                  <a:schemeClr val="dk1"/>
                </a:solidFill>
                <a:latin typeface="Calibri"/>
              </a:rPr>
              <a:t>Rider supply, basket size and delivery time are modelled, not observed</a:t>
            </a:r>
            <a:endParaRPr b="0" lang="en-US" sz="1250" spc="-1" strike="noStrike">
              <a:solidFill>
                <a:srgbClr val="000000"/>
              </a:solidFill>
              <a:latin typeface="Arial"/>
            </a:endParaRPr>
          </a:p>
        </p:txBody>
      </p:sp>
      <p:sp>
        <p:nvSpPr>
          <p:cNvPr id="280" name="honesty-band"/>
          <p:cNvSpPr/>
          <p:nvPr/>
        </p:nvSpPr>
        <p:spPr>
          <a:xfrm>
            <a:off x="640080" y="5577840"/>
            <a:ext cx="10881000" cy="621360"/>
          </a:xfrm>
          <a:prstGeom prst="roundRect">
            <a:avLst>
              <a:gd name="adj" fmla="val 5882"/>
            </a:avLst>
          </a:prstGeom>
          <a:solidFill>
            <a:schemeClr val="tx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1" name="Text 13"/>
          <p:cNvSpPr/>
          <p:nvPr/>
        </p:nvSpPr>
        <p:spPr>
          <a:xfrm>
            <a:off x="1024200" y="5577840"/>
            <a:ext cx="10112760" cy="621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rPr>
              <a:t>I would rather you hear the right-hand column from me now than have your office find it later. That column is exactly what I am asking for help to change.</a:t>
            </a:r>
            <a:endParaRPr b="0" lang="en-US" sz="1300" spc="-1" strike="noStrike">
              <a:solidFill>
                <a:srgbClr val="000000"/>
              </a:solidFill>
              <a:latin typeface="Arial"/>
            </a:endParaRPr>
          </a:p>
        </p:txBody>
      </p:sp>
      <p:sp>
        <p:nvSpPr>
          <p:cNvPr id="282" name="PlaceHolder 2"/>
          <p:cNvSpPr>
            <a:spLocks noGrp="1"/>
          </p:cNvSpPr>
          <p:nvPr>
            <p:ph type="sldNum" idx="15"/>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7E6DB77A-F6F8-4223-B898-BAF37BF6DE22}"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97bc62"/>
                </a:solidFill>
                <a:latin typeface="Calibri"/>
              </a:rPr>
              <a:t>THE ASK</a:t>
            </a:r>
            <a:endParaRPr b="0" lang="en-US" sz="1050" spc="-1" strike="noStrike">
              <a:solidFill>
                <a:srgbClr val="ffffff"/>
              </a:solidFill>
              <a:latin typeface="Arial"/>
            </a:endParaRPr>
          </a:p>
        </p:txBody>
      </p:sp>
      <p:sp>
        <p:nvSpPr>
          <p:cNvPr id="284" name="PlaceHolder 1"/>
          <p:cNvSpPr>
            <a:spLocks noGrp="1"/>
          </p:cNvSpPr>
          <p:nvPr>
            <p:ph type="title"/>
          </p:nvPr>
        </p:nvSpPr>
        <p:spPr>
          <a:xfrm>
            <a:off x="640080" y="548640"/>
            <a:ext cx="10881000" cy="77688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lt1"/>
                </a:solidFill>
                <a:latin typeface="Cambria"/>
              </a:rPr>
              <a:t>Three things, and only the first one is urgent</a:t>
            </a:r>
            <a:endParaRPr b="0" lang="en-US" sz="3200" spc="-1" strike="noStrike">
              <a:solidFill>
                <a:schemeClr val="dk1"/>
              </a:solidFill>
              <a:latin typeface="Calibri"/>
            </a:endParaRPr>
          </a:p>
        </p:txBody>
      </p:sp>
      <p:sp>
        <p:nvSpPr>
          <p:cNvPr id="285" name="ask-card-1"/>
          <p:cNvSpPr/>
          <p:nvPr/>
        </p:nvSpPr>
        <p:spPr>
          <a:xfrm>
            <a:off x="640080" y="1536120"/>
            <a:ext cx="3358440" cy="3456000"/>
          </a:xfrm>
          <a:prstGeom prst="roundRect">
            <a:avLst>
              <a:gd name="adj" fmla="val 1089"/>
            </a:avLst>
          </a:prstGeom>
          <a:solidFill>
            <a:srgbClr val="20481f"/>
          </a:solidFill>
          <a:ln w="12700">
            <a:solidFill>
              <a:srgbClr val="d2601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6" name="ask-badge-1"/>
          <p:cNvSpPr/>
          <p:nvPr/>
        </p:nvSpPr>
        <p:spPr>
          <a:xfrm>
            <a:off x="951120" y="1792080"/>
            <a:ext cx="548280" cy="548280"/>
          </a:xfrm>
          <a:prstGeom prst="ellipse">
            <a:avLst/>
          </a:prstGeom>
          <a:solidFill>
            <a:srgbClr val="d2601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7" name="Text 4"/>
          <p:cNvSpPr/>
          <p:nvPr/>
        </p:nvSpPr>
        <p:spPr>
          <a:xfrm>
            <a:off x="951120" y="17920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6301a"/>
                </a:solidFill>
                <a:latin typeface="Calibri"/>
              </a:rPr>
              <a:t>1</a:t>
            </a:r>
            <a:endParaRPr b="0" lang="en-US" sz="1800" spc="-1" strike="noStrike">
              <a:solidFill>
                <a:srgbClr val="ffffff"/>
              </a:solidFill>
              <a:latin typeface="Arial"/>
            </a:endParaRPr>
          </a:p>
        </p:txBody>
      </p:sp>
      <p:sp>
        <p:nvSpPr>
          <p:cNvPr id="288" name="Text 5"/>
          <p:cNvSpPr/>
          <p:nvPr/>
        </p:nvSpPr>
        <p:spPr>
          <a:xfrm>
            <a:off x="951120" y="2468880"/>
            <a:ext cx="2736720" cy="712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ffffff"/>
                </a:solidFill>
                <a:latin typeface="Calibri"/>
              </a:rPr>
              <a:t>One anchor Rythu Bazaar, for 90 days</a:t>
            </a:r>
            <a:endParaRPr b="0" lang="en-US" sz="1700" spc="-1" strike="noStrike">
              <a:solidFill>
                <a:srgbClr val="ffffff"/>
              </a:solidFill>
              <a:latin typeface="Arial"/>
            </a:endParaRPr>
          </a:p>
        </p:txBody>
      </p:sp>
      <p:sp>
        <p:nvSpPr>
          <p:cNvPr id="289" name="Text 6"/>
          <p:cNvSpPr/>
          <p:nvPr/>
        </p:nvSpPr>
        <p:spPr>
          <a:xfrm>
            <a:off x="951120" y="3218760"/>
            <a:ext cx="2736720" cy="1096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97bc62"/>
                </a:solidFill>
                <a:latin typeface="Calibri"/>
              </a:rPr>
              <a:t>An introduction to one market committee willing to let 20–30 stalls register and trade on the platform for a season.</a:t>
            </a:r>
            <a:endParaRPr b="0" lang="en-US" sz="1300" spc="-1" strike="noStrike">
              <a:solidFill>
                <a:srgbClr val="ffffff"/>
              </a:solidFill>
              <a:latin typeface="Arial"/>
            </a:endParaRPr>
          </a:p>
        </p:txBody>
      </p:sp>
      <p:sp>
        <p:nvSpPr>
          <p:cNvPr id="290" name="Text 7"/>
          <p:cNvSpPr/>
          <p:nvPr/>
        </p:nvSpPr>
        <p:spPr>
          <a:xfrm>
            <a:off x="951120" y="4370760"/>
            <a:ext cx="2736720" cy="511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i="1" lang="en-US" sz="1150" spc="-1" strike="noStrike">
                <a:solidFill>
                  <a:srgbClr val="d2601a"/>
                </a:solidFill>
                <a:latin typeface="Calibri"/>
              </a:rPr>
              <a:t>Cost to the state: one introduction. No money, no staff, no infrastructure.</a:t>
            </a:r>
            <a:endParaRPr b="0" lang="en-US" sz="1150" spc="-1" strike="noStrike">
              <a:solidFill>
                <a:srgbClr val="ffffff"/>
              </a:solidFill>
              <a:latin typeface="Arial"/>
            </a:endParaRPr>
          </a:p>
        </p:txBody>
      </p:sp>
      <p:sp>
        <p:nvSpPr>
          <p:cNvPr id="291" name="ask-card-2"/>
          <p:cNvSpPr/>
          <p:nvPr/>
        </p:nvSpPr>
        <p:spPr>
          <a:xfrm>
            <a:off x="4401360" y="1536120"/>
            <a:ext cx="3358440" cy="3456000"/>
          </a:xfrm>
          <a:prstGeom prst="roundRect">
            <a:avLst>
              <a:gd name="adj" fmla="val 1089"/>
            </a:avLst>
          </a:prstGeom>
          <a:solidFill>
            <a:srgbClr val="20481f"/>
          </a:solidFill>
          <a:ln w="12700">
            <a:solidFill>
              <a:srgbClr val="97bc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2" name="ask-badge-2"/>
          <p:cNvSpPr/>
          <p:nvPr/>
        </p:nvSpPr>
        <p:spPr>
          <a:xfrm>
            <a:off x="4712040" y="1792080"/>
            <a:ext cx="548280" cy="548280"/>
          </a:xfrm>
          <a:prstGeom prst="ellipse">
            <a:avLst/>
          </a:prstGeom>
          <a:solidFill>
            <a:srgbClr val="97bc6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3" name="Text 10"/>
          <p:cNvSpPr/>
          <p:nvPr/>
        </p:nvSpPr>
        <p:spPr>
          <a:xfrm>
            <a:off x="4712040" y="17920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6301a"/>
                </a:solidFill>
                <a:latin typeface="Calibri"/>
              </a:rPr>
              <a:t>2</a:t>
            </a:r>
            <a:endParaRPr b="0" lang="en-US" sz="1800" spc="-1" strike="noStrike">
              <a:solidFill>
                <a:srgbClr val="ffffff"/>
              </a:solidFill>
              <a:latin typeface="Arial"/>
            </a:endParaRPr>
          </a:p>
        </p:txBody>
      </p:sp>
      <p:sp>
        <p:nvSpPr>
          <p:cNvPr id="294" name="Text 11"/>
          <p:cNvSpPr/>
          <p:nvPr/>
        </p:nvSpPr>
        <p:spPr>
          <a:xfrm>
            <a:off x="4712040" y="2468880"/>
            <a:ext cx="2736720" cy="712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ffffff"/>
                </a:solidFill>
                <a:latin typeface="Calibri"/>
              </a:rPr>
              <a:t>Open the gate once it is proven</a:t>
            </a:r>
            <a:endParaRPr b="0" lang="en-US" sz="1700" spc="-1" strike="noStrike">
              <a:solidFill>
                <a:srgbClr val="ffffff"/>
              </a:solidFill>
              <a:latin typeface="Arial"/>
            </a:endParaRPr>
          </a:p>
        </p:txBody>
      </p:sp>
      <p:sp>
        <p:nvSpPr>
          <p:cNvPr id="295" name="Text 12"/>
          <p:cNvSpPr/>
          <p:nvPr/>
        </p:nvSpPr>
        <p:spPr>
          <a:xfrm>
            <a:off x="4712040" y="3218760"/>
            <a:ext cx="2736720" cy="1096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97bc62"/>
                </a:solidFill>
                <a:latin typeface="Calibri"/>
              </a:rPr>
              <a:t>If the 90 days hit the targets on the next slide, allow any Rythu Bazaar in Andhra Pradesh to register itself.</a:t>
            </a:r>
            <a:endParaRPr b="0" lang="en-US" sz="1300" spc="-1" strike="noStrike">
              <a:solidFill>
                <a:srgbClr val="ffffff"/>
              </a:solidFill>
              <a:latin typeface="Arial"/>
            </a:endParaRPr>
          </a:p>
        </p:txBody>
      </p:sp>
      <p:sp>
        <p:nvSpPr>
          <p:cNvPr id="296" name="Text 13"/>
          <p:cNvSpPr/>
          <p:nvPr/>
        </p:nvSpPr>
        <p:spPr>
          <a:xfrm>
            <a:off x="4712040" y="4370760"/>
            <a:ext cx="2736720" cy="511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i="1" lang="en-US" sz="1150" spc="-1" strike="noStrike">
                <a:solidFill>
                  <a:srgbClr val="97bc62"/>
                </a:solidFill>
                <a:latin typeface="Calibri"/>
              </a:rPr>
              <a:t>The software already works this way. It needs permission, not engineering.</a:t>
            </a:r>
            <a:endParaRPr b="0" lang="en-US" sz="1150" spc="-1" strike="noStrike">
              <a:solidFill>
                <a:srgbClr val="ffffff"/>
              </a:solidFill>
              <a:latin typeface="Arial"/>
            </a:endParaRPr>
          </a:p>
        </p:txBody>
      </p:sp>
      <p:sp>
        <p:nvSpPr>
          <p:cNvPr id="297" name="ask-card-3"/>
          <p:cNvSpPr/>
          <p:nvPr/>
        </p:nvSpPr>
        <p:spPr>
          <a:xfrm>
            <a:off x="8162640" y="1536120"/>
            <a:ext cx="3358440" cy="3456000"/>
          </a:xfrm>
          <a:prstGeom prst="roundRect">
            <a:avLst>
              <a:gd name="adj" fmla="val 1089"/>
            </a:avLst>
          </a:prstGeom>
          <a:solidFill>
            <a:srgbClr val="20481f"/>
          </a:solidFill>
          <a:ln w="12700">
            <a:solidFill>
              <a:srgbClr val="b88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8" name="ask-badge-3"/>
          <p:cNvSpPr/>
          <p:nvPr/>
        </p:nvSpPr>
        <p:spPr>
          <a:xfrm>
            <a:off x="8473320" y="1792080"/>
            <a:ext cx="548280" cy="548280"/>
          </a:xfrm>
          <a:prstGeom prst="ellipse">
            <a:avLst/>
          </a:prstGeom>
          <a:solidFill>
            <a:srgbClr val="b8860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9" name="Text 16"/>
          <p:cNvSpPr/>
          <p:nvPr/>
        </p:nvSpPr>
        <p:spPr>
          <a:xfrm>
            <a:off x="8473320" y="17920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16301a"/>
                </a:solidFill>
                <a:latin typeface="Calibri"/>
              </a:rPr>
              <a:t>3</a:t>
            </a:r>
            <a:endParaRPr b="0" lang="en-US" sz="1800" spc="-1" strike="noStrike">
              <a:solidFill>
                <a:srgbClr val="ffffff"/>
              </a:solidFill>
              <a:latin typeface="Arial"/>
            </a:endParaRPr>
          </a:p>
        </p:txBody>
      </p:sp>
      <p:sp>
        <p:nvSpPr>
          <p:cNvPr id="300" name="Text 17"/>
          <p:cNvSpPr/>
          <p:nvPr/>
        </p:nvSpPr>
        <p:spPr>
          <a:xfrm>
            <a:off x="8473320" y="2468880"/>
            <a:ext cx="2736720" cy="712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ffffff"/>
                </a:solidFill>
                <a:latin typeface="Calibri"/>
              </a:rPr>
              <a:t>A place at the Ratan Tata Innovation Hub</a:t>
            </a:r>
            <a:endParaRPr b="0" lang="en-US" sz="1700" spc="-1" strike="noStrike">
              <a:solidFill>
                <a:srgbClr val="ffffff"/>
              </a:solidFill>
              <a:latin typeface="Arial"/>
            </a:endParaRPr>
          </a:p>
        </p:txBody>
      </p:sp>
      <p:sp>
        <p:nvSpPr>
          <p:cNvPr id="301" name="Text 18"/>
          <p:cNvSpPr/>
          <p:nvPr/>
        </p:nvSpPr>
        <p:spPr>
          <a:xfrm>
            <a:off x="8473320" y="3218760"/>
            <a:ext cx="2736720" cy="1096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97bc62"/>
                </a:solidFill>
                <a:latin typeface="Calibri"/>
              </a:rPr>
              <a:t>Incubation and acceleration, which already covers cross-sector ventures including food.</a:t>
            </a:r>
            <a:endParaRPr b="0" lang="en-US" sz="1300" spc="-1" strike="noStrike">
              <a:solidFill>
                <a:srgbClr val="ffffff"/>
              </a:solidFill>
              <a:latin typeface="Arial"/>
            </a:endParaRPr>
          </a:p>
        </p:txBody>
      </p:sp>
      <p:sp>
        <p:nvSpPr>
          <p:cNvPr id="302" name="Text 19"/>
          <p:cNvSpPr/>
          <p:nvPr/>
        </p:nvSpPr>
        <p:spPr>
          <a:xfrm>
            <a:off x="8473320" y="4370760"/>
            <a:ext cx="2736720" cy="511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i="1" lang="en-US" sz="1150" spc="-1" strike="noStrike">
                <a:solidFill>
                  <a:srgbClr val="b8860b"/>
                </a:solidFill>
                <a:latin typeface="Calibri"/>
              </a:rPr>
              <a:t>Useful, not blocking. Asks one and two matter more.</a:t>
            </a:r>
            <a:endParaRPr b="0" lang="en-US" sz="1150" spc="-1" strike="noStrike">
              <a:solidFill>
                <a:srgbClr val="ffffff"/>
              </a:solidFill>
              <a:latin typeface="Arial"/>
            </a:endParaRPr>
          </a:p>
        </p:txBody>
      </p:sp>
      <p:sp>
        <p:nvSpPr>
          <p:cNvPr id="303" name="ask-band"/>
          <p:cNvSpPr/>
          <p:nvPr/>
        </p:nvSpPr>
        <p:spPr>
          <a:xfrm>
            <a:off x="640080" y="5193720"/>
            <a:ext cx="10881000" cy="987120"/>
          </a:xfrm>
          <a:prstGeom prst="roundRect">
            <a:avLst>
              <a:gd name="adj" fmla="val 3704"/>
            </a:avLst>
          </a:prstGeom>
          <a:solidFill>
            <a:srgbClr val="97bc62"/>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4" name="Text 21"/>
          <p:cNvSpPr/>
          <p:nvPr/>
        </p:nvSpPr>
        <p:spPr>
          <a:xfrm>
            <a:off x="1024200" y="5193720"/>
            <a:ext cx="10112760" cy="987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6301a"/>
                </a:solidFill>
                <a:latin typeface="Calibri"/>
              </a:rPr>
              <a:t>What I am not asking for: </a:t>
            </a:r>
            <a:r>
              <a:rPr b="0" lang="en-US" sz="1400" spc="-1" strike="noStrike">
                <a:solidFill>
                  <a:srgbClr val="16301a"/>
                </a:solidFill>
                <a:latin typeface="Calibri"/>
              </a:rPr>
              <a:t>no grant, no subsidy, no government money, no exclusivity, and no commitment beyond the 90 days. If the numbers do not appear, the gate stays shut and the state has spent nothing.</a:t>
            </a:r>
            <a:endParaRPr b="0" lang="en-US" sz="1400" spc="-1" strike="noStrike">
              <a:solidFill>
                <a:srgbClr val="ffffff"/>
              </a:solidFill>
              <a:latin typeface="Arial"/>
            </a:endParaRPr>
          </a:p>
        </p:txBody>
      </p:sp>
      <p:sp>
        <p:nvSpPr>
          <p:cNvPr id="305" name="PlaceHolder 2"/>
          <p:cNvSpPr>
            <a:spLocks noGrp="1"/>
          </p:cNvSpPr>
          <p:nvPr>
            <p:ph type="sldNum" idx="16"/>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1C991625-1CAB-4060-A83A-353DA0D09CA1}" type="slidenum">
              <a:rPr b="0" lang="en-US" sz="900" spc="-1" strike="noStrike">
                <a:solidFill>
                  <a:srgbClr val="6e7f6e"/>
                </a:solidFill>
                <a:latin typeface="Calibri"/>
              </a:rPr>
              <a:t>&lt;number&gt;</a:t>
            </a:fld>
            <a:endParaRPr b="0" lang="en-US" sz="9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Text 0"/>
          <p:cNvSpPr/>
          <p:nvPr/>
        </p:nvSpPr>
        <p:spPr>
          <a:xfrm>
            <a:off x="640080" y="146160"/>
            <a:ext cx="1088100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219" strike="noStrike">
                <a:solidFill>
                  <a:srgbClr val="d2601a"/>
                </a:solidFill>
                <a:latin typeface="Calibri"/>
              </a:rPr>
              <a:t>90 DAYS</a:t>
            </a:r>
            <a:endParaRPr b="0" lang="en-US" sz="1050" spc="-1" strike="noStrike">
              <a:solidFill>
                <a:srgbClr val="000000"/>
              </a:solidFill>
              <a:latin typeface="Arial"/>
            </a:endParaRPr>
          </a:p>
        </p:txBody>
      </p:sp>
      <p:sp>
        <p:nvSpPr>
          <p:cNvPr id="307" name="PlaceHolder 1"/>
          <p:cNvSpPr>
            <a:spLocks noGrp="1"/>
          </p:cNvSpPr>
          <p:nvPr>
            <p:ph type="title"/>
          </p:nvPr>
        </p:nvSpPr>
        <p:spPr>
          <a:xfrm>
            <a:off x="640080" y="420480"/>
            <a:ext cx="10881000" cy="731160"/>
          </a:xfrm>
          <a:prstGeom prst="rect">
            <a:avLst/>
          </a:prstGeom>
          <a:noFill/>
          <a:ln w="0">
            <a:noFill/>
          </a:ln>
        </p:spPr>
        <p:txBody>
          <a:bodyPr lIns="0" rIns="0" tIns="0" bIns="0" anchor="t">
            <a:noAutofit/>
          </a:bodyPr>
          <a:p>
            <a:pPr indent="0" defTabSz="914400">
              <a:lnSpc>
                <a:spcPct val="100000"/>
              </a:lnSpc>
              <a:buNone/>
              <a:tabLst>
                <a:tab algn="l" pos="0"/>
              </a:tabLst>
            </a:pPr>
            <a:r>
              <a:rPr b="1" lang="en-US" sz="3200" spc="-1" strike="noStrike">
                <a:solidFill>
                  <a:schemeClr val="dk1"/>
                </a:solidFill>
                <a:latin typeface="Cambria"/>
              </a:rPr>
              <a:t>What I will come back with, measured</a:t>
            </a:r>
            <a:endParaRPr b="0" lang="en-US" sz="3200" spc="-1" strike="noStrike">
              <a:solidFill>
                <a:schemeClr val="dk1"/>
              </a:solidFill>
              <a:latin typeface="Calibri"/>
            </a:endParaRPr>
          </a:p>
        </p:txBody>
      </p:sp>
      <p:sp>
        <p:nvSpPr>
          <p:cNvPr id="308" name="Text 2"/>
          <p:cNvSpPr/>
          <p:nvPr/>
        </p:nvSpPr>
        <p:spPr>
          <a:xfrm>
            <a:off x="640080" y="1170360"/>
            <a:ext cx="108810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e7f6e"/>
                </a:solidFill>
                <a:latin typeface="Calibri"/>
              </a:rPr>
              <a:t>Five numbers. Each one either appears or it does not, and the ledger behind each is open to your department.</a:t>
            </a:r>
            <a:endParaRPr b="0" lang="en-US" sz="1400" spc="-1" strike="noStrike">
              <a:solidFill>
                <a:srgbClr val="000000"/>
              </a:solidFill>
              <a:latin typeface="Arial"/>
            </a:endParaRPr>
          </a:p>
        </p:txBody>
      </p:sp>
      <p:sp>
        <p:nvSpPr>
          <p:cNvPr id="309" name="target-card-1"/>
          <p:cNvSpPr/>
          <p:nvPr/>
        </p:nvSpPr>
        <p:spPr>
          <a:xfrm>
            <a:off x="640080" y="1554480"/>
            <a:ext cx="10881000" cy="639720"/>
          </a:xfrm>
          <a:prstGeom prst="roundRect">
            <a:avLst>
              <a:gd name="adj" fmla="val 5714"/>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0" name="Text 4"/>
          <p:cNvSpPr/>
          <p:nvPr/>
        </p:nvSpPr>
        <p:spPr>
          <a:xfrm>
            <a:off x="969120" y="1554480"/>
            <a:ext cx="6580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d2601a"/>
                </a:solidFill>
                <a:latin typeface="Calibri"/>
              </a:rPr>
              <a:t>01</a:t>
            </a:r>
            <a:endParaRPr b="0" lang="en-US" sz="1800" spc="-1" strike="noStrike">
              <a:solidFill>
                <a:srgbClr val="000000"/>
              </a:solidFill>
              <a:latin typeface="Arial"/>
            </a:endParaRPr>
          </a:p>
        </p:txBody>
      </p:sp>
      <p:sp>
        <p:nvSpPr>
          <p:cNvPr id="311" name="Text 5"/>
          <p:cNvSpPr/>
          <p:nvPr/>
        </p:nvSpPr>
        <p:spPr>
          <a:xfrm>
            <a:off x="1645920" y="1554480"/>
            <a:ext cx="45716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chemeClr val="dk1"/>
                </a:solidFill>
                <a:latin typeface="Calibri"/>
              </a:rPr>
              <a:t>25+ stalls registered and bank-verified</a:t>
            </a:r>
            <a:endParaRPr b="0" lang="en-US" sz="1500" spc="-1" strike="noStrike">
              <a:solidFill>
                <a:srgbClr val="000000"/>
              </a:solidFill>
              <a:latin typeface="Arial"/>
            </a:endParaRPr>
          </a:p>
        </p:txBody>
      </p:sp>
      <p:sp>
        <p:nvSpPr>
          <p:cNvPr id="312" name="Text 6"/>
          <p:cNvSpPr/>
          <p:nvPr/>
        </p:nvSpPr>
        <p:spPr>
          <a:xfrm>
            <a:off x="6400800" y="1554480"/>
            <a:ext cx="47545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6e7f6e"/>
                </a:solidFill>
                <a:latin typeface="Calibri"/>
              </a:rPr>
              <a:t>In one market, each having proved control of its own settlement account.</a:t>
            </a:r>
            <a:endParaRPr b="0" lang="en-US" sz="1200" spc="-1" strike="noStrike">
              <a:solidFill>
                <a:srgbClr val="000000"/>
              </a:solidFill>
              <a:latin typeface="Arial"/>
            </a:endParaRPr>
          </a:p>
        </p:txBody>
      </p:sp>
      <p:sp>
        <p:nvSpPr>
          <p:cNvPr id="313" name="target-card-2"/>
          <p:cNvSpPr/>
          <p:nvPr/>
        </p:nvSpPr>
        <p:spPr>
          <a:xfrm>
            <a:off x="640080" y="2267640"/>
            <a:ext cx="10881000" cy="639720"/>
          </a:xfrm>
          <a:prstGeom prst="roundRect">
            <a:avLst>
              <a:gd name="adj" fmla="val 5714"/>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4" name="Text 8"/>
          <p:cNvSpPr/>
          <p:nvPr/>
        </p:nvSpPr>
        <p:spPr>
          <a:xfrm>
            <a:off x="969120" y="2267640"/>
            <a:ext cx="6580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d2601a"/>
                </a:solidFill>
                <a:latin typeface="Calibri"/>
              </a:rPr>
              <a:t>02</a:t>
            </a:r>
            <a:endParaRPr b="0" lang="en-US" sz="1800" spc="-1" strike="noStrike">
              <a:solidFill>
                <a:srgbClr val="000000"/>
              </a:solidFill>
              <a:latin typeface="Arial"/>
            </a:endParaRPr>
          </a:p>
        </p:txBody>
      </p:sp>
      <p:sp>
        <p:nvSpPr>
          <p:cNvPr id="315" name="Text 9"/>
          <p:cNvSpPr/>
          <p:nvPr/>
        </p:nvSpPr>
        <p:spPr>
          <a:xfrm>
            <a:off x="1645920" y="2267640"/>
            <a:ext cx="45716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chemeClr val="dk1"/>
                </a:solidFill>
                <a:latin typeface="Calibri"/>
              </a:rPr>
              <a:t>1,000 delivered orders</a:t>
            </a:r>
            <a:endParaRPr b="0" lang="en-US" sz="1500" spc="-1" strike="noStrike">
              <a:solidFill>
                <a:srgbClr val="000000"/>
              </a:solidFill>
              <a:latin typeface="Arial"/>
            </a:endParaRPr>
          </a:p>
        </p:txBody>
      </p:sp>
      <p:sp>
        <p:nvSpPr>
          <p:cNvPr id="316" name="Text 10"/>
          <p:cNvSpPr/>
          <p:nvPr/>
        </p:nvSpPr>
        <p:spPr>
          <a:xfrm>
            <a:off x="6400800" y="2267640"/>
            <a:ext cx="47545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6e7f6e"/>
                </a:solidFill>
                <a:latin typeface="Calibri"/>
              </a:rPr>
              <a:t>Every one with both handover codes recorded against named accounts.</a:t>
            </a:r>
            <a:endParaRPr b="0" lang="en-US" sz="1200" spc="-1" strike="noStrike">
              <a:solidFill>
                <a:srgbClr val="000000"/>
              </a:solidFill>
              <a:latin typeface="Arial"/>
            </a:endParaRPr>
          </a:p>
        </p:txBody>
      </p:sp>
      <p:sp>
        <p:nvSpPr>
          <p:cNvPr id="317" name="target-card-3"/>
          <p:cNvSpPr/>
          <p:nvPr/>
        </p:nvSpPr>
        <p:spPr>
          <a:xfrm>
            <a:off x="640080" y="2980800"/>
            <a:ext cx="10881000" cy="639720"/>
          </a:xfrm>
          <a:prstGeom prst="roundRect">
            <a:avLst>
              <a:gd name="adj" fmla="val 5714"/>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8" name="Text 12"/>
          <p:cNvSpPr/>
          <p:nvPr/>
        </p:nvSpPr>
        <p:spPr>
          <a:xfrm>
            <a:off x="969120" y="2980800"/>
            <a:ext cx="6580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d2601a"/>
                </a:solidFill>
                <a:latin typeface="Calibri"/>
              </a:rPr>
              <a:t>03</a:t>
            </a:r>
            <a:endParaRPr b="0" lang="en-US" sz="1800" spc="-1" strike="noStrike">
              <a:solidFill>
                <a:srgbClr val="000000"/>
              </a:solidFill>
              <a:latin typeface="Arial"/>
            </a:endParaRPr>
          </a:p>
        </p:txBody>
      </p:sp>
      <p:sp>
        <p:nvSpPr>
          <p:cNvPr id="319" name="Text 13"/>
          <p:cNvSpPr/>
          <p:nvPr/>
        </p:nvSpPr>
        <p:spPr>
          <a:xfrm>
            <a:off x="1645920" y="2980800"/>
            <a:ext cx="45716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chemeClr val="dk1"/>
                </a:solidFill>
                <a:latin typeface="Calibri"/>
              </a:rPr>
              <a:t>Vendor income, before versus during</a:t>
            </a:r>
            <a:endParaRPr b="0" lang="en-US" sz="1500" spc="-1" strike="noStrike">
              <a:solidFill>
                <a:srgbClr val="000000"/>
              </a:solidFill>
              <a:latin typeface="Arial"/>
            </a:endParaRPr>
          </a:p>
        </p:txBody>
      </p:sp>
      <p:sp>
        <p:nvSpPr>
          <p:cNvPr id="320" name="Text 14"/>
          <p:cNvSpPr/>
          <p:nvPr/>
        </p:nvSpPr>
        <p:spPr>
          <a:xfrm>
            <a:off x="6400800" y="2980800"/>
            <a:ext cx="47545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6e7f6e"/>
                </a:solidFill>
                <a:latin typeface="Calibri"/>
              </a:rPr>
              <a:t>Per stall against its own baseline — the number that decides whether this is worth scaling.</a:t>
            </a:r>
            <a:endParaRPr b="0" lang="en-US" sz="1200" spc="-1" strike="noStrike">
              <a:solidFill>
                <a:srgbClr val="000000"/>
              </a:solidFill>
              <a:latin typeface="Arial"/>
            </a:endParaRPr>
          </a:p>
        </p:txBody>
      </p:sp>
      <p:sp>
        <p:nvSpPr>
          <p:cNvPr id="321" name="target-card-4"/>
          <p:cNvSpPr/>
          <p:nvPr/>
        </p:nvSpPr>
        <p:spPr>
          <a:xfrm>
            <a:off x="640080" y="3694320"/>
            <a:ext cx="10881000" cy="639720"/>
          </a:xfrm>
          <a:prstGeom prst="roundRect">
            <a:avLst>
              <a:gd name="adj" fmla="val 5714"/>
            </a:avLst>
          </a:prstGeom>
          <a:solidFill>
            <a:schemeClr val="bg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2" name="Text 16"/>
          <p:cNvSpPr/>
          <p:nvPr/>
        </p:nvSpPr>
        <p:spPr>
          <a:xfrm>
            <a:off x="969120" y="3694320"/>
            <a:ext cx="6580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d2601a"/>
                </a:solidFill>
                <a:latin typeface="Calibri"/>
              </a:rPr>
              <a:t>04</a:t>
            </a:r>
            <a:endParaRPr b="0" lang="en-US" sz="1800" spc="-1" strike="noStrike">
              <a:solidFill>
                <a:srgbClr val="000000"/>
              </a:solidFill>
              <a:latin typeface="Arial"/>
            </a:endParaRPr>
          </a:p>
        </p:txBody>
      </p:sp>
      <p:sp>
        <p:nvSpPr>
          <p:cNvPr id="323" name="Text 17"/>
          <p:cNvSpPr/>
          <p:nvPr/>
        </p:nvSpPr>
        <p:spPr>
          <a:xfrm>
            <a:off x="1645920" y="3694320"/>
            <a:ext cx="45716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chemeClr val="dk1"/>
                </a:solidFill>
                <a:latin typeface="Calibri"/>
              </a:rPr>
              <a:t>Actual rider earnings per shift</a:t>
            </a:r>
            <a:endParaRPr b="0" lang="en-US" sz="1500" spc="-1" strike="noStrike">
              <a:solidFill>
                <a:srgbClr val="000000"/>
              </a:solidFill>
              <a:latin typeface="Arial"/>
            </a:endParaRPr>
          </a:p>
        </p:txBody>
      </p:sp>
      <p:sp>
        <p:nvSpPr>
          <p:cNvPr id="324" name="Text 18"/>
          <p:cNvSpPr/>
          <p:nvPr/>
        </p:nvSpPr>
        <p:spPr>
          <a:xfrm>
            <a:off x="6400800" y="3694320"/>
            <a:ext cx="47545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6e7f6e"/>
                </a:solidFill>
                <a:latin typeface="Calibri"/>
              </a:rPr>
              <a:t>Not a projection. What riders were paid, from the settlement ledger, per shift worked.</a:t>
            </a:r>
            <a:endParaRPr b="0" lang="en-US" sz="1200" spc="-1" strike="noStrike">
              <a:solidFill>
                <a:srgbClr val="000000"/>
              </a:solidFill>
              <a:latin typeface="Arial"/>
            </a:endParaRPr>
          </a:p>
        </p:txBody>
      </p:sp>
      <p:sp>
        <p:nvSpPr>
          <p:cNvPr id="325" name="target-card-5"/>
          <p:cNvSpPr/>
          <p:nvPr/>
        </p:nvSpPr>
        <p:spPr>
          <a:xfrm>
            <a:off x="640080" y="4407480"/>
            <a:ext cx="10881000" cy="639720"/>
          </a:xfrm>
          <a:prstGeom prst="roundRect">
            <a:avLst>
              <a:gd name="adj" fmla="val 5714"/>
            </a:avLst>
          </a:prstGeom>
          <a:solidFill>
            <a:schemeClr val="bg2"/>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6" name="Text 20"/>
          <p:cNvSpPr/>
          <p:nvPr/>
        </p:nvSpPr>
        <p:spPr>
          <a:xfrm>
            <a:off x="969120" y="4407480"/>
            <a:ext cx="6580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d2601a"/>
                </a:solidFill>
                <a:latin typeface="Calibri"/>
              </a:rPr>
              <a:t>05</a:t>
            </a:r>
            <a:endParaRPr b="0" lang="en-US" sz="1800" spc="-1" strike="noStrike">
              <a:solidFill>
                <a:srgbClr val="000000"/>
              </a:solidFill>
              <a:latin typeface="Arial"/>
            </a:endParaRPr>
          </a:p>
        </p:txBody>
      </p:sp>
      <p:sp>
        <p:nvSpPr>
          <p:cNvPr id="327" name="Text 21"/>
          <p:cNvSpPr/>
          <p:nvPr/>
        </p:nvSpPr>
        <p:spPr>
          <a:xfrm>
            <a:off x="1645920" y="4407480"/>
            <a:ext cx="45716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chemeClr val="dk1"/>
                </a:solidFill>
                <a:latin typeface="Calibri"/>
              </a:rPr>
              <a:t>A ledger auditable line by line</a:t>
            </a:r>
            <a:endParaRPr b="0" lang="en-US" sz="1500" spc="-1" strike="noStrike">
              <a:solidFill>
                <a:srgbClr val="000000"/>
              </a:solidFill>
              <a:latin typeface="Arial"/>
            </a:endParaRPr>
          </a:p>
        </p:txBody>
      </p:sp>
      <p:sp>
        <p:nvSpPr>
          <p:cNvPr id="328" name="Text 22"/>
          <p:cNvSpPr/>
          <p:nvPr/>
        </p:nvSpPr>
        <p:spPr>
          <a:xfrm>
            <a:off x="6400800" y="4407480"/>
            <a:ext cx="47545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6e7f6e"/>
                </a:solidFill>
                <a:latin typeface="Calibri"/>
              </a:rPr>
              <a:t>Every rupee of every order traced to its five buckets, open to the committee throughout.</a:t>
            </a:r>
            <a:endParaRPr b="0" lang="en-US" sz="1200" spc="-1" strike="noStrike">
              <a:solidFill>
                <a:srgbClr val="000000"/>
              </a:solidFill>
              <a:latin typeface="Arial"/>
            </a:endParaRPr>
          </a:p>
        </p:txBody>
      </p:sp>
      <p:sp>
        <p:nvSpPr>
          <p:cNvPr id="329" name="close-band"/>
          <p:cNvSpPr/>
          <p:nvPr/>
        </p:nvSpPr>
        <p:spPr>
          <a:xfrm>
            <a:off x="640080" y="5303520"/>
            <a:ext cx="10881000" cy="932400"/>
          </a:xfrm>
          <a:prstGeom prst="roundRect">
            <a:avLst>
              <a:gd name="adj" fmla="val 3922"/>
            </a:avLst>
          </a:prstGeom>
          <a:solidFill>
            <a:schemeClr val="tx1"/>
          </a:solidFill>
          <a:ln w="0">
            <a:noFill/>
          </a:ln>
          <a:effectLst>
            <a:outerShdw algn="bl" blurRad="127080" dir="5400000" dist="25560" kx="0" ky="0" rotWithShape="0" sx="100000" sy="100000">
              <a:srgbClr val="16301a">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0" name="Text 24"/>
          <p:cNvSpPr/>
          <p:nvPr/>
        </p:nvSpPr>
        <p:spPr>
          <a:xfrm>
            <a:off x="1024200" y="5394960"/>
            <a:ext cx="1011276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ffffff"/>
                </a:solidFill>
                <a:latin typeface="Calibri"/>
              </a:rPr>
              <a:t>If these five numbers do not appear, the gate stays shut — and that is the correct outcome.</a:t>
            </a:r>
            <a:endParaRPr b="0" lang="en-US" sz="1350" spc="-1" strike="noStrike">
              <a:solidFill>
                <a:srgbClr val="000000"/>
              </a:solidFill>
              <a:latin typeface="Arial"/>
            </a:endParaRPr>
          </a:p>
        </p:txBody>
      </p:sp>
      <p:sp>
        <p:nvSpPr>
          <p:cNvPr id="331" name="Text 25"/>
          <p:cNvSpPr/>
          <p:nvPr/>
        </p:nvSpPr>
        <p:spPr>
          <a:xfrm>
            <a:off x="1024200" y="5779080"/>
            <a:ext cx="101127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97bc62"/>
                </a:solidFill>
                <a:latin typeface="Calibri"/>
              </a:rPr>
              <a:t>Samileti Revanth Gopal  ·  94414 88911      Gandra Hemanth Kumar  ·  97055 41348      Sangu Sai Bhargav  ·  90145 51801</a:t>
            </a:r>
            <a:endParaRPr b="0" lang="en-US" sz="1100" spc="-1" strike="noStrike">
              <a:solidFill>
                <a:srgbClr val="000000"/>
              </a:solidFill>
              <a:latin typeface="Arial"/>
            </a:endParaRPr>
          </a:p>
        </p:txBody>
      </p:sp>
      <p:sp>
        <p:nvSpPr>
          <p:cNvPr id="332" name="PlaceHolder 2"/>
          <p:cNvSpPr>
            <a:spLocks noGrp="1"/>
          </p:cNvSpPr>
          <p:nvPr>
            <p:ph type="sldNum" idx="17"/>
          </p:nvPr>
        </p:nvSpPr>
        <p:spPr>
          <a:xfrm>
            <a:off x="11247120" y="6346080"/>
            <a:ext cx="456840" cy="25560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e7f6e"/>
                </a:solidFill>
                <a:latin typeface="Calibri"/>
              </a:defRPr>
            </a:lvl1pPr>
          </a:lstStyle>
          <a:p>
            <a:pPr indent="0" algn="r" defTabSz="914400">
              <a:lnSpc>
                <a:spcPct val="100000"/>
              </a:lnSpc>
              <a:buNone/>
            </a:pPr>
            <a:fld id="{1BEB8EB2-D6E0-47E6-AF6D-6138CCAAB1F2}" type="slidenum">
              <a:rPr b="0" lang="en-US" sz="900" spc="-1" strike="noStrike">
                <a:solidFill>
                  <a:srgbClr val="6e7f6e"/>
                </a:solidFill>
                <a:latin typeface="Calibri"/>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VegDrop Rythu Bazaar">
  <a:themeElements>
    <a:clrScheme name="VegDrop Rythu Bazaar">
      <a:dk1>
        <a:srgbClr val="16301a"/>
      </a:dk1>
      <a:lt1>
        <a:srgbClr val="ffffff"/>
      </a:lt1>
      <a:dk2>
        <a:srgbClr val="173b1b"/>
      </a:dk2>
      <a:lt2>
        <a:srgbClr val="edf2e6"/>
      </a:lt2>
      <a:accent1>
        <a:srgbClr val="2c5f2d"/>
      </a:accent1>
      <a:accent2>
        <a:srgbClr val="97bc62"/>
      </a:accent2>
      <a:accent3>
        <a:srgbClr val="d2601a"/>
      </a:accent3>
      <a:accent4>
        <a:srgbClr val="4e7a68"/>
      </a:accent4>
      <a:accent5>
        <a:srgbClr val="b8860b"/>
      </a:accent5>
      <a:accent6>
        <a:srgbClr val="6e7f6e"/>
      </a:accent6>
      <a:hlink>
        <a:srgbClr val="2c5f2d"/>
      </a:hlink>
      <a:folHlink>
        <a:srgbClr val="6e7f6e"/>
      </a:folHlink>
    </a:clrScheme>
    <a:fontScheme name="VegDrop Rythu Bazaar">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VegDrop Rythu Bazaar">
  <a:themeElements>
    <a:clrScheme name="VegDrop Rythu Bazaar">
      <a:dk1>
        <a:srgbClr val="16301a"/>
      </a:dk1>
      <a:lt1>
        <a:srgbClr val="ffffff"/>
      </a:lt1>
      <a:dk2>
        <a:srgbClr val="173b1b"/>
      </a:dk2>
      <a:lt2>
        <a:srgbClr val="edf2e6"/>
      </a:lt2>
      <a:accent1>
        <a:srgbClr val="2c5f2d"/>
      </a:accent1>
      <a:accent2>
        <a:srgbClr val="97bc62"/>
      </a:accent2>
      <a:accent3>
        <a:srgbClr val="d2601a"/>
      </a:accent3>
      <a:accent4>
        <a:srgbClr val="4e7a68"/>
      </a:accent4>
      <a:accent5>
        <a:srgbClr val="b8860b"/>
      </a:accent5>
      <a:accent6>
        <a:srgbClr val="6e7f6e"/>
      </a:accent6>
      <a:hlink>
        <a:srgbClr val="2c5f2d"/>
      </a:hlink>
      <a:folHlink>
        <a:srgbClr val="6e7f6e"/>
      </a:folHlink>
    </a:clrScheme>
    <a:fontScheme name="VegDrop Rythu Bazaar">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VegDrop Rythu Bazaar">
  <a:themeElements>
    <a:clrScheme name="VegDrop Rythu Bazaar">
      <a:dk1>
        <a:srgbClr val="16301a"/>
      </a:dk1>
      <a:lt1>
        <a:srgbClr val="ffffff"/>
      </a:lt1>
      <a:dk2>
        <a:srgbClr val="173b1b"/>
      </a:dk2>
      <a:lt2>
        <a:srgbClr val="edf2e6"/>
      </a:lt2>
      <a:accent1>
        <a:srgbClr val="2c5f2d"/>
      </a:accent1>
      <a:accent2>
        <a:srgbClr val="97bc62"/>
      </a:accent2>
      <a:accent3>
        <a:srgbClr val="d2601a"/>
      </a:accent3>
      <a:accent4>
        <a:srgbClr val="4e7a68"/>
      </a:accent4>
      <a:accent5>
        <a:srgbClr val="b8860b"/>
      </a:accent5>
      <a:accent6>
        <a:srgbClr val="6e7f6e"/>
      </a:accent6>
      <a:hlink>
        <a:srgbClr val="2c5f2d"/>
      </a:hlink>
      <a:folHlink>
        <a:srgbClr val="6e7f6e"/>
      </a:folHlink>
    </a:clrScheme>
    <a:fontScheme name="VegDrop Rythu Bazaar">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VegDrop Rythu Bazaar">
  <a:themeElements>
    <a:clrScheme name="VegDrop Rythu Bazaar">
      <a:dk1>
        <a:srgbClr val="16301a"/>
      </a:dk1>
      <a:lt1>
        <a:srgbClr val="ffffff"/>
      </a:lt1>
      <a:dk2>
        <a:srgbClr val="173b1b"/>
      </a:dk2>
      <a:lt2>
        <a:srgbClr val="edf2e6"/>
      </a:lt2>
      <a:accent1>
        <a:srgbClr val="2c5f2d"/>
      </a:accent1>
      <a:accent2>
        <a:srgbClr val="97bc62"/>
      </a:accent2>
      <a:accent3>
        <a:srgbClr val="d2601a"/>
      </a:accent3>
      <a:accent4>
        <a:srgbClr val="4e7a68"/>
      </a:accent4>
      <a:accent5>
        <a:srgbClr val="b8860b"/>
      </a:accent5>
      <a:accent6>
        <a:srgbClr val="6e7f6e"/>
      </a:accent6>
      <a:hlink>
        <a:srgbClr val="2c5f2d"/>
      </a:hlink>
      <a:folHlink>
        <a:srgbClr val="6e7f6e"/>
      </a:folHlink>
    </a:clrScheme>
    <a:fontScheme name="VegDrop Rythu Bazaar">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VegDrop Rythu Bazaar">
  <a:themeElements>
    <a:clrScheme name="VegDrop Rythu Bazaar">
      <a:dk1>
        <a:srgbClr val="16301a"/>
      </a:dk1>
      <a:lt1>
        <a:srgbClr val="ffffff"/>
      </a:lt1>
      <a:dk2>
        <a:srgbClr val="173b1b"/>
      </a:dk2>
      <a:lt2>
        <a:srgbClr val="edf2e6"/>
      </a:lt2>
      <a:accent1>
        <a:srgbClr val="2c5f2d"/>
      </a:accent1>
      <a:accent2>
        <a:srgbClr val="97bc62"/>
      </a:accent2>
      <a:accent3>
        <a:srgbClr val="d2601a"/>
      </a:accent3>
      <a:accent4>
        <a:srgbClr val="4e7a68"/>
      </a:accent4>
      <a:accent5>
        <a:srgbClr val="b8860b"/>
      </a:accent5>
      <a:accent6>
        <a:srgbClr val="6e7f6e"/>
      </a:accent6>
      <a:hlink>
        <a:srgbClr val="2c5f2d"/>
      </a:hlink>
      <a:folHlink>
        <a:srgbClr val="6e7f6e"/>
      </a:folHlink>
    </a:clrScheme>
    <a:fontScheme name="VegDrop Rythu Bazaar">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VegDrop</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2026-10-03T12:37:56Z</dcterms:created>
  <dc:creator>VegDrop</dc:creator>
  <dc:description/>
  <dc:language>en-US</dc:language>
  <cp:lastModifiedBy>VegDrop</cp:lastModifiedBy>
  <dcterms:modified xsi:type="dcterms:W3CDTF">2026-10-03T12:37:56Z</dcterms:modified>
  <cp:revision>1</cp:revision>
  <dc:subject>Proposal to the Hon'ble Minister for IT, Electronics and HRD, Government of Andhra Pradesh</dc:subject>
  <dc:title>VegDrop — delivery infrastructure for Andhra Pradesh's Rythu Bazaars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12</vt:r8>
  </property>
  <property fmtid="{D5CDD505-2E9C-101B-9397-08002B2CF9AE}" pid="3" name="PresentationFormat">
    <vt:lpwstr>On-screen Show (16:9)</vt:lpwstr>
  </property>
  <property fmtid="{D5CDD505-2E9C-101B-9397-08002B2CF9AE}" pid="4" name="Slides">
    <vt:r8>12</vt:r8>
  </property>
</Properties>
</file>
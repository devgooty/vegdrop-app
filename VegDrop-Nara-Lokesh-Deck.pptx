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43f7cd1-c9e1-a83d-57fe-73f4f6bc543a}">
          <p14:sldIdLst>
            <p14:sldId id="256"/>
          </p14:sldIdLst>
        </p14:section>
        <p14:section name="The problem" id="{c205baa4-163f-c7bc-995d-21df3874bcb0}">
          <p14:sldIdLst>
            <p14:sldId id="257"/>
            <p14:sldId id="258"/>
          </p14:sldIdLst>
        </p14:section>
        <p14:section name="The product" id="{4f06597b-3c2c-a65a-4b55-464629eac768}">
          <p14:sldIdLst>
            <p14:sldId id="259"/>
            <p14:sldId id="260"/>
            <p14:sldId id="261"/>
          </p14:sldIdLst>
        </p14:section>
        <p14:section name="Trust and money" id="{467753a6-a3e2-bc57-9041-108e716c6b26}">
          <p14:sldIdLst>
            <p14:sldId id="262"/>
            <p14:sldId id="263"/>
          </p14:sldIdLst>
        </p14:section>
        <p14:section name="Impact" id="{704757b2-e4f5-78c1-d5c5-e3711184b842}">
          <p14:sldIdLst>
            <p14:sldId id="264"/>
            <p14:sldId id="265"/>
          </p14:sldIdLst>
        </p14:section>
        <p14:section name="The ask" id="{717249ae-3d26-97c9-fe6c-8b04667c5da7}">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one sentence, not the product: 'Sir, a Rythu Bazaar vendor can only sell to whoever walks past their stall before 11am. I have built the software that lets the whole town walk past. It is not live yet, and I am here to ask for one market to prove it in.' Say the honest status out loud in the first thirty seconds — it buys you the rest of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to sixty seconds. The minister already knows the bazaar. The only new information here is the third card — the vendor is structurally invisible to the apps households already use, and that is a software gap, not a farmer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project his rather than yours. Sources: Rythu Bazaars date to 1999 (AP Agricultural Marketing Department); e-Rythu is the Government of AP and Mastercard digital agri marketplace. Do not overstate either — if pressed on figures, say you are going from the public record and will send the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asks why six apps and not one: because a rider must never be able to read a code they are required to type, and a vendor must never be able to see another vendor's customers. Separate apps with separately scoped sessions is how that is enforced rather than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differentiator — say it plainly: scaling this costs the state nothing per market, because the market onboards itself. Be honest about the limit before he probes: browser location is self-reported, so the boundary check stops the casual and accidental cases — applying from home, guessing at a market never visited — and nothing more. The committee's approval is still the real gate. Volunteering that is the kind of honesty officials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codes. What a code proves is that the holder chose to release the goods to whoever held that rider's session at that moment. It is not proof of delivery — a shopkeeper can read six digits down a phone. What it does buy is that no single party can move an order alone, and every handover is attributable to a named account. Use those words if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for one reason: a minister's risk in backing a payments-touching app is a scandal, not a failure. Offer the code audit out loud. If asked who has audited it so far: nobody outside the project —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zero is the single most persuasive fact in the deck and it is verifiable: the commission setting defaults to zero basis points in the configuration, and settlement reads the stored policy rather than a hardcoded rate. If he asks how you make money, answer honestly: not from Rythu Bazaar vendors. Private markets and independent shops are where a platform share would be set above zero, and even there the committee sets it, not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these as projections out loud. If he challenges the 300 households a day, agree immediately that it is unproven and say the pilot exists to find the real number. Never defend a modelled figure as though it were measured — that is how credibility goes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the right-hand column and do not let anyone in the room soften it for you. Officials discount decks by default; a founder who volunteers the weak half is the one they believe on the strong half. If he asks why you have not simply launched: because a market needs its committee's permission to be on the platform, and that is the one thing you cannot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ask one and then stop talking. The 'what I am not asking for' line is what makes it a cheap yes — say it slowly. If he offers only ask three, take it and ask again for the introduction: the Innovation Hub without a market is mentoring with nothing to mentor.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last line, verbatim: 'If these numbers do not appear, the gate stays shut, and that is the correct outcome.' It is the sentence that separates you from everyone else who pitched him this month. Then ask one question — 'Which market committee should I speak to first?' — a question whose answer is a name, not a yes or a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3B1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10881360" cy="17373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640080" y="3767328"/>
            <a:ext cx="9509760" cy="1097280"/>
          </a:xfrm>
          <a:prstGeom prst="rect">
            <a:avLst/>
          </a:prstGeom>
          <a:noFill/>
          <a:ln/>
        </p:spPr>
        <p:txBody>
          <a:bodyPr wrap="square" rtlCol="0"/>
          <a:lstStyle>
            <a:lvl1pPr algn="l" indent="0" marL="0">
              <a:buNone/>
              <a:defRPr lang="en-US" sz="1700" dirty="0">
                <a:solidFill>
                  <a:srgbClr val="97BC62"/>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20624"/>
            <a:ext cx="1088136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640080" y="6345936"/>
            <a:ext cx="8229600" cy="256032"/>
          </a:xfrm>
          <a:prstGeom prst="rect">
            <a:avLst/>
          </a:prstGeom>
          <a:noFill/>
          <a:ln/>
        </p:spPr>
        <p:txBody>
          <a:bodyPr wrap="square" lIns="0" tIns="0" rIns="0" bIns="0" rtlCol="0" anchor="ctr"/>
          <a:lstStyle/>
          <a:p>
            <a:pPr algn="l" indent="0" marL="0">
              <a:buNone/>
            </a:pPr>
            <a:r>
              <a:rPr lang="en-US" sz="900" dirty="0">
                <a:solidFill>
                  <a:srgbClr val="6E7F6E"/>
                </a:solidFill>
              </a:rPr>
              <a:t>VegDrop  ·  Rythu Bazaar delivery layer  ·  Proposal, 2026</a:t>
            </a:r>
            <a:endParaRPr lang="en-US" sz="9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20624"/>
            <a:ext cx="1088136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640080" y="6345936"/>
            <a:ext cx="8229600" cy="256032"/>
          </a:xfrm>
          <a:prstGeom prst="rect">
            <a:avLst/>
          </a:prstGeom>
          <a:noFill/>
          <a:ln/>
        </p:spPr>
        <p:txBody>
          <a:bodyPr wrap="square" lIns="0" tIns="0" rIns="0" bIns="0" rtlCol="0" anchor="ctr"/>
          <a:lstStyle/>
          <a:p>
            <a:pPr algn="l" indent="0" marL="0">
              <a:buNone/>
            </a:pPr>
            <a:r>
              <a:rPr lang="en-US" sz="900" dirty="0">
                <a:solidFill>
                  <a:srgbClr val="6E7F6E"/>
                </a:solidFill>
              </a:rPr>
              <a:t>VegDrop  ·  Rythu Bazaar delivery layer  ·  Proposal, 2026</a:t>
            </a:r>
            <a:endParaRPr lang="en-US" sz="9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73B1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1"/>
          <p:cNvSpPr/>
          <p:nvPr/>
        </p:nvSpPr>
        <p:spPr>
          <a:xfrm>
            <a:off x="640080" y="868680"/>
            <a:ext cx="365760" cy="365760"/>
          </a:xfrm>
          <a:prstGeom prst="ellipse">
            <a:avLst/>
          </a:prstGeom>
          <a:solidFill>
            <a:srgbClr val="97BC62"/>
          </a:solidFill>
          <a:ln/>
        </p:spPr>
      </p:sp>
      <p:sp>
        <p:nvSpPr>
          <p:cNvPr id="3" name="Text 1"/>
          <p:cNvSpPr txBox="1"/>
          <p:nvPr/>
        </p:nvSpPr>
        <p:spPr>
          <a:xfrm>
            <a:off x="640080" y="86868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 </a:t>
            </a:r>
            <a:endParaRPr lang="en-US" sz="1500" dirty="0"/>
          </a:p>
        </p:txBody>
      </p:sp>
      <p:sp>
        <p:nvSpPr>
          <p:cNvPr id="4" name="motif-2"/>
          <p:cNvSpPr/>
          <p:nvPr/>
        </p:nvSpPr>
        <p:spPr>
          <a:xfrm>
            <a:off x="1097280" y="868680"/>
            <a:ext cx="365760" cy="365760"/>
          </a:xfrm>
          <a:prstGeom prst="ellipse">
            <a:avLst/>
          </a:prstGeom>
          <a:solidFill>
            <a:srgbClr val="D2601A"/>
          </a:solidFill>
          <a:ln/>
        </p:spPr>
      </p:sp>
      <p:sp>
        <p:nvSpPr>
          <p:cNvPr id="5" name="Text 3"/>
          <p:cNvSpPr txBox="1"/>
          <p:nvPr/>
        </p:nvSpPr>
        <p:spPr>
          <a:xfrm>
            <a:off x="1097280" y="86868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 </a:t>
            </a:r>
            <a:endParaRPr lang="en-US" sz="1500" dirty="0"/>
          </a:p>
        </p:txBody>
      </p:sp>
      <p:sp>
        <p:nvSpPr>
          <p:cNvPr id="6" name="motif-3"/>
          <p:cNvSpPr/>
          <p:nvPr/>
        </p:nvSpPr>
        <p:spPr>
          <a:xfrm>
            <a:off x="1554480" y="868680"/>
            <a:ext cx="365760" cy="365760"/>
          </a:xfrm>
          <a:prstGeom prst="ellipse">
            <a:avLst/>
          </a:prstGeom>
          <a:solidFill>
            <a:srgbClr val="B8860B"/>
          </a:solidFill>
          <a:ln/>
        </p:spPr>
      </p:sp>
      <p:sp>
        <p:nvSpPr>
          <p:cNvPr id="7" name="Text 5"/>
          <p:cNvSpPr txBox="1"/>
          <p:nvPr/>
        </p:nvSpPr>
        <p:spPr>
          <a:xfrm>
            <a:off x="1554480" y="86868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 </a:t>
            </a:r>
            <a:endParaRPr lang="en-US" sz="1500" dirty="0"/>
          </a:p>
        </p:txBody>
      </p:sp>
      <p:sp>
        <p:nvSpPr>
          <p:cNvPr id="8" name="Text 6"/>
          <p:cNvSpPr txBox="1"/>
          <p:nvPr/>
        </p:nvSpPr>
        <p:spPr>
          <a:xfrm>
            <a:off x="640080" y="1389888"/>
            <a:ext cx="7315200" cy="384048"/>
          </a:xfrm>
          <a:prstGeom prst="rect">
            <a:avLst/>
          </a:prstGeom>
          <a:noFill/>
          <a:ln/>
        </p:spPr>
        <p:txBody>
          <a:bodyPr wrap="square" lIns="0" tIns="0" rIns="0" bIns="0" rtlCol="0" anchor="ctr"/>
          <a:lstStyle/>
          <a:p>
            <a:pPr algn="l" indent="0" marL="0">
              <a:buNone/>
            </a:pPr>
            <a:r>
              <a:rPr lang="en-US" sz="1500" b="1" spc="300" kern="0" dirty="0">
                <a:solidFill>
                  <a:srgbClr val="97BC62"/>
                </a:solidFill>
              </a:rPr>
              <a:t>VegDrop</a:t>
            </a:r>
            <a:endParaRPr lang="en-US" sz="1500" dirty="0"/>
          </a:p>
        </p:txBody>
      </p:sp>
      <p:sp>
        <p:nvSpPr>
          <p:cNvPr id="9" name="Text 0"/>
          <p:cNvSpPr/>
          <p:nvPr>
            <p:ph idx="100" type="title" hasCustomPrompt="1"/>
          </p:nvPr>
        </p:nvSpPr>
        <p:spPr>
          <a:xfrm>
            <a:off x="640080" y="1874520"/>
            <a:ext cx="10881360" cy="1737360"/>
          </a:xfrm>
          <a:prstGeom prst="rect">
            <a:avLst/>
          </a:prstGeom>
          <a:noFill/>
          <a:ln/>
        </p:spPr>
        <p:txBody>
          <a:bodyPr wrap="square" lIns="0" tIns="0" rIns="0" bIns="0" rtlCol="0" anchor="t"/>
          <a:lstStyle/>
          <a:p>
            <a:pPr algn="l" indent="0" marL="0">
              <a:buNone/>
            </a:pPr>
            <a:r>
              <a:rPr lang="en-US" sz="3800" b="1" dirty="0">
                <a:solidFill>
                  <a:schemeClr val="bg1"/>
                </a:solidFill>
              </a:rPr>
              <a:t>Delivery infrastructure for</a:t>
            </a:r>
            <a:endParaRPr lang="en-US" sz="3800" dirty="0"/>
          </a:p>
          <a:p>
            <a:pPr algn="l" indent="0" marL="0">
              <a:buNone/>
            </a:pPr>
            <a:r>
              <a:rPr lang="en-US" sz="3800" b="1" dirty="0">
                <a:solidFill>
                  <a:schemeClr val="bg1"/>
                </a:solidFill>
              </a:rPr>
              <a:t>Andhra Pradesh's Rythu Bazaars</a:t>
            </a:r>
            <a:endParaRPr lang="en-US" sz="3800" dirty="0"/>
          </a:p>
        </p:txBody>
      </p:sp>
      <p:sp>
        <p:nvSpPr>
          <p:cNvPr id="10" name="Text 0"/>
          <p:cNvSpPr/>
          <p:nvPr>
            <p:ph idx="101" type="body" hasCustomPrompt="1"/>
          </p:nvPr>
        </p:nvSpPr>
        <p:spPr>
          <a:xfrm>
            <a:off x="640080" y="3767328"/>
            <a:ext cx="9509760" cy="1097280"/>
          </a:xfrm>
          <a:prstGeom prst="rect">
            <a:avLst/>
          </a:prstGeom>
          <a:noFill/>
          <a:ln/>
        </p:spPr>
        <p:txBody>
          <a:bodyPr wrap="square" lIns="0" tIns="0" rIns="0" bIns="0" rtlCol="0" anchor="t"/>
          <a:lstStyle/>
          <a:p>
            <a:pPr algn="l" indent="0" marL="0">
              <a:buNone/>
            </a:pPr>
            <a:r>
              <a:rPr lang="en-US" sz="1700" dirty="0">
                <a:solidFill>
                  <a:srgbClr val="97BC62"/>
                </a:solidFill>
              </a:rPr>
              <a:t>Any market registers itself. Any vendor sells from their own stall.</a:t>
            </a:r>
            <a:endParaRPr lang="en-US" sz="1700" dirty="0"/>
          </a:p>
          <a:p>
            <a:pPr algn="l" indent="0" marL="0">
              <a:buNone/>
            </a:pPr>
            <a:r>
              <a:rPr lang="en-US" sz="1700" dirty="0">
                <a:solidFill>
                  <a:srgbClr val="97BC62"/>
                </a:solidFill>
              </a:rPr>
              <a:t>Any household orders in Telugu, Hindi or English.</a:t>
            </a:r>
            <a:endParaRPr lang="en-US" sz="1700" dirty="0"/>
          </a:p>
        </p:txBody>
      </p:sp>
      <p:sp>
        <p:nvSpPr>
          <p:cNvPr id="11" name="rule"/>
          <p:cNvSpPr/>
          <p:nvPr/>
        </p:nvSpPr>
        <p:spPr>
          <a:xfrm>
            <a:off x="640080" y="5230368"/>
            <a:ext cx="2926080" cy="18288"/>
          </a:xfrm>
          <a:prstGeom prst="rect">
            <a:avLst/>
          </a:prstGeom>
          <a:solidFill>
            <a:srgbClr val="97BC62"/>
          </a:solidFill>
          <a:ln/>
        </p:spPr>
      </p:sp>
      <p:sp>
        <p:nvSpPr>
          <p:cNvPr id="12" name="Text 10"/>
          <p:cNvSpPr txBox="1"/>
          <p:nvPr/>
        </p:nvSpPr>
        <p:spPr>
          <a:xfrm>
            <a:off x="640080" y="5358384"/>
            <a:ext cx="5852160" cy="914400"/>
          </a:xfrm>
          <a:prstGeom prst="rect">
            <a:avLst/>
          </a:prstGeom>
          <a:noFill/>
          <a:ln/>
        </p:spPr>
        <p:txBody>
          <a:bodyPr wrap="square" lIns="0" tIns="0" rIns="0" bIns="0" rtlCol="0" anchor="ctr"/>
          <a:lstStyle/>
          <a:p>
            <a:pPr algn="l" indent="0" marL="0">
              <a:lnSpc>
                <a:spcPct val="118000"/>
              </a:lnSpc>
              <a:buNone/>
            </a:pPr>
            <a:r>
              <a:rPr lang="en-US" sz="1300" b="1" dirty="0">
                <a:solidFill>
                  <a:srgbClr val="FFFFFF"/>
                </a:solidFill>
              </a:rPr>
              <a:t>Presented to the Hon'ble Sri Nara Lokesh</a:t>
            </a:r>
            <a:endParaRPr lang="en-US" sz="1300" dirty="0"/>
          </a:p>
          <a:p>
            <a:pPr algn="l" indent="0" marL="0">
              <a:lnSpc>
                <a:spcPct val="118000"/>
              </a:lnSpc>
              <a:buNone/>
            </a:pPr>
            <a:r>
              <a:rPr lang="en-US" sz="1300" dirty="0">
                <a:solidFill>
                  <a:srgbClr val="97BC62"/>
                </a:solidFill>
              </a:rPr>
              <a:t>Minister for IT, Electronics, Communications &amp; HRD,</a:t>
            </a:r>
            <a:endParaRPr lang="en-US" sz="1300" dirty="0"/>
          </a:p>
          <a:p>
            <a:pPr algn="l" indent="0" marL="0">
              <a:lnSpc>
                <a:spcPct val="118000"/>
              </a:lnSpc>
              <a:buNone/>
            </a:pPr>
            <a:r>
              <a:rPr lang="en-US" sz="1300" dirty="0">
                <a:solidFill>
                  <a:srgbClr val="97BC62"/>
                </a:solidFill>
              </a:rPr>
              <a:t>Government of Andhra Pradesh</a:t>
            </a:r>
            <a:endParaRPr lang="en-US" sz="1300" dirty="0"/>
          </a:p>
        </p:txBody>
      </p:sp>
      <p:sp>
        <p:nvSpPr>
          <p:cNvPr id="13" name="Text 11"/>
          <p:cNvSpPr txBox="1"/>
          <p:nvPr/>
        </p:nvSpPr>
        <p:spPr>
          <a:xfrm>
            <a:off x="7589520" y="5175504"/>
            <a:ext cx="3931920" cy="219456"/>
          </a:xfrm>
          <a:prstGeom prst="rect">
            <a:avLst/>
          </a:prstGeom>
          <a:noFill/>
          <a:ln/>
        </p:spPr>
        <p:txBody>
          <a:bodyPr wrap="square" lIns="0" tIns="0" rIns="0" bIns="0" rtlCol="0" anchor="ctr"/>
          <a:lstStyle/>
          <a:p>
            <a:pPr algn="r" indent="0" marL="0">
              <a:buNone/>
            </a:pPr>
            <a:r>
              <a:rPr lang="en-US" sz="900" b="1" spc="200" kern="0" dirty="0">
                <a:solidFill>
                  <a:srgbClr val="6E7F6E"/>
                </a:solidFill>
              </a:rPr>
              <a:t>PRESENTED BY</a:t>
            </a:r>
            <a:endParaRPr lang="en-US" sz="900" dirty="0"/>
          </a:p>
        </p:txBody>
      </p:sp>
      <p:sp>
        <p:nvSpPr>
          <p:cNvPr id="14" name="Text 12"/>
          <p:cNvSpPr txBox="1"/>
          <p:nvPr/>
        </p:nvSpPr>
        <p:spPr>
          <a:xfrm>
            <a:off x="7589520" y="5394960"/>
            <a:ext cx="3931920" cy="877824"/>
          </a:xfrm>
          <a:prstGeom prst="rect">
            <a:avLst/>
          </a:prstGeom>
          <a:noFill/>
          <a:ln/>
        </p:spPr>
        <p:txBody>
          <a:bodyPr wrap="square" lIns="0" tIns="0" rIns="0" bIns="0" rtlCol="0" anchor="ctr"/>
          <a:lstStyle/>
          <a:p>
            <a:pPr algn="r" indent="0" marL="0">
              <a:lnSpc>
                <a:spcPct val="122000"/>
              </a:lnSpc>
              <a:buNone/>
            </a:pPr>
            <a:r>
              <a:rPr lang="en-US" sz="1150" b="1" dirty="0">
                <a:solidFill>
                  <a:srgbClr val="FFFFFF"/>
                </a:solidFill>
              </a:rPr>
              <a:t>Samileti Revanth Gopal</a:t>
            </a:r>
            <a:pPr algn="r" indent="0" marL="0">
              <a:lnSpc>
                <a:spcPct val="122000"/>
              </a:lnSpc>
              <a:buNone/>
            </a:pPr>
            <a:r>
              <a:rPr lang="en-US" sz="1150" dirty="0">
                <a:solidFill>
                  <a:srgbClr val="6E7F6E"/>
                </a:solidFill>
              </a:rPr>
              <a:t>   ·   </a:t>
            </a:r>
            <a:pPr algn="r" indent="0" marL="0">
              <a:lnSpc>
                <a:spcPct val="122000"/>
              </a:lnSpc>
              <a:buNone/>
            </a:pPr>
            <a:r>
              <a:rPr lang="en-US" sz="1150" dirty="0">
                <a:solidFill>
                  <a:srgbClr val="97BC62"/>
                </a:solidFill>
              </a:rPr>
              <a:t>94414 88911</a:t>
            </a:r>
            <a:endParaRPr lang="en-US" sz="1150" dirty="0"/>
          </a:p>
          <a:p>
            <a:pPr algn="r" indent="0" marL="0">
              <a:lnSpc>
                <a:spcPct val="122000"/>
              </a:lnSpc>
              <a:buNone/>
            </a:pPr>
            <a:r>
              <a:rPr lang="en-US" sz="1150" b="1" dirty="0">
                <a:solidFill>
                  <a:srgbClr val="FFFFFF"/>
                </a:solidFill>
              </a:rPr>
              <a:t>Gandra Hemanth Kumar</a:t>
            </a:r>
            <a:pPr algn="r" indent="0" marL="0">
              <a:lnSpc>
                <a:spcPct val="122000"/>
              </a:lnSpc>
              <a:buNone/>
            </a:pPr>
            <a:r>
              <a:rPr lang="en-US" sz="1150" dirty="0">
                <a:solidFill>
                  <a:srgbClr val="6E7F6E"/>
                </a:solidFill>
              </a:rPr>
              <a:t>   ·   </a:t>
            </a:r>
            <a:pPr algn="r" indent="0" marL="0">
              <a:lnSpc>
                <a:spcPct val="122000"/>
              </a:lnSpc>
              <a:buNone/>
            </a:pPr>
            <a:r>
              <a:rPr lang="en-US" sz="1150" dirty="0">
                <a:solidFill>
                  <a:srgbClr val="97BC62"/>
                </a:solidFill>
              </a:rPr>
              <a:t>97055 41348</a:t>
            </a:r>
            <a:endParaRPr lang="en-US" sz="1150" dirty="0"/>
          </a:p>
          <a:p>
            <a:pPr algn="r" indent="0" marL="0">
              <a:lnSpc>
                <a:spcPct val="122000"/>
              </a:lnSpc>
              <a:buNone/>
            </a:pPr>
            <a:r>
              <a:rPr lang="en-US" sz="1150" b="1" dirty="0">
                <a:solidFill>
                  <a:srgbClr val="FFFFFF"/>
                </a:solidFill>
              </a:rPr>
              <a:t>Sangu Sai Bhargav</a:t>
            </a:r>
            <a:pPr algn="r" indent="0" marL="0">
              <a:lnSpc>
                <a:spcPct val="122000"/>
              </a:lnSpc>
              <a:buNone/>
            </a:pPr>
            <a:r>
              <a:rPr lang="en-US" sz="1150" dirty="0">
                <a:solidFill>
                  <a:srgbClr val="6E7F6E"/>
                </a:solidFill>
              </a:rPr>
              <a:t>   ·   </a:t>
            </a:r>
            <a:pPr algn="r" indent="0" marL="0">
              <a:lnSpc>
                <a:spcPct val="122000"/>
              </a:lnSpc>
              <a:buNone/>
            </a:pPr>
            <a:r>
              <a:rPr lang="en-US" sz="1150" dirty="0">
                <a:solidFill>
                  <a:srgbClr val="97BC62"/>
                </a:solidFill>
              </a:rPr>
              <a:t>90145 51801</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THE PROBLEM</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A vendor's reach ends at their own footpath</a:t>
            </a:r>
            <a:endParaRPr lang="en-US" sz="3200" dirty="0"/>
          </a:p>
        </p:txBody>
      </p:sp>
      <p:sp>
        <p:nvSpPr>
          <p:cNvPr id="4" name="problem-card-1"/>
          <p:cNvSpPr/>
          <p:nvPr/>
        </p:nvSpPr>
        <p:spPr>
          <a:xfrm>
            <a:off x="640080" y="1426464"/>
            <a:ext cx="10881360" cy="1298448"/>
          </a:xfrm>
          <a:prstGeom prst="roundRect">
            <a:avLst>
              <a:gd name="adj" fmla="val 2817"/>
            </a:avLst>
          </a:prstGeom>
          <a:solidFill>
            <a:schemeClr val="bg2"/>
          </a:solidFill>
          <a:ln/>
          <a:effectLst>
            <a:outerShdw sx="100000" sy="100000" kx="0" ky="0" algn="bl" rotWithShape="0" blurRad="127000" dist="25400" dir="5400000">
              <a:srgbClr val="16301A">
                <a:alpha val="10000"/>
              </a:srgbClr>
            </a:outerShdw>
          </a:effectLst>
        </p:spPr>
      </p:sp>
      <p:sp>
        <p:nvSpPr>
          <p:cNvPr id="5" name="problem-badge-1"/>
          <p:cNvSpPr/>
          <p:nvPr/>
        </p:nvSpPr>
        <p:spPr>
          <a:xfrm>
            <a:off x="1024128" y="1837944"/>
            <a:ext cx="475488" cy="475488"/>
          </a:xfrm>
          <a:prstGeom prst="ellipse">
            <a:avLst/>
          </a:prstGeom>
          <a:solidFill>
            <a:srgbClr val="2C5F2D"/>
          </a:solidFill>
          <a:ln/>
        </p:spPr>
      </p:sp>
      <p:sp>
        <p:nvSpPr>
          <p:cNvPr id="6" name="Text 4"/>
          <p:cNvSpPr txBox="1"/>
          <p:nvPr/>
        </p:nvSpPr>
        <p:spPr>
          <a:xfrm>
            <a:off x="1024128" y="1837944"/>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719072" y="1609344"/>
            <a:ext cx="9326880" cy="365760"/>
          </a:xfrm>
          <a:prstGeom prst="rect">
            <a:avLst/>
          </a:prstGeom>
          <a:noFill/>
          <a:ln/>
        </p:spPr>
        <p:txBody>
          <a:bodyPr wrap="square" lIns="0" tIns="0" rIns="0" bIns="0" rtlCol="0" anchor="ctr"/>
          <a:lstStyle/>
          <a:p>
            <a:pPr algn="l" indent="0" marL="0">
              <a:buNone/>
            </a:pPr>
            <a:r>
              <a:rPr lang="en-US" sz="1800" b="1" dirty="0">
                <a:solidFill>
                  <a:schemeClr val="tx1"/>
                </a:solidFill>
              </a:rPr>
              <a:t>Reach ends at the stall</a:t>
            </a:r>
            <a:endParaRPr lang="en-US" sz="1800" dirty="0"/>
          </a:p>
        </p:txBody>
      </p:sp>
      <p:sp>
        <p:nvSpPr>
          <p:cNvPr id="8" name="Text 6"/>
          <p:cNvSpPr txBox="1"/>
          <p:nvPr/>
        </p:nvSpPr>
        <p:spPr>
          <a:xfrm>
            <a:off x="1719072" y="1975104"/>
            <a:ext cx="9326880" cy="603504"/>
          </a:xfrm>
          <a:prstGeom prst="rect">
            <a:avLst/>
          </a:prstGeom>
          <a:noFill/>
          <a:ln/>
        </p:spPr>
        <p:txBody>
          <a:bodyPr wrap="square" lIns="0" tIns="0" rIns="0" bIns="0" rtlCol="0" anchor="t"/>
          <a:lstStyle/>
          <a:p>
            <a:pPr algn="l" indent="0" marL="0">
              <a:buNone/>
            </a:pPr>
            <a:r>
              <a:rPr lang="en-US" sz="1350" dirty="0">
                <a:solidFill>
                  <a:srgbClr val="6E7F6E"/>
                </a:solidFill>
              </a:rPr>
              <a:t>A vendor sells to whoever physically walks past, in the few hours the market is open. Their customer base is a stretch of pavement.</a:t>
            </a:r>
            <a:endParaRPr lang="en-US" sz="1350" dirty="0"/>
          </a:p>
        </p:txBody>
      </p:sp>
      <p:sp>
        <p:nvSpPr>
          <p:cNvPr id="9" name="problem-card-2"/>
          <p:cNvSpPr/>
          <p:nvPr/>
        </p:nvSpPr>
        <p:spPr>
          <a:xfrm>
            <a:off x="640080" y="2889504"/>
            <a:ext cx="10881360" cy="1298448"/>
          </a:xfrm>
          <a:prstGeom prst="roundRect">
            <a:avLst>
              <a:gd name="adj" fmla="val 2817"/>
            </a:avLst>
          </a:prstGeom>
          <a:solidFill>
            <a:schemeClr val="bg2"/>
          </a:solidFill>
          <a:ln/>
          <a:effectLst>
            <a:outerShdw sx="100000" sy="100000" kx="0" ky="0" algn="bl" rotWithShape="0" blurRad="127000" dist="25400" dir="5400000">
              <a:srgbClr val="16301A">
                <a:alpha val="10000"/>
              </a:srgbClr>
            </a:outerShdw>
          </a:effectLst>
        </p:spPr>
      </p:sp>
      <p:sp>
        <p:nvSpPr>
          <p:cNvPr id="10" name="problem-badge-2"/>
          <p:cNvSpPr/>
          <p:nvPr/>
        </p:nvSpPr>
        <p:spPr>
          <a:xfrm>
            <a:off x="1024128" y="3300984"/>
            <a:ext cx="475488" cy="475488"/>
          </a:xfrm>
          <a:prstGeom prst="ellipse">
            <a:avLst/>
          </a:prstGeom>
          <a:solidFill>
            <a:srgbClr val="D2601A"/>
          </a:solidFill>
          <a:ln/>
        </p:spPr>
      </p:sp>
      <p:sp>
        <p:nvSpPr>
          <p:cNvPr id="11" name="Text 9"/>
          <p:cNvSpPr txBox="1"/>
          <p:nvPr/>
        </p:nvSpPr>
        <p:spPr>
          <a:xfrm>
            <a:off x="1024128" y="3300984"/>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719072" y="3072384"/>
            <a:ext cx="9326880" cy="365760"/>
          </a:xfrm>
          <a:prstGeom prst="rect">
            <a:avLst/>
          </a:prstGeom>
          <a:noFill/>
          <a:ln/>
        </p:spPr>
        <p:txBody>
          <a:bodyPr wrap="square" lIns="0" tIns="0" rIns="0" bIns="0" rtlCol="0" anchor="ctr"/>
          <a:lstStyle/>
          <a:p>
            <a:pPr algn="l" indent="0" marL="0">
              <a:buNone/>
            </a:pPr>
            <a:r>
              <a:rPr lang="en-US" sz="1800" b="1" dirty="0">
                <a:solidFill>
                  <a:schemeClr val="tx1"/>
                </a:solidFill>
              </a:rPr>
              <a:t>Unsold produce is a same-day loss</a:t>
            </a:r>
            <a:endParaRPr lang="en-US" sz="1800" dirty="0"/>
          </a:p>
        </p:txBody>
      </p:sp>
      <p:sp>
        <p:nvSpPr>
          <p:cNvPr id="13" name="Text 11"/>
          <p:cNvSpPr txBox="1"/>
          <p:nvPr/>
        </p:nvSpPr>
        <p:spPr>
          <a:xfrm>
            <a:off x="1719072" y="3438144"/>
            <a:ext cx="9326880" cy="603504"/>
          </a:xfrm>
          <a:prstGeom prst="rect">
            <a:avLst/>
          </a:prstGeom>
          <a:noFill/>
          <a:ln/>
        </p:spPr>
        <p:txBody>
          <a:bodyPr wrap="square" lIns="0" tIns="0" rIns="0" bIns="0" rtlCol="0" anchor="t"/>
          <a:lstStyle/>
          <a:p>
            <a:pPr algn="l" indent="0" marL="0">
              <a:buNone/>
            </a:pPr>
            <a:r>
              <a:rPr lang="en-US" sz="1350" dirty="0">
                <a:solidFill>
                  <a:srgbClr val="6E7F6E"/>
                </a:solidFill>
              </a:rPr>
              <a:t>Vegetables are not inventory, they are a clock. What does not sell by closing is written off, by the person who can least afford it.</a:t>
            </a:r>
            <a:endParaRPr lang="en-US" sz="1350" dirty="0"/>
          </a:p>
        </p:txBody>
      </p:sp>
      <p:sp>
        <p:nvSpPr>
          <p:cNvPr id="14" name="problem-card-3"/>
          <p:cNvSpPr/>
          <p:nvPr/>
        </p:nvSpPr>
        <p:spPr>
          <a:xfrm>
            <a:off x="640080" y="4352544"/>
            <a:ext cx="10881360" cy="1298448"/>
          </a:xfrm>
          <a:prstGeom prst="roundRect">
            <a:avLst>
              <a:gd name="adj" fmla="val 2817"/>
            </a:avLst>
          </a:prstGeom>
          <a:solidFill>
            <a:schemeClr val="bg2"/>
          </a:solidFill>
          <a:ln/>
          <a:effectLst>
            <a:outerShdw sx="100000" sy="100000" kx="0" ky="0" algn="bl" rotWithShape="0" blurRad="127000" dist="25400" dir="5400000">
              <a:srgbClr val="16301A">
                <a:alpha val="10000"/>
              </a:srgbClr>
            </a:outerShdw>
          </a:effectLst>
        </p:spPr>
      </p:sp>
      <p:sp>
        <p:nvSpPr>
          <p:cNvPr id="15" name="problem-badge-3"/>
          <p:cNvSpPr/>
          <p:nvPr/>
        </p:nvSpPr>
        <p:spPr>
          <a:xfrm>
            <a:off x="1024128" y="4764024"/>
            <a:ext cx="475488" cy="475488"/>
          </a:xfrm>
          <a:prstGeom prst="ellipse">
            <a:avLst/>
          </a:prstGeom>
          <a:solidFill>
            <a:srgbClr val="4E7A68"/>
          </a:solidFill>
          <a:ln/>
        </p:spPr>
      </p:sp>
      <p:sp>
        <p:nvSpPr>
          <p:cNvPr id="16" name="Text 14"/>
          <p:cNvSpPr txBox="1"/>
          <p:nvPr/>
        </p:nvSpPr>
        <p:spPr>
          <a:xfrm>
            <a:off x="1024128" y="4764024"/>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719072" y="4535424"/>
            <a:ext cx="9326880" cy="365760"/>
          </a:xfrm>
          <a:prstGeom prst="rect">
            <a:avLst/>
          </a:prstGeom>
          <a:noFill/>
          <a:ln/>
        </p:spPr>
        <p:txBody>
          <a:bodyPr wrap="square" lIns="0" tIns="0" rIns="0" bIns="0" rtlCol="0" anchor="ctr"/>
          <a:lstStyle/>
          <a:p>
            <a:pPr algn="l" indent="0" marL="0">
              <a:buNone/>
            </a:pPr>
            <a:r>
              <a:rPr lang="en-US" sz="1800" b="1" dirty="0">
                <a:solidFill>
                  <a:schemeClr val="tx1"/>
                </a:solidFill>
              </a:rPr>
              <a:t>National delivery apps do not come here</a:t>
            </a:r>
            <a:endParaRPr lang="en-US" sz="1800" dirty="0"/>
          </a:p>
        </p:txBody>
      </p:sp>
      <p:sp>
        <p:nvSpPr>
          <p:cNvPr id="18" name="Text 16"/>
          <p:cNvSpPr txBox="1"/>
          <p:nvPr/>
        </p:nvSpPr>
        <p:spPr>
          <a:xfrm>
            <a:off x="1719072" y="4901184"/>
            <a:ext cx="9326880" cy="603504"/>
          </a:xfrm>
          <a:prstGeom prst="rect">
            <a:avLst/>
          </a:prstGeom>
          <a:noFill/>
          <a:ln/>
        </p:spPr>
        <p:txBody>
          <a:bodyPr wrap="square" lIns="0" tIns="0" rIns="0" bIns="0" rtlCol="0" anchor="t"/>
          <a:lstStyle/>
          <a:p>
            <a:pPr algn="l" indent="0" marL="0">
              <a:buNone/>
            </a:pPr>
            <a:r>
              <a:rPr lang="en-US" sz="1350" dirty="0">
                <a:solidFill>
                  <a:srgbClr val="6E7F6E"/>
                </a:solidFill>
              </a:rPr>
              <a:t>They list warehouses and modern retail. A market stall has no warehouse and no fixed SKU list, so it is on no app a household already has.</a:t>
            </a:r>
            <a:endParaRPr lang="en-US" sz="1350" dirty="0"/>
          </a:p>
        </p:txBody>
      </p:sp>
      <p:sp>
        <p:nvSpPr>
          <p:cNvPr id="19" name="Text 17"/>
          <p:cNvSpPr txBox="1"/>
          <p:nvPr/>
        </p:nvSpPr>
        <p:spPr>
          <a:xfrm>
            <a:off x="640080" y="5797296"/>
            <a:ext cx="10881360" cy="329184"/>
          </a:xfrm>
          <a:prstGeom prst="rect">
            <a:avLst/>
          </a:prstGeom>
          <a:noFill/>
          <a:ln/>
        </p:spPr>
        <p:txBody>
          <a:bodyPr wrap="square" lIns="0" tIns="0" rIns="0" bIns="0" rtlCol="0" anchor="ctr"/>
          <a:lstStyle/>
          <a:p>
            <a:pPr algn="l" indent="0" marL="0">
              <a:buNone/>
            </a:pPr>
            <a:r>
              <a:rPr lang="en-US" sz="1400" b="1" i="1" dirty="0">
                <a:solidFill>
                  <a:srgbClr val="2C5F2D"/>
                </a:solidFill>
              </a:rPr>
              <a:t>None of this is a problem the vendor can solve with a better phone. It is a missing layer.</a:t>
            </a:r>
            <a:endParaRPr lang="en-US" sz="14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WHY ANDHRA PRADESH</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The state already built three of the four layers</a:t>
            </a:r>
            <a:endParaRPr lang="en-US" sz="3200" dirty="0"/>
          </a:p>
        </p:txBody>
      </p:sp>
      <p:sp>
        <p:nvSpPr>
          <p:cNvPr id="4" name="layer-card-1"/>
          <p:cNvSpPr/>
          <p:nvPr/>
        </p:nvSpPr>
        <p:spPr>
          <a:xfrm>
            <a:off x="640080" y="1389888"/>
            <a:ext cx="2411730" cy="3712464"/>
          </a:xfrm>
          <a:prstGeom prst="roundRect">
            <a:avLst>
              <a:gd name="adj" fmla="val 1517"/>
            </a:avLst>
          </a:prstGeom>
          <a:solidFill>
            <a:schemeClr val="bg1"/>
          </a:solidFill>
          <a:ln/>
          <a:effectLst>
            <a:outerShdw sx="100000" sy="100000" kx="0" ky="0" algn="bl" rotWithShape="0" blurRad="127000" dist="25400" dir="5400000">
              <a:srgbClr val="16301A">
                <a:alpha val="10000"/>
              </a:srgbClr>
            </a:outerShdw>
          </a:effectLst>
        </p:spPr>
      </p:sp>
      <p:sp>
        <p:nvSpPr>
          <p:cNvPr id="5" name="layer-badge-1"/>
          <p:cNvSpPr/>
          <p:nvPr/>
        </p:nvSpPr>
        <p:spPr>
          <a:xfrm>
            <a:off x="914400" y="1645920"/>
            <a:ext cx="548640" cy="548640"/>
          </a:xfrm>
          <a:prstGeom prst="ellipse">
            <a:avLst/>
          </a:prstGeom>
          <a:solidFill>
            <a:srgbClr val="2C5F2D"/>
          </a:solidFill>
          <a:ln/>
        </p:spPr>
      </p:sp>
      <p:sp>
        <p:nvSpPr>
          <p:cNvPr id="6" name="Text 4"/>
          <p:cNvSpPr txBox="1"/>
          <p:nvPr/>
        </p:nvSpPr>
        <p:spPr>
          <a:xfrm>
            <a:off x="91440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7" name="Text 5"/>
          <p:cNvSpPr txBox="1"/>
          <p:nvPr/>
        </p:nvSpPr>
        <p:spPr>
          <a:xfrm>
            <a:off x="914400" y="2340864"/>
            <a:ext cx="1863090" cy="548640"/>
          </a:xfrm>
          <a:prstGeom prst="rect">
            <a:avLst/>
          </a:prstGeom>
          <a:noFill/>
          <a:ln/>
        </p:spPr>
        <p:txBody>
          <a:bodyPr wrap="square" lIns="0" tIns="0" rIns="0" bIns="0" rtlCol="0" anchor="t"/>
          <a:lstStyle/>
          <a:p>
            <a:pPr algn="l" indent="0" marL="0">
              <a:buNone/>
            </a:pPr>
            <a:r>
              <a:rPr lang="en-US" sz="1600" b="1" dirty="0">
                <a:solidFill>
                  <a:schemeClr val="tx1"/>
                </a:solidFill>
              </a:rPr>
              <a:t>The markets</a:t>
            </a:r>
            <a:endParaRPr lang="en-US" sz="1600" dirty="0"/>
          </a:p>
        </p:txBody>
      </p:sp>
      <p:sp>
        <p:nvSpPr>
          <p:cNvPr id="8" name="Text 6"/>
          <p:cNvSpPr txBox="1"/>
          <p:nvPr/>
        </p:nvSpPr>
        <p:spPr>
          <a:xfrm>
            <a:off x="914400" y="2926080"/>
            <a:ext cx="1863090" cy="1572768"/>
          </a:xfrm>
          <a:prstGeom prst="rect">
            <a:avLst/>
          </a:prstGeom>
          <a:noFill/>
          <a:ln/>
        </p:spPr>
        <p:txBody>
          <a:bodyPr wrap="square" lIns="0" tIns="0" rIns="0" bIns="0" rtlCol="0" anchor="t"/>
          <a:lstStyle/>
          <a:p>
            <a:pPr algn="l" indent="0" marL="0">
              <a:buNone/>
            </a:pPr>
            <a:r>
              <a:rPr lang="en-US" sz="1200" dirty="0">
                <a:solidFill>
                  <a:srgbClr val="6E7F6E"/>
                </a:solidFill>
              </a:rPr>
              <a:t>Rythu Bazaars have run since 1999 as state-backed farmer-to-consumer markets under market committees. The trust and the network already exist.</a:t>
            </a:r>
            <a:endParaRPr lang="en-US" sz="1200" dirty="0"/>
          </a:p>
        </p:txBody>
      </p:sp>
      <p:sp>
        <p:nvSpPr>
          <p:cNvPr id="9" name="Text 7"/>
          <p:cNvSpPr txBox="1"/>
          <p:nvPr/>
        </p:nvSpPr>
        <p:spPr>
          <a:xfrm>
            <a:off x="914400" y="4645152"/>
            <a:ext cx="1863090" cy="274320"/>
          </a:xfrm>
          <a:prstGeom prst="rect">
            <a:avLst/>
          </a:prstGeom>
          <a:noFill/>
          <a:ln/>
        </p:spPr>
        <p:txBody>
          <a:bodyPr wrap="square" lIns="0" tIns="0" rIns="0" bIns="0" rtlCol="0" anchor="ctr"/>
          <a:lstStyle/>
          <a:p>
            <a:pPr algn="l" indent="0" marL="0">
              <a:buNone/>
            </a:pPr>
            <a:r>
              <a:rPr lang="en-US" sz="1000" b="1" spc="160" kern="0" dirty="0">
                <a:solidFill>
                  <a:srgbClr val="2C5F2D"/>
                </a:solidFill>
              </a:rPr>
              <a:t>IN PLACE</a:t>
            </a:r>
            <a:endParaRPr lang="en-US" sz="1000" dirty="0"/>
          </a:p>
        </p:txBody>
      </p:sp>
      <p:sp>
        <p:nvSpPr>
          <p:cNvPr id="10" name="layer-card-2"/>
          <p:cNvSpPr/>
          <p:nvPr/>
        </p:nvSpPr>
        <p:spPr>
          <a:xfrm>
            <a:off x="3463290" y="1389888"/>
            <a:ext cx="2411730" cy="3712464"/>
          </a:xfrm>
          <a:prstGeom prst="roundRect">
            <a:avLst>
              <a:gd name="adj" fmla="val 1517"/>
            </a:avLst>
          </a:prstGeom>
          <a:solidFill>
            <a:schemeClr val="bg1"/>
          </a:solidFill>
          <a:ln/>
          <a:effectLst>
            <a:outerShdw sx="100000" sy="100000" kx="0" ky="0" algn="bl" rotWithShape="0" blurRad="127000" dist="25400" dir="5400000">
              <a:srgbClr val="16301A">
                <a:alpha val="10000"/>
              </a:srgbClr>
            </a:outerShdw>
          </a:effectLst>
        </p:spPr>
      </p:sp>
      <p:sp>
        <p:nvSpPr>
          <p:cNvPr id="11" name="layer-badge-2"/>
          <p:cNvSpPr/>
          <p:nvPr/>
        </p:nvSpPr>
        <p:spPr>
          <a:xfrm>
            <a:off x="3737610" y="1645920"/>
            <a:ext cx="548640" cy="548640"/>
          </a:xfrm>
          <a:prstGeom prst="ellipse">
            <a:avLst/>
          </a:prstGeom>
          <a:solidFill>
            <a:srgbClr val="2C5F2D"/>
          </a:solidFill>
          <a:ln/>
        </p:spPr>
      </p:sp>
      <p:sp>
        <p:nvSpPr>
          <p:cNvPr id="12" name="Text 10"/>
          <p:cNvSpPr txBox="1"/>
          <p:nvPr/>
        </p:nvSpPr>
        <p:spPr>
          <a:xfrm>
            <a:off x="373761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3" name="Text 11"/>
          <p:cNvSpPr txBox="1"/>
          <p:nvPr/>
        </p:nvSpPr>
        <p:spPr>
          <a:xfrm>
            <a:off x="3737610" y="2340864"/>
            <a:ext cx="1863090" cy="548640"/>
          </a:xfrm>
          <a:prstGeom prst="rect">
            <a:avLst/>
          </a:prstGeom>
          <a:noFill/>
          <a:ln/>
        </p:spPr>
        <p:txBody>
          <a:bodyPr wrap="square" lIns="0" tIns="0" rIns="0" bIns="0" rtlCol="0" anchor="t"/>
          <a:lstStyle/>
          <a:p>
            <a:pPr algn="l" indent="0" marL="0">
              <a:buNone/>
            </a:pPr>
            <a:r>
              <a:rPr lang="en-US" sz="1600" b="1" dirty="0">
                <a:solidFill>
                  <a:schemeClr val="tx1"/>
                </a:solidFill>
              </a:rPr>
              <a:t>Digital marketplace</a:t>
            </a:r>
            <a:endParaRPr lang="en-US" sz="1600" dirty="0"/>
          </a:p>
        </p:txBody>
      </p:sp>
      <p:sp>
        <p:nvSpPr>
          <p:cNvPr id="14" name="Text 12"/>
          <p:cNvSpPr txBox="1"/>
          <p:nvPr/>
        </p:nvSpPr>
        <p:spPr>
          <a:xfrm>
            <a:off x="3737610" y="2926080"/>
            <a:ext cx="1863090" cy="1572768"/>
          </a:xfrm>
          <a:prstGeom prst="rect">
            <a:avLst/>
          </a:prstGeom>
          <a:noFill/>
          <a:ln/>
        </p:spPr>
        <p:txBody>
          <a:bodyPr wrap="square" lIns="0" tIns="0" rIns="0" bIns="0" rtlCol="0" anchor="t"/>
          <a:lstStyle/>
          <a:p>
            <a:pPr algn="l" indent="0" marL="0">
              <a:buNone/>
            </a:pPr>
            <a:r>
              <a:rPr lang="en-US" sz="1200" dirty="0">
                <a:solidFill>
                  <a:srgbClr val="6E7F6E"/>
                </a:solidFill>
              </a:rPr>
              <a:t>e-Rythu, built with Mastercard, digitised agri marketplace listings, payments and workflows for farmers and FPOs across the state.</a:t>
            </a:r>
            <a:endParaRPr lang="en-US" sz="1200" dirty="0"/>
          </a:p>
        </p:txBody>
      </p:sp>
      <p:sp>
        <p:nvSpPr>
          <p:cNvPr id="15" name="Text 13"/>
          <p:cNvSpPr txBox="1"/>
          <p:nvPr/>
        </p:nvSpPr>
        <p:spPr>
          <a:xfrm>
            <a:off x="3737610" y="4645152"/>
            <a:ext cx="1863090" cy="274320"/>
          </a:xfrm>
          <a:prstGeom prst="rect">
            <a:avLst/>
          </a:prstGeom>
          <a:noFill/>
          <a:ln/>
        </p:spPr>
        <p:txBody>
          <a:bodyPr wrap="square" lIns="0" tIns="0" rIns="0" bIns="0" rtlCol="0" anchor="ctr"/>
          <a:lstStyle/>
          <a:p>
            <a:pPr algn="l" indent="0" marL="0">
              <a:buNone/>
            </a:pPr>
            <a:r>
              <a:rPr lang="en-US" sz="1000" b="1" spc="160" kern="0" dirty="0">
                <a:solidFill>
                  <a:srgbClr val="2C5F2D"/>
                </a:solidFill>
              </a:rPr>
              <a:t>IN PLACE</a:t>
            </a:r>
            <a:endParaRPr lang="en-US" sz="1000" dirty="0"/>
          </a:p>
        </p:txBody>
      </p:sp>
      <p:sp>
        <p:nvSpPr>
          <p:cNvPr id="16" name="layer-card-3"/>
          <p:cNvSpPr/>
          <p:nvPr/>
        </p:nvSpPr>
        <p:spPr>
          <a:xfrm>
            <a:off x="6286500" y="1389888"/>
            <a:ext cx="2411730" cy="3712464"/>
          </a:xfrm>
          <a:prstGeom prst="roundRect">
            <a:avLst>
              <a:gd name="adj" fmla="val 1517"/>
            </a:avLst>
          </a:prstGeom>
          <a:solidFill>
            <a:schemeClr val="bg1"/>
          </a:solidFill>
          <a:ln/>
          <a:effectLst>
            <a:outerShdw sx="100000" sy="100000" kx="0" ky="0" algn="bl" rotWithShape="0" blurRad="127000" dist="25400" dir="5400000">
              <a:srgbClr val="16301A">
                <a:alpha val="10000"/>
              </a:srgbClr>
            </a:outerShdw>
          </a:effectLst>
        </p:spPr>
      </p:sp>
      <p:sp>
        <p:nvSpPr>
          <p:cNvPr id="17" name="layer-badge-3"/>
          <p:cNvSpPr/>
          <p:nvPr/>
        </p:nvSpPr>
        <p:spPr>
          <a:xfrm>
            <a:off x="6560820" y="1645920"/>
            <a:ext cx="548640" cy="548640"/>
          </a:xfrm>
          <a:prstGeom prst="ellipse">
            <a:avLst/>
          </a:prstGeom>
          <a:solidFill>
            <a:srgbClr val="2C5F2D"/>
          </a:solidFill>
          <a:ln/>
        </p:spPr>
      </p:sp>
      <p:sp>
        <p:nvSpPr>
          <p:cNvPr id="18" name="Text 16"/>
          <p:cNvSpPr txBox="1"/>
          <p:nvPr/>
        </p:nvSpPr>
        <p:spPr>
          <a:xfrm>
            <a:off x="656082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9" name="Text 17"/>
          <p:cNvSpPr txBox="1"/>
          <p:nvPr/>
        </p:nvSpPr>
        <p:spPr>
          <a:xfrm>
            <a:off x="6560820" y="2340864"/>
            <a:ext cx="1863090" cy="548640"/>
          </a:xfrm>
          <a:prstGeom prst="rect">
            <a:avLst/>
          </a:prstGeom>
          <a:noFill/>
          <a:ln/>
        </p:spPr>
        <p:txBody>
          <a:bodyPr wrap="square" lIns="0" tIns="0" rIns="0" bIns="0" rtlCol="0" anchor="t"/>
          <a:lstStyle/>
          <a:p>
            <a:pPr algn="l" indent="0" marL="0">
              <a:buNone/>
            </a:pPr>
            <a:r>
              <a:rPr lang="en-US" sz="1600" b="1" dirty="0">
                <a:solidFill>
                  <a:schemeClr val="tx1"/>
                </a:solidFill>
              </a:rPr>
              <a:t>Farmer touchpoints</a:t>
            </a:r>
            <a:endParaRPr lang="en-US" sz="1600" dirty="0"/>
          </a:p>
        </p:txBody>
      </p:sp>
      <p:sp>
        <p:nvSpPr>
          <p:cNvPr id="20" name="Text 18"/>
          <p:cNvSpPr txBox="1"/>
          <p:nvPr/>
        </p:nvSpPr>
        <p:spPr>
          <a:xfrm>
            <a:off x="6560820" y="2926080"/>
            <a:ext cx="1863090" cy="1572768"/>
          </a:xfrm>
          <a:prstGeom prst="rect">
            <a:avLst/>
          </a:prstGeom>
          <a:noFill/>
          <a:ln/>
        </p:spPr>
        <p:txBody>
          <a:bodyPr wrap="square" lIns="0" tIns="0" rIns="0" bIns="0" rtlCol="0" anchor="t"/>
          <a:lstStyle/>
          <a:p>
            <a:pPr algn="l" indent="0" marL="0">
              <a:buNone/>
            </a:pPr>
            <a:r>
              <a:rPr lang="en-US" sz="1200" dirty="0">
                <a:solidFill>
                  <a:srgbClr val="6E7F6E"/>
                </a:solidFill>
              </a:rPr>
              <a:t>Rythu Bharosa Kendras and e-Farmarket already connect growers to traders at the village level.</a:t>
            </a:r>
            <a:endParaRPr lang="en-US" sz="1200" dirty="0"/>
          </a:p>
        </p:txBody>
      </p:sp>
      <p:sp>
        <p:nvSpPr>
          <p:cNvPr id="21" name="Text 19"/>
          <p:cNvSpPr txBox="1"/>
          <p:nvPr/>
        </p:nvSpPr>
        <p:spPr>
          <a:xfrm>
            <a:off x="6560820" y="4645152"/>
            <a:ext cx="1863090" cy="274320"/>
          </a:xfrm>
          <a:prstGeom prst="rect">
            <a:avLst/>
          </a:prstGeom>
          <a:noFill/>
          <a:ln/>
        </p:spPr>
        <p:txBody>
          <a:bodyPr wrap="square" lIns="0" tIns="0" rIns="0" bIns="0" rtlCol="0" anchor="ctr"/>
          <a:lstStyle/>
          <a:p>
            <a:pPr algn="l" indent="0" marL="0">
              <a:buNone/>
            </a:pPr>
            <a:r>
              <a:rPr lang="en-US" sz="1000" b="1" spc="160" kern="0" dirty="0">
                <a:solidFill>
                  <a:srgbClr val="2C5F2D"/>
                </a:solidFill>
              </a:rPr>
              <a:t>IN PLACE</a:t>
            </a:r>
            <a:endParaRPr lang="en-US" sz="1000" dirty="0"/>
          </a:p>
        </p:txBody>
      </p:sp>
      <p:sp>
        <p:nvSpPr>
          <p:cNvPr id="22" name="layer-card-4"/>
          <p:cNvSpPr/>
          <p:nvPr/>
        </p:nvSpPr>
        <p:spPr>
          <a:xfrm>
            <a:off x="9109710" y="1389888"/>
            <a:ext cx="2411730" cy="3712464"/>
          </a:xfrm>
          <a:prstGeom prst="roundRect">
            <a:avLst>
              <a:gd name="adj" fmla="val 1517"/>
            </a:avLst>
          </a:prstGeom>
          <a:solidFill>
            <a:schemeClr val="bg1"/>
          </a:solidFill>
          <a:ln w="9525">
            <a:solidFill>
              <a:srgbClr val="D2601A"/>
            </a:solidFill>
            <a:prstDash val="solid"/>
          </a:ln>
          <a:effectLst>
            <a:outerShdw sx="100000" sy="100000" kx="0" ky="0" algn="bl" rotWithShape="0" blurRad="127000" dist="25400" dir="5400000">
              <a:srgbClr val="16301A">
                <a:alpha val="10000"/>
              </a:srgbClr>
            </a:outerShdw>
          </a:effectLst>
        </p:spPr>
      </p:sp>
      <p:sp>
        <p:nvSpPr>
          <p:cNvPr id="23" name="layer-badge-4"/>
          <p:cNvSpPr/>
          <p:nvPr/>
        </p:nvSpPr>
        <p:spPr>
          <a:xfrm>
            <a:off x="9384030" y="1645920"/>
            <a:ext cx="548640" cy="548640"/>
          </a:xfrm>
          <a:prstGeom prst="ellipse">
            <a:avLst/>
          </a:prstGeom>
          <a:solidFill>
            <a:srgbClr val="D2601A"/>
          </a:solidFill>
          <a:ln/>
        </p:spPr>
      </p:sp>
      <p:sp>
        <p:nvSpPr>
          <p:cNvPr id="24" name="Text 22"/>
          <p:cNvSpPr txBox="1"/>
          <p:nvPr/>
        </p:nvSpPr>
        <p:spPr>
          <a:xfrm>
            <a:off x="938403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25" name="Text 23"/>
          <p:cNvSpPr txBox="1"/>
          <p:nvPr/>
        </p:nvSpPr>
        <p:spPr>
          <a:xfrm>
            <a:off x="9384030" y="2340864"/>
            <a:ext cx="1863090" cy="548640"/>
          </a:xfrm>
          <a:prstGeom prst="rect">
            <a:avLst/>
          </a:prstGeom>
          <a:noFill/>
          <a:ln/>
        </p:spPr>
        <p:txBody>
          <a:bodyPr wrap="square" lIns="0" tIns="0" rIns="0" bIns="0" rtlCol="0" anchor="t"/>
          <a:lstStyle/>
          <a:p>
            <a:pPr algn="l" indent="0" marL="0">
              <a:buNone/>
            </a:pPr>
            <a:r>
              <a:rPr lang="en-US" sz="1600" b="1" dirty="0">
                <a:solidFill>
                  <a:schemeClr val="tx1"/>
                </a:solidFill>
              </a:rPr>
              <a:t>Household last mile</a:t>
            </a:r>
            <a:endParaRPr lang="en-US" sz="1600" dirty="0"/>
          </a:p>
        </p:txBody>
      </p:sp>
      <p:sp>
        <p:nvSpPr>
          <p:cNvPr id="26" name="Text 24"/>
          <p:cNvSpPr txBox="1"/>
          <p:nvPr/>
        </p:nvSpPr>
        <p:spPr>
          <a:xfrm>
            <a:off x="9384030" y="2926080"/>
            <a:ext cx="1863090" cy="1572768"/>
          </a:xfrm>
          <a:prstGeom prst="rect">
            <a:avLst/>
          </a:prstGeom>
          <a:noFill/>
          <a:ln/>
        </p:spPr>
        <p:txBody>
          <a:bodyPr wrap="square" lIns="0" tIns="0" rIns="0" bIns="0" rtlCol="0" anchor="t"/>
          <a:lstStyle/>
          <a:p>
            <a:pPr algn="l" indent="0" marL="0">
              <a:buNone/>
            </a:pPr>
            <a:r>
              <a:rPr lang="en-US" sz="1200" dirty="0">
                <a:solidFill>
                  <a:srgbClr val="6E7F6E"/>
                </a:solidFill>
              </a:rPr>
              <a:t>No app a family orders a kilo of tomatoes from, and no rider who carries it from the stall to the door. This is the gap.</a:t>
            </a:r>
            <a:endParaRPr lang="en-US" sz="1200" dirty="0"/>
          </a:p>
        </p:txBody>
      </p:sp>
      <p:sp>
        <p:nvSpPr>
          <p:cNvPr id="27" name="Text 25"/>
          <p:cNvSpPr txBox="1"/>
          <p:nvPr/>
        </p:nvSpPr>
        <p:spPr>
          <a:xfrm>
            <a:off x="9384030" y="4645152"/>
            <a:ext cx="1863090" cy="274320"/>
          </a:xfrm>
          <a:prstGeom prst="rect">
            <a:avLst/>
          </a:prstGeom>
          <a:noFill/>
          <a:ln/>
        </p:spPr>
        <p:txBody>
          <a:bodyPr wrap="square" lIns="0" tIns="0" rIns="0" bIns="0" rtlCol="0" anchor="ctr"/>
          <a:lstStyle/>
          <a:p>
            <a:pPr algn="l" indent="0" marL="0">
              <a:buNone/>
            </a:pPr>
            <a:r>
              <a:rPr lang="en-US" sz="1000" b="1" spc="160" kern="0" dirty="0">
                <a:solidFill>
                  <a:srgbClr val="D2601A"/>
                </a:solidFill>
              </a:rPr>
              <a:t>MISSING</a:t>
            </a:r>
            <a:endParaRPr lang="en-US" sz="1000" dirty="0"/>
          </a:p>
        </p:txBody>
      </p:sp>
      <p:sp>
        <p:nvSpPr>
          <p:cNvPr id="28" name="closing-band"/>
          <p:cNvSpPr/>
          <p:nvPr/>
        </p:nvSpPr>
        <p:spPr>
          <a:xfrm>
            <a:off x="640080" y="5248656"/>
            <a:ext cx="10881360" cy="914400"/>
          </a:xfrm>
          <a:prstGeom prst="roundRect">
            <a:avLst>
              <a:gd name="adj" fmla="val 4000"/>
            </a:avLst>
          </a:prstGeom>
          <a:solidFill>
            <a:schemeClr val="tx1"/>
          </a:solidFill>
          <a:ln/>
          <a:effectLst>
            <a:outerShdw sx="100000" sy="100000" kx="0" ky="0" algn="bl" rotWithShape="0" blurRad="127000" dist="25400" dir="5400000">
              <a:srgbClr val="16301A">
                <a:alpha val="10000"/>
              </a:srgbClr>
            </a:outerShdw>
          </a:effectLst>
        </p:spPr>
      </p:sp>
      <p:sp>
        <p:nvSpPr>
          <p:cNvPr id="29" name="Text 27"/>
          <p:cNvSpPr txBox="1"/>
          <p:nvPr/>
        </p:nvSpPr>
        <p:spPr>
          <a:xfrm>
            <a:off x="1024128" y="5248656"/>
            <a:ext cx="10113264" cy="914400"/>
          </a:xfrm>
          <a:prstGeom prst="rect">
            <a:avLst/>
          </a:prstGeom>
          <a:noFill/>
          <a:ln/>
        </p:spPr>
        <p:txBody>
          <a:bodyPr wrap="square" lIns="0" tIns="0" rIns="0" bIns="0" rtlCol="0" anchor="ctr"/>
          <a:lstStyle/>
          <a:p>
            <a:pPr algn="l" indent="0" marL="0">
              <a:buNone/>
            </a:pPr>
            <a:r>
              <a:rPr lang="en-US" sz="1500" b="1" dirty="0">
                <a:solidFill>
                  <a:srgbClr val="FFFFFF"/>
                </a:solidFill>
              </a:rPr>
              <a:t>VegDrop is layer four, and only layer four. </a:t>
            </a:r>
            <a:pPr algn="l" indent="0" marL="0">
              <a:buNone/>
            </a:pPr>
            <a:r>
              <a:rPr lang="en-US" sz="1500" dirty="0">
                <a:solidFill>
                  <a:srgbClr val="97BC62"/>
                </a:solidFill>
              </a:rPr>
              <a:t>It does not replace the bazaar or compete with it — it extends one stall's catchment from a footpath to a whole town.</a:t>
            </a:r>
            <a:endParaRPr lang="en-US" sz="15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WHAT IT IS</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The seller is a market stall, not a warehouse</a:t>
            </a:r>
            <a:endParaRPr lang="en-US" sz="3200" dirty="0"/>
          </a:p>
        </p:txBody>
      </p:sp>
      <p:sp>
        <p:nvSpPr>
          <p:cNvPr id="4" name="Text 2"/>
          <p:cNvSpPr txBox="1"/>
          <p:nvPr/>
        </p:nvSpPr>
        <p:spPr>
          <a:xfrm>
            <a:off x="640080" y="1261872"/>
            <a:ext cx="10881360" cy="292608"/>
          </a:xfrm>
          <a:prstGeom prst="rect">
            <a:avLst/>
          </a:prstGeom>
          <a:noFill/>
          <a:ln/>
        </p:spPr>
        <p:txBody>
          <a:bodyPr wrap="square" lIns="0" tIns="0" rIns="0" bIns="0" rtlCol="0" anchor="ctr"/>
          <a:lstStyle/>
          <a:p>
            <a:pPr algn="l" indent="0" marL="0">
              <a:buNone/>
            </a:pPr>
            <a:r>
              <a:rPr lang="en-US" sz="1450" dirty="0">
                <a:solidFill>
                  <a:srgbClr val="6E7F6E"/>
                </a:solidFill>
              </a:rPr>
              <a:t>Four kinds of people use it, each with their own app, all on one codebase and one database.</a:t>
            </a:r>
            <a:endParaRPr lang="en-US" sz="1450" dirty="0"/>
          </a:p>
        </p:txBody>
      </p:sp>
      <p:sp>
        <p:nvSpPr>
          <p:cNvPr id="5" name="actor-card-1"/>
          <p:cNvSpPr/>
          <p:nvPr/>
        </p:nvSpPr>
        <p:spPr>
          <a:xfrm>
            <a:off x="640080" y="1682496"/>
            <a:ext cx="2446020" cy="3255264"/>
          </a:xfrm>
          <a:prstGeom prst="roundRect">
            <a:avLst>
              <a:gd name="adj" fmla="val 1495"/>
            </a:avLst>
          </a:prstGeom>
          <a:solidFill>
            <a:schemeClr val="bg2"/>
          </a:solidFill>
          <a:ln/>
          <a:effectLst>
            <a:outerShdw sx="100000" sy="100000" kx="0" ky="0" algn="bl" rotWithShape="0" blurRad="127000" dist="25400" dir="5400000">
              <a:srgbClr val="16301A">
                <a:alpha val="10000"/>
              </a:srgbClr>
            </a:outerShdw>
          </a:effectLst>
        </p:spPr>
      </p:sp>
      <p:sp>
        <p:nvSpPr>
          <p:cNvPr id="6" name="actor-badge-1"/>
          <p:cNvSpPr/>
          <p:nvPr/>
        </p:nvSpPr>
        <p:spPr>
          <a:xfrm>
            <a:off x="932688" y="1920240"/>
            <a:ext cx="548640" cy="548640"/>
          </a:xfrm>
          <a:prstGeom prst="ellipse">
            <a:avLst/>
          </a:prstGeom>
          <a:solidFill>
            <a:srgbClr val="2C5F2D"/>
          </a:solidFill>
          <a:ln/>
        </p:spPr>
      </p:sp>
      <p:sp>
        <p:nvSpPr>
          <p:cNvPr id="7" name="Text 5"/>
          <p:cNvSpPr txBox="1"/>
          <p:nvPr/>
        </p:nvSpPr>
        <p:spPr>
          <a:xfrm>
            <a:off x="93268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H</a:t>
            </a:r>
            <a:endParaRPr lang="en-US" sz="1800" dirty="0"/>
          </a:p>
        </p:txBody>
      </p:sp>
      <p:sp>
        <p:nvSpPr>
          <p:cNvPr id="8" name="Text 6"/>
          <p:cNvSpPr txBox="1"/>
          <p:nvPr/>
        </p:nvSpPr>
        <p:spPr>
          <a:xfrm>
            <a:off x="932688" y="2596896"/>
            <a:ext cx="1860804" cy="585216"/>
          </a:xfrm>
          <a:prstGeom prst="rect">
            <a:avLst/>
          </a:prstGeom>
          <a:noFill/>
          <a:ln/>
        </p:spPr>
        <p:txBody>
          <a:bodyPr wrap="square" lIns="0" tIns="0" rIns="0" bIns="0" rtlCol="0" anchor="t"/>
          <a:lstStyle/>
          <a:p>
            <a:pPr algn="l" indent="0" marL="0">
              <a:buNone/>
            </a:pPr>
            <a:r>
              <a:rPr lang="en-US" sz="1650" b="1" dirty="0">
                <a:solidFill>
                  <a:schemeClr val="tx1"/>
                </a:solidFill>
              </a:rPr>
              <a:t>The household</a:t>
            </a:r>
            <a:endParaRPr lang="en-US" sz="1650" dirty="0"/>
          </a:p>
        </p:txBody>
      </p:sp>
      <p:sp>
        <p:nvSpPr>
          <p:cNvPr id="9" name="Text 7"/>
          <p:cNvSpPr txBox="1"/>
          <p:nvPr/>
        </p:nvSpPr>
        <p:spPr>
          <a:xfrm>
            <a:off x="932688" y="3218688"/>
            <a:ext cx="1860804" cy="1261872"/>
          </a:xfrm>
          <a:prstGeom prst="rect">
            <a:avLst/>
          </a:prstGeom>
          <a:noFill/>
          <a:ln/>
        </p:spPr>
        <p:txBody>
          <a:bodyPr wrap="square" lIns="0" tIns="0" rIns="0" bIns="0" rtlCol="0" anchor="t"/>
          <a:lstStyle/>
          <a:p>
            <a:pPr algn="l" indent="0" marL="0">
              <a:buNone/>
            </a:pPr>
            <a:r>
              <a:rPr lang="en-US" sz="1250" dirty="0">
                <a:solidFill>
                  <a:srgbClr val="6E7F6E"/>
                </a:solidFill>
              </a:rPr>
              <a:t>Browses the market's produce, builds a basket, pays by wallet or Razorpay, follows the rider. In Telugu, Hindi or English.</a:t>
            </a:r>
            <a:endParaRPr lang="en-US" sz="1250" dirty="0"/>
          </a:p>
        </p:txBody>
      </p:sp>
      <p:sp>
        <p:nvSpPr>
          <p:cNvPr id="10" name="Text 8"/>
          <p:cNvSpPr txBox="1"/>
          <p:nvPr/>
        </p:nvSpPr>
        <p:spPr>
          <a:xfrm>
            <a:off x="932688" y="4553712"/>
            <a:ext cx="1860804" cy="274320"/>
          </a:xfrm>
          <a:prstGeom prst="rect">
            <a:avLst/>
          </a:prstGeom>
          <a:noFill/>
          <a:ln/>
        </p:spPr>
        <p:txBody>
          <a:bodyPr wrap="square" lIns="0" tIns="0" rIns="0" bIns="0" rtlCol="0" anchor="ctr"/>
          <a:lstStyle/>
          <a:p>
            <a:pPr algn="l" indent="0" marL="0">
              <a:buNone/>
            </a:pPr>
            <a:r>
              <a:rPr lang="en-US" sz="1050" b="1" spc="120" kern="0" dirty="0">
                <a:solidFill>
                  <a:srgbClr val="2C5F2D"/>
                </a:solidFill>
              </a:rPr>
              <a:t>Customer app</a:t>
            </a:r>
            <a:endParaRPr lang="en-US" sz="1050" dirty="0"/>
          </a:p>
        </p:txBody>
      </p:sp>
      <p:sp>
        <p:nvSpPr>
          <p:cNvPr id="11" name="actor-card-2"/>
          <p:cNvSpPr/>
          <p:nvPr/>
        </p:nvSpPr>
        <p:spPr>
          <a:xfrm>
            <a:off x="3451860" y="1682496"/>
            <a:ext cx="2446020" cy="3255264"/>
          </a:xfrm>
          <a:prstGeom prst="roundRect">
            <a:avLst>
              <a:gd name="adj" fmla="val 1495"/>
            </a:avLst>
          </a:prstGeom>
          <a:solidFill>
            <a:schemeClr val="bg2"/>
          </a:solidFill>
          <a:ln/>
          <a:effectLst>
            <a:outerShdw sx="100000" sy="100000" kx="0" ky="0" algn="bl" rotWithShape="0" blurRad="127000" dist="25400" dir="5400000">
              <a:srgbClr val="16301A">
                <a:alpha val="10000"/>
              </a:srgbClr>
            </a:outerShdw>
          </a:effectLst>
        </p:spPr>
      </p:sp>
      <p:sp>
        <p:nvSpPr>
          <p:cNvPr id="12" name="actor-badge-2"/>
          <p:cNvSpPr/>
          <p:nvPr/>
        </p:nvSpPr>
        <p:spPr>
          <a:xfrm>
            <a:off x="3744468" y="1920240"/>
            <a:ext cx="548640" cy="548640"/>
          </a:xfrm>
          <a:prstGeom prst="ellipse">
            <a:avLst/>
          </a:prstGeom>
          <a:solidFill>
            <a:srgbClr val="D2601A"/>
          </a:solidFill>
          <a:ln/>
        </p:spPr>
      </p:sp>
      <p:sp>
        <p:nvSpPr>
          <p:cNvPr id="13" name="Text 11"/>
          <p:cNvSpPr txBox="1"/>
          <p:nvPr/>
        </p:nvSpPr>
        <p:spPr>
          <a:xfrm>
            <a:off x="374446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V</a:t>
            </a:r>
            <a:endParaRPr lang="en-US" sz="1800" dirty="0"/>
          </a:p>
        </p:txBody>
      </p:sp>
      <p:sp>
        <p:nvSpPr>
          <p:cNvPr id="14" name="Text 12"/>
          <p:cNvSpPr txBox="1"/>
          <p:nvPr/>
        </p:nvSpPr>
        <p:spPr>
          <a:xfrm>
            <a:off x="3744468" y="2596896"/>
            <a:ext cx="1860804" cy="585216"/>
          </a:xfrm>
          <a:prstGeom prst="rect">
            <a:avLst/>
          </a:prstGeom>
          <a:noFill/>
          <a:ln/>
        </p:spPr>
        <p:txBody>
          <a:bodyPr wrap="square" lIns="0" tIns="0" rIns="0" bIns="0" rtlCol="0" anchor="t"/>
          <a:lstStyle/>
          <a:p>
            <a:pPr algn="l" indent="0" marL="0">
              <a:buNone/>
            </a:pPr>
            <a:r>
              <a:rPr lang="en-US" sz="1650" b="1" dirty="0">
                <a:solidFill>
                  <a:schemeClr val="tx1"/>
                </a:solidFill>
              </a:rPr>
              <a:t>The stall vendor</a:t>
            </a:r>
            <a:endParaRPr lang="en-US" sz="1650" dirty="0"/>
          </a:p>
        </p:txBody>
      </p:sp>
      <p:sp>
        <p:nvSpPr>
          <p:cNvPr id="15" name="Text 13"/>
          <p:cNvSpPr txBox="1"/>
          <p:nvPr/>
        </p:nvSpPr>
        <p:spPr>
          <a:xfrm>
            <a:off x="3744468" y="3218688"/>
            <a:ext cx="1860804" cy="1261872"/>
          </a:xfrm>
          <a:prstGeom prst="rect">
            <a:avLst/>
          </a:prstGeom>
          <a:noFill/>
          <a:ln/>
        </p:spPr>
        <p:txBody>
          <a:bodyPr wrap="square" lIns="0" tIns="0" rIns="0" bIns="0" rtlCol="0" anchor="t"/>
          <a:lstStyle/>
          <a:p>
            <a:pPr algn="l" indent="0" marL="0">
              <a:buNone/>
            </a:pPr>
            <a:r>
              <a:rPr lang="en-US" sz="1250" dirty="0">
                <a:solidFill>
                  <a:srgbClr val="6E7F6E"/>
                </a:solidFill>
              </a:rPr>
              <a:t>Lists what they have today, sets the morning price, confirms yesterday's prices in one tap, packs what the order assigns them.</a:t>
            </a:r>
            <a:endParaRPr lang="en-US" sz="1250" dirty="0"/>
          </a:p>
        </p:txBody>
      </p:sp>
      <p:sp>
        <p:nvSpPr>
          <p:cNvPr id="16" name="Text 14"/>
          <p:cNvSpPr txBox="1"/>
          <p:nvPr/>
        </p:nvSpPr>
        <p:spPr>
          <a:xfrm>
            <a:off x="3744468" y="4553712"/>
            <a:ext cx="1860804" cy="274320"/>
          </a:xfrm>
          <a:prstGeom prst="rect">
            <a:avLst/>
          </a:prstGeom>
          <a:noFill/>
          <a:ln/>
        </p:spPr>
        <p:txBody>
          <a:bodyPr wrap="square" lIns="0" tIns="0" rIns="0" bIns="0" rtlCol="0" anchor="ctr"/>
          <a:lstStyle/>
          <a:p>
            <a:pPr algn="l" indent="0" marL="0">
              <a:buNone/>
            </a:pPr>
            <a:r>
              <a:rPr lang="en-US" sz="1050" b="1" spc="120" kern="0" dirty="0">
                <a:solidFill>
                  <a:srgbClr val="D2601A"/>
                </a:solidFill>
              </a:rPr>
              <a:t>Shopkeeper app</a:t>
            </a:r>
            <a:endParaRPr lang="en-US" sz="1050" dirty="0"/>
          </a:p>
        </p:txBody>
      </p:sp>
      <p:sp>
        <p:nvSpPr>
          <p:cNvPr id="17" name="actor-card-3"/>
          <p:cNvSpPr/>
          <p:nvPr/>
        </p:nvSpPr>
        <p:spPr>
          <a:xfrm>
            <a:off x="6263640" y="1682496"/>
            <a:ext cx="2446020" cy="3255264"/>
          </a:xfrm>
          <a:prstGeom prst="roundRect">
            <a:avLst>
              <a:gd name="adj" fmla="val 1495"/>
            </a:avLst>
          </a:prstGeom>
          <a:solidFill>
            <a:schemeClr val="bg2"/>
          </a:solidFill>
          <a:ln/>
          <a:effectLst>
            <a:outerShdw sx="100000" sy="100000" kx="0" ky="0" algn="bl" rotWithShape="0" blurRad="127000" dist="25400" dir="5400000">
              <a:srgbClr val="16301A">
                <a:alpha val="10000"/>
              </a:srgbClr>
            </a:outerShdw>
          </a:effectLst>
        </p:spPr>
      </p:sp>
      <p:sp>
        <p:nvSpPr>
          <p:cNvPr id="18" name="actor-badge-3"/>
          <p:cNvSpPr/>
          <p:nvPr/>
        </p:nvSpPr>
        <p:spPr>
          <a:xfrm>
            <a:off x="6556248" y="1920240"/>
            <a:ext cx="548640" cy="548640"/>
          </a:xfrm>
          <a:prstGeom prst="ellipse">
            <a:avLst/>
          </a:prstGeom>
          <a:solidFill>
            <a:srgbClr val="4E7A68"/>
          </a:solidFill>
          <a:ln/>
        </p:spPr>
      </p:sp>
      <p:sp>
        <p:nvSpPr>
          <p:cNvPr id="19" name="Text 17"/>
          <p:cNvSpPr txBox="1"/>
          <p:nvPr/>
        </p:nvSpPr>
        <p:spPr>
          <a:xfrm>
            <a:off x="655624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R</a:t>
            </a:r>
            <a:endParaRPr lang="en-US" sz="1800" dirty="0"/>
          </a:p>
        </p:txBody>
      </p:sp>
      <p:sp>
        <p:nvSpPr>
          <p:cNvPr id="20" name="Text 18"/>
          <p:cNvSpPr txBox="1"/>
          <p:nvPr/>
        </p:nvSpPr>
        <p:spPr>
          <a:xfrm>
            <a:off x="6556248" y="2596896"/>
            <a:ext cx="1860804" cy="585216"/>
          </a:xfrm>
          <a:prstGeom prst="rect">
            <a:avLst/>
          </a:prstGeom>
          <a:noFill/>
          <a:ln/>
        </p:spPr>
        <p:txBody>
          <a:bodyPr wrap="square" lIns="0" tIns="0" rIns="0" bIns="0" rtlCol="0" anchor="t"/>
          <a:lstStyle/>
          <a:p>
            <a:pPr algn="l" indent="0" marL="0">
              <a:buNone/>
            </a:pPr>
            <a:r>
              <a:rPr lang="en-US" sz="1650" b="1" dirty="0">
                <a:solidFill>
                  <a:schemeClr val="tx1"/>
                </a:solidFill>
              </a:rPr>
              <a:t>The rider</a:t>
            </a:r>
            <a:endParaRPr lang="en-US" sz="1650" dirty="0"/>
          </a:p>
        </p:txBody>
      </p:sp>
      <p:sp>
        <p:nvSpPr>
          <p:cNvPr id="21" name="Text 19"/>
          <p:cNvSpPr txBox="1"/>
          <p:nvPr/>
        </p:nvSpPr>
        <p:spPr>
          <a:xfrm>
            <a:off x="6556248" y="3218688"/>
            <a:ext cx="1860804" cy="1261872"/>
          </a:xfrm>
          <a:prstGeom prst="rect">
            <a:avLst/>
          </a:prstGeom>
          <a:noFill/>
          <a:ln/>
        </p:spPr>
        <p:txBody>
          <a:bodyPr wrap="square" lIns="0" tIns="0" rIns="0" bIns="0" rtlCol="0" anchor="t"/>
          <a:lstStyle/>
          <a:p>
            <a:pPr algn="l" indent="0" marL="0">
              <a:buNone/>
            </a:pPr>
            <a:r>
              <a:rPr lang="en-US" sz="1250" dirty="0">
                <a:solidFill>
                  <a:srgbClr val="6E7F6E"/>
                </a:solidFill>
              </a:rPr>
              <a:t>Takes a job, collects from each stall against that stall's own code, delivers against the household's code, is paid per order.</a:t>
            </a:r>
            <a:endParaRPr lang="en-US" sz="1250" dirty="0"/>
          </a:p>
        </p:txBody>
      </p:sp>
      <p:sp>
        <p:nvSpPr>
          <p:cNvPr id="22" name="Text 20"/>
          <p:cNvSpPr txBox="1"/>
          <p:nvPr/>
        </p:nvSpPr>
        <p:spPr>
          <a:xfrm>
            <a:off x="6556248" y="4553712"/>
            <a:ext cx="1860804" cy="274320"/>
          </a:xfrm>
          <a:prstGeom prst="rect">
            <a:avLst/>
          </a:prstGeom>
          <a:noFill/>
          <a:ln/>
        </p:spPr>
        <p:txBody>
          <a:bodyPr wrap="square" lIns="0" tIns="0" rIns="0" bIns="0" rtlCol="0" anchor="ctr"/>
          <a:lstStyle/>
          <a:p>
            <a:pPr algn="l" indent="0" marL="0">
              <a:buNone/>
            </a:pPr>
            <a:r>
              <a:rPr lang="en-US" sz="1050" b="1" spc="120" kern="0" dirty="0">
                <a:solidFill>
                  <a:srgbClr val="4E7A68"/>
                </a:solidFill>
              </a:rPr>
              <a:t>Delivery app</a:t>
            </a:r>
            <a:endParaRPr lang="en-US" sz="1050" dirty="0"/>
          </a:p>
        </p:txBody>
      </p:sp>
      <p:sp>
        <p:nvSpPr>
          <p:cNvPr id="23" name="actor-card-4"/>
          <p:cNvSpPr/>
          <p:nvPr/>
        </p:nvSpPr>
        <p:spPr>
          <a:xfrm>
            <a:off x="9075420" y="1682496"/>
            <a:ext cx="2446020" cy="3255264"/>
          </a:xfrm>
          <a:prstGeom prst="roundRect">
            <a:avLst>
              <a:gd name="adj" fmla="val 1495"/>
            </a:avLst>
          </a:prstGeom>
          <a:solidFill>
            <a:schemeClr val="bg2"/>
          </a:solidFill>
          <a:ln/>
          <a:effectLst>
            <a:outerShdw sx="100000" sy="100000" kx="0" ky="0" algn="bl" rotWithShape="0" blurRad="127000" dist="25400" dir="5400000">
              <a:srgbClr val="16301A">
                <a:alpha val="10000"/>
              </a:srgbClr>
            </a:outerShdw>
          </a:effectLst>
        </p:spPr>
      </p:sp>
      <p:sp>
        <p:nvSpPr>
          <p:cNvPr id="24" name="actor-badge-4"/>
          <p:cNvSpPr/>
          <p:nvPr/>
        </p:nvSpPr>
        <p:spPr>
          <a:xfrm>
            <a:off x="9368028" y="1920240"/>
            <a:ext cx="548640" cy="548640"/>
          </a:xfrm>
          <a:prstGeom prst="ellipse">
            <a:avLst/>
          </a:prstGeom>
          <a:solidFill>
            <a:srgbClr val="B8860B"/>
          </a:solidFill>
          <a:ln/>
        </p:spPr>
      </p:sp>
      <p:sp>
        <p:nvSpPr>
          <p:cNvPr id="25" name="Text 23"/>
          <p:cNvSpPr txBox="1"/>
          <p:nvPr/>
        </p:nvSpPr>
        <p:spPr>
          <a:xfrm>
            <a:off x="936802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M</a:t>
            </a:r>
            <a:endParaRPr lang="en-US" sz="1800" dirty="0"/>
          </a:p>
        </p:txBody>
      </p:sp>
      <p:sp>
        <p:nvSpPr>
          <p:cNvPr id="26" name="Text 24"/>
          <p:cNvSpPr txBox="1"/>
          <p:nvPr/>
        </p:nvSpPr>
        <p:spPr>
          <a:xfrm>
            <a:off x="9368028" y="2596896"/>
            <a:ext cx="1860804" cy="585216"/>
          </a:xfrm>
          <a:prstGeom prst="rect">
            <a:avLst/>
          </a:prstGeom>
          <a:noFill/>
          <a:ln/>
        </p:spPr>
        <p:txBody>
          <a:bodyPr wrap="square" lIns="0" tIns="0" rIns="0" bIns="0" rtlCol="0" anchor="t"/>
          <a:lstStyle/>
          <a:p>
            <a:pPr algn="l" indent="0" marL="0">
              <a:buNone/>
            </a:pPr>
            <a:r>
              <a:rPr lang="en-US" sz="1650" b="1" dirty="0">
                <a:solidFill>
                  <a:schemeClr val="tx1"/>
                </a:solidFill>
              </a:rPr>
              <a:t>Market committee</a:t>
            </a:r>
            <a:endParaRPr lang="en-US" sz="1650" dirty="0"/>
          </a:p>
        </p:txBody>
      </p:sp>
      <p:sp>
        <p:nvSpPr>
          <p:cNvPr id="27" name="Text 25"/>
          <p:cNvSpPr txBox="1"/>
          <p:nvPr/>
        </p:nvSpPr>
        <p:spPr>
          <a:xfrm>
            <a:off x="9368028" y="3218688"/>
            <a:ext cx="1860804" cy="1261872"/>
          </a:xfrm>
          <a:prstGeom prst="rect">
            <a:avLst/>
          </a:prstGeom>
          <a:noFill/>
          <a:ln/>
        </p:spPr>
        <p:txBody>
          <a:bodyPr wrap="square" lIns="0" tIns="0" rIns="0" bIns="0" rtlCol="0" anchor="t"/>
          <a:lstStyle/>
          <a:p>
            <a:pPr algn="l" indent="0" marL="0">
              <a:buNone/>
            </a:pPr>
            <a:r>
              <a:rPr lang="en-US" sz="1250" dirty="0">
                <a:solidFill>
                  <a:srgbClr val="6E7F6E"/>
                </a:solidFill>
              </a:rPr>
              <a:t>Registers the market, approves or refuses each stall, sees the market's analytics, and sets how every rupee is divided.</a:t>
            </a:r>
            <a:endParaRPr lang="en-US" sz="1250" dirty="0"/>
          </a:p>
        </p:txBody>
      </p:sp>
      <p:sp>
        <p:nvSpPr>
          <p:cNvPr id="28" name="Text 26"/>
          <p:cNvSpPr txBox="1"/>
          <p:nvPr/>
        </p:nvSpPr>
        <p:spPr>
          <a:xfrm>
            <a:off x="9368028" y="4553712"/>
            <a:ext cx="1860804" cy="274320"/>
          </a:xfrm>
          <a:prstGeom prst="rect">
            <a:avLst/>
          </a:prstGeom>
          <a:noFill/>
          <a:ln/>
        </p:spPr>
        <p:txBody>
          <a:bodyPr wrap="square" lIns="0" tIns="0" rIns="0" bIns="0" rtlCol="0" anchor="ctr"/>
          <a:lstStyle/>
          <a:p>
            <a:pPr algn="l" indent="0" marL="0">
              <a:buNone/>
            </a:pPr>
            <a:r>
              <a:rPr lang="en-US" sz="1050" b="1" spc="120" kern="0" dirty="0">
                <a:solidFill>
                  <a:srgbClr val="B8860B"/>
                </a:solidFill>
              </a:rPr>
              <a:t>Market owner app</a:t>
            </a:r>
            <a:endParaRPr lang="en-US" sz="1050" dirty="0"/>
          </a:p>
        </p:txBody>
      </p:sp>
      <p:sp>
        <p:nvSpPr>
          <p:cNvPr id="29" name="Text 27"/>
          <p:cNvSpPr txBox="1"/>
          <p:nvPr/>
        </p:nvSpPr>
        <p:spPr>
          <a:xfrm>
            <a:off x="640080" y="5157216"/>
            <a:ext cx="2446020" cy="585216"/>
          </a:xfrm>
          <a:prstGeom prst="rect">
            <a:avLst/>
          </a:prstGeom>
          <a:noFill/>
          <a:ln/>
        </p:spPr>
        <p:txBody>
          <a:bodyPr wrap="square" lIns="0" tIns="0" rIns="0" bIns="0" rtlCol="0" anchor="ctr"/>
          <a:lstStyle/>
          <a:p>
            <a:pPr algn="l" indent="0" marL="0">
              <a:buNone/>
            </a:pPr>
            <a:r>
              <a:rPr lang="en-US" sz="4000" b="1" dirty="0">
                <a:solidFill>
                  <a:srgbClr val="2C5F2D"/>
                </a:solidFill>
              </a:rPr>
              <a:t>6</a:t>
            </a:r>
            <a:endParaRPr lang="en-US" sz="4000" dirty="0"/>
          </a:p>
        </p:txBody>
      </p:sp>
      <p:sp>
        <p:nvSpPr>
          <p:cNvPr id="30" name="Text 28"/>
          <p:cNvSpPr txBox="1"/>
          <p:nvPr/>
        </p:nvSpPr>
        <p:spPr>
          <a:xfrm>
            <a:off x="640080" y="5742432"/>
            <a:ext cx="2446020" cy="329184"/>
          </a:xfrm>
          <a:prstGeom prst="rect">
            <a:avLst/>
          </a:prstGeom>
          <a:noFill/>
          <a:ln/>
        </p:spPr>
        <p:txBody>
          <a:bodyPr wrap="square" lIns="0" tIns="0" rIns="0" bIns="0" rtlCol="0" anchor="t"/>
          <a:lstStyle/>
          <a:p>
            <a:pPr algn="l" indent="0" marL="0">
              <a:buNone/>
            </a:pPr>
            <a:r>
              <a:rPr lang="en-US" sz="1150" dirty="0">
                <a:solidFill>
                  <a:srgbClr val="6E7F6E"/>
                </a:solidFill>
              </a:rPr>
              <a:t>separate role apps</a:t>
            </a:r>
            <a:endParaRPr lang="en-US" sz="1150" dirty="0"/>
          </a:p>
        </p:txBody>
      </p:sp>
      <p:sp>
        <p:nvSpPr>
          <p:cNvPr id="31" name="Text 29"/>
          <p:cNvSpPr txBox="1"/>
          <p:nvPr/>
        </p:nvSpPr>
        <p:spPr>
          <a:xfrm>
            <a:off x="3451860" y="5157216"/>
            <a:ext cx="2446020" cy="585216"/>
          </a:xfrm>
          <a:prstGeom prst="rect">
            <a:avLst/>
          </a:prstGeom>
          <a:noFill/>
          <a:ln/>
        </p:spPr>
        <p:txBody>
          <a:bodyPr wrap="square" lIns="0" tIns="0" rIns="0" bIns="0" rtlCol="0" anchor="ctr"/>
          <a:lstStyle/>
          <a:p>
            <a:pPr algn="l" indent="0" marL="0">
              <a:buNone/>
            </a:pPr>
            <a:r>
              <a:rPr lang="en-US" sz="4000" b="1" dirty="0">
                <a:solidFill>
                  <a:srgbClr val="2C5F2D"/>
                </a:solidFill>
              </a:rPr>
              <a:t>3</a:t>
            </a:r>
            <a:endParaRPr lang="en-US" sz="4000" dirty="0"/>
          </a:p>
        </p:txBody>
      </p:sp>
      <p:sp>
        <p:nvSpPr>
          <p:cNvPr id="32" name="Text 30"/>
          <p:cNvSpPr txBox="1"/>
          <p:nvPr/>
        </p:nvSpPr>
        <p:spPr>
          <a:xfrm>
            <a:off x="3451860" y="5742432"/>
            <a:ext cx="2446020" cy="329184"/>
          </a:xfrm>
          <a:prstGeom prst="rect">
            <a:avLst/>
          </a:prstGeom>
          <a:noFill/>
          <a:ln/>
        </p:spPr>
        <p:txBody>
          <a:bodyPr wrap="square" lIns="0" tIns="0" rIns="0" bIns="0" rtlCol="0" anchor="t"/>
          <a:lstStyle/>
          <a:p>
            <a:pPr algn="l" indent="0" marL="0">
              <a:buNone/>
            </a:pPr>
            <a:r>
              <a:rPr lang="en-US" sz="1150" dirty="0">
                <a:solidFill>
                  <a:srgbClr val="6E7F6E"/>
                </a:solidFill>
              </a:rPr>
              <a:t>languages in the UI</a:t>
            </a:r>
            <a:endParaRPr lang="en-US" sz="1150" dirty="0"/>
          </a:p>
        </p:txBody>
      </p:sp>
      <p:sp>
        <p:nvSpPr>
          <p:cNvPr id="33" name="Text 31"/>
          <p:cNvSpPr txBox="1"/>
          <p:nvPr/>
        </p:nvSpPr>
        <p:spPr>
          <a:xfrm>
            <a:off x="6263640" y="5157216"/>
            <a:ext cx="2446020" cy="585216"/>
          </a:xfrm>
          <a:prstGeom prst="rect">
            <a:avLst/>
          </a:prstGeom>
          <a:noFill/>
          <a:ln/>
        </p:spPr>
        <p:txBody>
          <a:bodyPr wrap="square" lIns="0" tIns="0" rIns="0" bIns="0" rtlCol="0" anchor="ctr"/>
          <a:lstStyle/>
          <a:p>
            <a:pPr algn="l" indent="0" marL="0">
              <a:buNone/>
            </a:pPr>
            <a:r>
              <a:rPr lang="en-US" sz="4000" b="1" dirty="0">
                <a:solidFill>
                  <a:srgbClr val="2C5F2D"/>
                </a:solidFill>
              </a:rPr>
              <a:t>1</a:t>
            </a:r>
            <a:endParaRPr lang="en-US" sz="4000" dirty="0"/>
          </a:p>
        </p:txBody>
      </p:sp>
      <p:sp>
        <p:nvSpPr>
          <p:cNvPr id="34" name="Text 32"/>
          <p:cNvSpPr txBox="1"/>
          <p:nvPr/>
        </p:nvSpPr>
        <p:spPr>
          <a:xfrm>
            <a:off x="6263640" y="5742432"/>
            <a:ext cx="2446020" cy="329184"/>
          </a:xfrm>
          <a:prstGeom prst="rect">
            <a:avLst/>
          </a:prstGeom>
          <a:noFill/>
          <a:ln/>
        </p:spPr>
        <p:txBody>
          <a:bodyPr wrap="square" lIns="0" tIns="0" rIns="0" bIns="0" rtlCol="0" anchor="t"/>
          <a:lstStyle/>
          <a:p>
            <a:pPr algn="l" indent="0" marL="0">
              <a:buNone/>
            </a:pPr>
            <a:r>
              <a:rPr lang="en-US" sz="1150" dirty="0">
                <a:solidFill>
                  <a:srgbClr val="6E7F6E"/>
                </a:solidFill>
              </a:rPr>
              <a:t>codebase, one database</a:t>
            </a:r>
            <a:endParaRPr lang="en-US" sz="1150" dirty="0"/>
          </a:p>
        </p:txBody>
      </p:sp>
      <p:sp>
        <p:nvSpPr>
          <p:cNvPr id="35" name="Text 33"/>
          <p:cNvSpPr txBox="1"/>
          <p:nvPr/>
        </p:nvSpPr>
        <p:spPr>
          <a:xfrm>
            <a:off x="9075420" y="5157216"/>
            <a:ext cx="2446020" cy="585216"/>
          </a:xfrm>
          <a:prstGeom prst="rect">
            <a:avLst/>
          </a:prstGeom>
          <a:noFill/>
          <a:ln/>
        </p:spPr>
        <p:txBody>
          <a:bodyPr wrap="square" lIns="0" tIns="0" rIns="0" bIns="0" rtlCol="0" anchor="ctr"/>
          <a:lstStyle/>
          <a:p>
            <a:pPr algn="l" indent="0" marL="0">
              <a:buNone/>
            </a:pPr>
            <a:r>
              <a:rPr lang="en-US" sz="4000" b="1" dirty="0">
                <a:solidFill>
                  <a:srgbClr val="2C5F2D"/>
                </a:solidFill>
              </a:rPr>
              <a:t>0</a:t>
            </a:r>
            <a:endParaRPr lang="en-US" sz="4000" dirty="0"/>
          </a:p>
        </p:txBody>
      </p:sp>
      <p:sp>
        <p:nvSpPr>
          <p:cNvPr id="36" name="Text 34"/>
          <p:cNvSpPr txBox="1"/>
          <p:nvPr/>
        </p:nvSpPr>
        <p:spPr>
          <a:xfrm>
            <a:off x="9075420" y="5742432"/>
            <a:ext cx="2446020" cy="329184"/>
          </a:xfrm>
          <a:prstGeom prst="rect">
            <a:avLst/>
          </a:prstGeom>
          <a:noFill/>
          <a:ln/>
        </p:spPr>
        <p:txBody>
          <a:bodyPr wrap="square" lIns="0" tIns="0" rIns="0" bIns="0" rtlCol="0" anchor="t"/>
          <a:lstStyle/>
          <a:p>
            <a:pPr algn="l" indent="0" marL="0">
              <a:buNone/>
            </a:pPr>
            <a:r>
              <a:rPr lang="en-US" sz="1150" dirty="0">
                <a:solidFill>
                  <a:srgbClr val="6E7F6E"/>
                </a:solidFill>
              </a:rPr>
              <a:t>passwords in the system</a:t>
            </a:r>
            <a:endParaRPr lang="en-US" sz="115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THE OPEN PLATFORM</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Any Rythu Bazaar can register itself</a:t>
            </a:r>
            <a:endParaRPr lang="en-US" sz="3200" dirty="0"/>
          </a:p>
        </p:txBody>
      </p:sp>
      <p:sp>
        <p:nvSpPr>
          <p:cNvPr id="4" name="step-card-1"/>
          <p:cNvSpPr/>
          <p:nvPr/>
        </p:nvSpPr>
        <p:spPr>
          <a:xfrm>
            <a:off x="640080" y="1371600"/>
            <a:ext cx="2473452" cy="2651760"/>
          </a:xfrm>
          <a:prstGeom prst="roundRect">
            <a:avLst>
              <a:gd name="adj" fmla="val 1479"/>
            </a:avLst>
          </a:prstGeom>
          <a:solidFill>
            <a:schemeClr val="bg1"/>
          </a:solidFill>
          <a:ln/>
          <a:effectLst>
            <a:outerShdw sx="100000" sy="100000" kx="0" ky="0" algn="bl" rotWithShape="0" blurRad="127000" dist="25400" dir="5400000">
              <a:srgbClr val="16301A">
                <a:alpha val="10000"/>
              </a:srgbClr>
            </a:outerShdw>
          </a:effectLst>
        </p:spPr>
      </p:sp>
      <p:sp>
        <p:nvSpPr>
          <p:cNvPr id="5" name="step-badge-1"/>
          <p:cNvSpPr/>
          <p:nvPr/>
        </p:nvSpPr>
        <p:spPr>
          <a:xfrm>
            <a:off x="896112" y="1609344"/>
            <a:ext cx="457200" cy="457200"/>
          </a:xfrm>
          <a:prstGeom prst="ellipse">
            <a:avLst/>
          </a:prstGeom>
          <a:solidFill>
            <a:srgbClr val="2C5F2D"/>
          </a:solidFill>
          <a:ln/>
        </p:spPr>
      </p:sp>
      <p:sp>
        <p:nvSpPr>
          <p:cNvPr id="6" name="Text 4"/>
          <p:cNvSpPr txBox="1"/>
          <p:nvPr/>
        </p:nvSpPr>
        <p:spPr>
          <a:xfrm>
            <a:off x="896112" y="160934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896112" y="2157984"/>
            <a:ext cx="1961388" cy="548640"/>
          </a:xfrm>
          <a:prstGeom prst="rect">
            <a:avLst/>
          </a:prstGeom>
          <a:noFill/>
          <a:ln/>
        </p:spPr>
        <p:txBody>
          <a:bodyPr wrap="square" lIns="0" tIns="0" rIns="0" bIns="0" rtlCol="0" anchor="t"/>
          <a:lstStyle/>
          <a:p>
            <a:pPr algn="l" indent="0" marL="0">
              <a:buNone/>
            </a:pPr>
            <a:r>
              <a:rPr lang="en-US" sz="1450" b="1" dirty="0">
                <a:solidFill>
                  <a:schemeClr val="tx1"/>
                </a:solidFill>
              </a:rPr>
              <a:t>The owner walks the perimeter</a:t>
            </a:r>
            <a:endParaRPr lang="en-US" sz="1450" dirty="0"/>
          </a:p>
        </p:txBody>
      </p:sp>
      <p:sp>
        <p:nvSpPr>
          <p:cNvPr id="8" name="Text 6"/>
          <p:cNvSpPr txBox="1"/>
          <p:nvPr/>
        </p:nvSpPr>
        <p:spPr>
          <a:xfrm>
            <a:off x="896112" y="2724912"/>
            <a:ext cx="1961388" cy="1152144"/>
          </a:xfrm>
          <a:prstGeom prst="rect">
            <a:avLst/>
          </a:prstGeom>
          <a:noFill/>
          <a:ln/>
        </p:spPr>
        <p:txBody>
          <a:bodyPr wrap="square" lIns="0" tIns="0" rIns="0" bIns="0" rtlCol="0" anchor="t"/>
          <a:lstStyle/>
          <a:p>
            <a:pPr algn="l" indent="0" marL="0">
              <a:buNone/>
            </a:pPr>
            <a:r>
              <a:rPr lang="en-US" sz="1200" dirty="0">
                <a:solidFill>
                  <a:srgbClr val="6E7F6E"/>
                </a:solidFill>
              </a:rPr>
              <a:t>Standing at each corner, they drop a GPS node. The nodes close into a boundary on the map.</a:t>
            </a:r>
            <a:endParaRPr lang="en-US" sz="1200" dirty="0"/>
          </a:p>
        </p:txBody>
      </p:sp>
      <p:sp>
        <p:nvSpPr>
          <p:cNvPr id="9" name="Text 7"/>
          <p:cNvSpPr txBox="1"/>
          <p:nvPr/>
        </p:nvSpPr>
        <p:spPr>
          <a:xfrm>
            <a:off x="3131820" y="2286000"/>
            <a:ext cx="292608" cy="365760"/>
          </a:xfrm>
          <a:prstGeom prst="rect">
            <a:avLst/>
          </a:prstGeom>
          <a:noFill/>
          <a:ln/>
        </p:spPr>
        <p:txBody>
          <a:bodyPr wrap="square" lIns="0" tIns="0" rIns="0" bIns="0" rtlCol="0" anchor="ctr"/>
          <a:lstStyle/>
          <a:p>
            <a:pPr algn="ctr" indent="0" marL="0">
              <a:buNone/>
            </a:pPr>
            <a:r>
              <a:rPr lang="en-US" sz="1800" b="1" dirty="0">
                <a:solidFill>
                  <a:srgbClr val="97BC62"/>
                </a:solidFill>
              </a:rPr>
              <a:t>→</a:t>
            </a:r>
            <a:endParaRPr lang="en-US" sz="1800" dirty="0"/>
          </a:p>
        </p:txBody>
      </p:sp>
      <p:sp>
        <p:nvSpPr>
          <p:cNvPr id="10" name="step-card-2"/>
          <p:cNvSpPr/>
          <p:nvPr/>
        </p:nvSpPr>
        <p:spPr>
          <a:xfrm>
            <a:off x="3442716" y="1371600"/>
            <a:ext cx="2473452" cy="2651760"/>
          </a:xfrm>
          <a:prstGeom prst="roundRect">
            <a:avLst>
              <a:gd name="adj" fmla="val 1479"/>
            </a:avLst>
          </a:prstGeom>
          <a:solidFill>
            <a:schemeClr val="bg1"/>
          </a:solidFill>
          <a:ln/>
          <a:effectLst>
            <a:outerShdw sx="100000" sy="100000" kx="0" ky="0" algn="bl" rotWithShape="0" blurRad="127000" dist="25400" dir="5400000">
              <a:srgbClr val="16301A">
                <a:alpha val="10000"/>
              </a:srgbClr>
            </a:outerShdw>
          </a:effectLst>
        </p:spPr>
      </p:sp>
      <p:sp>
        <p:nvSpPr>
          <p:cNvPr id="11" name="step-badge-2"/>
          <p:cNvSpPr/>
          <p:nvPr/>
        </p:nvSpPr>
        <p:spPr>
          <a:xfrm>
            <a:off x="3698748" y="1609344"/>
            <a:ext cx="457200" cy="457200"/>
          </a:xfrm>
          <a:prstGeom prst="ellipse">
            <a:avLst/>
          </a:prstGeom>
          <a:solidFill>
            <a:srgbClr val="2C5F2D"/>
          </a:solidFill>
          <a:ln/>
        </p:spPr>
      </p:sp>
      <p:sp>
        <p:nvSpPr>
          <p:cNvPr id="12" name="Text 10"/>
          <p:cNvSpPr txBox="1"/>
          <p:nvPr/>
        </p:nvSpPr>
        <p:spPr>
          <a:xfrm>
            <a:off x="3698748" y="160934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3698748" y="2157984"/>
            <a:ext cx="1961388" cy="548640"/>
          </a:xfrm>
          <a:prstGeom prst="rect">
            <a:avLst/>
          </a:prstGeom>
          <a:noFill/>
          <a:ln/>
        </p:spPr>
        <p:txBody>
          <a:bodyPr wrap="square" lIns="0" tIns="0" rIns="0" bIns="0" rtlCol="0" anchor="t"/>
          <a:lstStyle/>
          <a:p>
            <a:pPr algn="l" indent="0" marL="0">
              <a:buNone/>
            </a:pPr>
            <a:r>
              <a:rPr lang="en-US" sz="1450" b="1" dirty="0">
                <a:solidFill>
                  <a:schemeClr val="tx1"/>
                </a:solidFill>
              </a:rPr>
              <a:t>A vendor applies from inside it</a:t>
            </a:r>
            <a:endParaRPr lang="en-US" sz="1450" dirty="0"/>
          </a:p>
        </p:txBody>
      </p:sp>
      <p:sp>
        <p:nvSpPr>
          <p:cNvPr id="14" name="Text 12"/>
          <p:cNvSpPr txBox="1"/>
          <p:nvPr/>
        </p:nvSpPr>
        <p:spPr>
          <a:xfrm>
            <a:off x="3698748" y="2724912"/>
            <a:ext cx="1961388" cy="1152144"/>
          </a:xfrm>
          <a:prstGeom prst="rect">
            <a:avLst/>
          </a:prstGeom>
          <a:noFill/>
          <a:ln/>
        </p:spPr>
        <p:txBody>
          <a:bodyPr wrap="square" lIns="0" tIns="0" rIns="0" bIns="0" rtlCol="0" anchor="t"/>
          <a:lstStyle/>
          <a:p>
            <a:pPr algn="l" indent="0" marL="0">
              <a:buNone/>
            </a:pPr>
            <a:r>
              <a:rPr lang="en-US" sz="1200" dirty="0">
                <a:solidFill>
                  <a:srgbClr val="6E7F6E"/>
                </a:solidFill>
              </a:rPr>
              <a:t>The application is accepted only if the phone's location sits inside that boundary, recently enough.</a:t>
            </a:r>
            <a:endParaRPr lang="en-US" sz="1200" dirty="0"/>
          </a:p>
        </p:txBody>
      </p:sp>
      <p:sp>
        <p:nvSpPr>
          <p:cNvPr id="15" name="Text 13"/>
          <p:cNvSpPr txBox="1"/>
          <p:nvPr/>
        </p:nvSpPr>
        <p:spPr>
          <a:xfrm>
            <a:off x="5934456" y="2286000"/>
            <a:ext cx="292608" cy="365760"/>
          </a:xfrm>
          <a:prstGeom prst="rect">
            <a:avLst/>
          </a:prstGeom>
          <a:noFill/>
          <a:ln/>
        </p:spPr>
        <p:txBody>
          <a:bodyPr wrap="square" lIns="0" tIns="0" rIns="0" bIns="0" rtlCol="0" anchor="ctr"/>
          <a:lstStyle/>
          <a:p>
            <a:pPr algn="ctr" indent="0" marL="0">
              <a:buNone/>
            </a:pPr>
            <a:r>
              <a:rPr lang="en-US" sz="1800" b="1" dirty="0">
                <a:solidFill>
                  <a:srgbClr val="97BC62"/>
                </a:solidFill>
              </a:rPr>
              <a:t>→</a:t>
            </a:r>
            <a:endParaRPr lang="en-US" sz="1800" dirty="0"/>
          </a:p>
        </p:txBody>
      </p:sp>
      <p:sp>
        <p:nvSpPr>
          <p:cNvPr id="16" name="step-card-3"/>
          <p:cNvSpPr/>
          <p:nvPr/>
        </p:nvSpPr>
        <p:spPr>
          <a:xfrm>
            <a:off x="6245352" y="1371600"/>
            <a:ext cx="2473452" cy="2651760"/>
          </a:xfrm>
          <a:prstGeom prst="roundRect">
            <a:avLst>
              <a:gd name="adj" fmla="val 1479"/>
            </a:avLst>
          </a:prstGeom>
          <a:solidFill>
            <a:schemeClr val="bg1"/>
          </a:solidFill>
          <a:ln/>
          <a:effectLst>
            <a:outerShdw sx="100000" sy="100000" kx="0" ky="0" algn="bl" rotWithShape="0" blurRad="127000" dist="25400" dir="5400000">
              <a:srgbClr val="16301A">
                <a:alpha val="10000"/>
              </a:srgbClr>
            </a:outerShdw>
          </a:effectLst>
        </p:spPr>
      </p:sp>
      <p:sp>
        <p:nvSpPr>
          <p:cNvPr id="17" name="step-badge-3"/>
          <p:cNvSpPr/>
          <p:nvPr/>
        </p:nvSpPr>
        <p:spPr>
          <a:xfrm>
            <a:off x="6501384" y="1609344"/>
            <a:ext cx="457200" cy="457200"/>
          </a:xfrm>
          <a:prstGeom prst="ellipse">
            <a:avLst/>
          </a:prstGeom>
          <a:solidFill>
            <a:srgbClr val="2C5F2D"/>
          </a:solidFill>
          <a:ln/>
        </p:spPr>
      </p:sp>
      <p:sp>
        <p:nvSpPr>
          <p:cNvPr id="18" name="Text 16"/>
          <p:cNvSpPr txBox="1"/>
          <p:nvPr/>
        </p:nvSpPr>
        <p:spPr>
          <a:xfrm>
            <a:off x="6501384" y="160934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Text 17"/>
          <p:cNvSpPr txBox="1"/>
          <p:nvPr/>
        </p:nvSpPr>
        <p:spPr>
          <a:xfrm>
            <a:off x="6501384" y="2157984"/>
            <a:ext cx="1961388" cy="548640"/>
          </a:xfrm>
          <a:prstGeom prst="rect">
            <a:avLst/>
          </a:prstGeom>
          <a:noFill/>
          <a:ln/>
        </p:spPr>
        <p:txBody>
          <a:bodyPr wrap="square" lIns="0" tIns="0" rIns="0" bIns="0" rtlCol="0" anchor="t"/>
          <a:lstStyle/>
          <a:p>
            <a:pPr algn="l" indent="0" marL="0">
              <a:buNone/>
            </a:pPr>
            <a:r>
              <a:rPr lang="en-US" sz="1450" b="1" dirty="0">
                <a:solidFill>
                  <a:schemeClr val="tx1"/>
                </a:solidFill>
              </a:rPr>
              <a:t>The committee approves</a:t>
            </a:r>
            <a:endParaRPr lang="en-US" sz="1450" dirty="0"/>
          </a:p>
        </p:txBody>
      </p:sp>
      <p:sp>
        <p:nvSpPr>
          <p:cNvPr id="20" name="Text 18"/>
          <p:cNvSpPr txBox="1"/>
          <p:nvPr/>
        </p:nvSpPr>
        <p:spPr>
          <a:xfrm>
            <a:off x="6501384" y="2724912"/>
            <a:ext cx="1961388" cy="1152144"/>
          </a:xfrm>
          <a:prstGeom prst="rect">
            <a:avLst/>
          </a:prstGeom>
          <a:noFill/>
          <a:ln/>
        </p:spPr>
        <p:txBody>
          <a:bodyPr wrap="square" lIns="0" tIns="0" rIns="0" bIns="0" rtlCol="0" anchor="t"/>
          <a:lstStyle/>
          <a:p>
            <a:pPr algn="l" indent="0" marL="0">
              <a:buNone/>
            </a:pPr>
            <a:r>
              <a:rPr lang="en-US" sz="1200" dirty="0">
                <a:solidFill>
                  <a:srgbClr val="6E7F6E"/>
                </a:solidFill>
              </a:rPr>
              <a:t>Each application reaches the owner with the applicant's name, number, stall number and location check.</a:t>
            </a:r>
            <a:endParaRPr lang="en-US" sz="1200" dirty="0"/>
          </a:p>
        </p:txBody>
      </p:sp>
      <p:sp>
        <p:nvSpPr>
          <p:cNvPr id="21" name="Text 19"/>
          <p:cNvSpPr txBox="1"/>
          <p:nvPr/>
        </p:nvSpPr>
        <p:spPr>
          <a:xfrm>
            <a:off x="8737092" y="2286000"/>
            <a:ext cx="292608" cy="365760"/>
          </a:xfrm>
          <a:prstGeom prst="rect">
            <a:avLst/>
          </a:prstGeom>
          <a:noFill/>
          <a:ln/>
        </p:spPr>
        <p:txBody>
          <a:bodyPr wrap="square" lIns="0" tIns="0" rIns="0" bIns="0" rtlCol="0" anchor="ctr"/>
          <a:lstStyle/>
          <a:p>
            <a:pPr algn="ctr" indent="0" marL="0">
              <a:buNone/>
            </a:pPr>
            <a:r>
              <a:rPr lang="en-US" sz="1800" b="1" dirty="0">
                <a:solidFill>
                  <a:srgbClr val="97BC62"/>
                </a:solidFill>
              </a:rPr>
              <a:t>→</a:t>
            </a:r>
            <a:endParaRPr lang="en-US" sz="1800" dirty="0"/>
          </a:p>
        </p:txBody>
      </p:sp>
      <p:sp>
        <p:nvSpPr>
          <p:cNvPr id="22" name="step-card-4"/>
          <p:cNvSpPr/>
          <p:nvPr/>
        </p:nvSpPr>
        <p:spPr>
          <a:xfrm>
            <a:off x="9047988" y="1371600"/>
            <a:ext cx="2473452" cy="2651760"/>
          </a:xfrm>
          <a:prstGeom prst="roundRect">
            <a:avLst>
              <a:gd name="adj" fmla="val 1479"/>
            </a:avLst>
          </a:prstGeom>
          <a:solidFill>
            <a:schemeClr val="bg1"/>
          </a:solidFill>
          <a:ln/>
          <a:effectLst>
            <a:outerShdw sx="100000" sy="100000" kx="0" ky="0" algn="bl" rotWithShape="0" blurRad="127000" dist="25400" dir="5400000">
              <a:srgbClr val="16301A">
                <a:alpha val="10000"/>
              </a:srgbClr>
            </a:outerShdw>
          </a:effectLst>
        </p:spPr>
      </p:sp>
      <p:sp>
        <p:nvSpPr>
          <p:cNvPr id="23" name="step-badge-4"/>
          <p:cNvSpPr/>
          <p:nvPr/>
        </p:nvSpPr>
        <p:spPr>
          <a:xfrm>
            <a:off x="9304020" y="1609344"/>
            <a:ext cx="457200" cy="457200"/>
          </a:xfrm>
          <a:prstGeom prst="ellipse">
            <a:avLst/>
          </a:prstGeom>
          <a:solidFill>
            <a:srgbClr val="2C5F2D"/>
          </a:solidFill>
          <a:ln/>
        </p:spPr>
      </p:sp>
      <p:sp>
        <p:nvSpPr>
          <p:cNvPr id="24" name="Text 22"/>
          <p:cNvSpPr txBox="1"/>
          <p:nvPr/>
        </p:nvSpPr>
        <p:spPr>
          <a:xfrm>
            <a:off x="9304020" y="160934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5" name="Text 23"/>
          <p:cNvSpPr txBox="1"/>
          <p:nvPr/>
        </p:nvSpPr>
        <p:spPr>
          <a:xfrm>
            <a:off x="9304020" y="2157984"/>
            <a:ext cx="1961388" cy="548640"/>
          </a:xfrm>
          <a:prstGeom prst="rect">
            <a:avLst/>
          </a:prstGeom>
          <a:noFill/>
          <a:ln/>
        </p:spPr>
        <p:txBody>
          <a:bodyPr wrap="square" lIns="0" tIns="0" rIns="0" bIns="0" rtlCol="0" anchor="t"/>
          <a:lstStyle/>
          <a:p>
            <a:pPr algn="l" indent="0" marL="0">
              <a:buNone/>
            </a:pPr>
            <a:r>
              <a:rPr lang="en-US" sz="1450" b="1" dirty="0">
                <a:solidFill>
                  <a:schemeClr val="tx1"/>
                </a:solidFill>
              </a:rPr>
              <a:t>The vendor proves the bank account</a:t>
            </a:r>
            <a:endParaRPr lang="en-US" sz="1450" dirty="0"/>
          </a:p>
        </p:txBody>
      </p:sp>
      <p:sp>
        <p:nvSpPr>
          <p:cNvPr id="26" name="Text 24"/>
          <p:cNvSpPr txBox="1"/>
          <p:nvPr/>
        </p:nvSpPr>
        <p:spPr>
          <a:xfrm>
            <a:off x="9304020" y="2724912"/>
            <a:ext cx="1961388" cy="1152144"/>
          </a:xfrm>
          <a:prstGeom prst="rect">
            <a:avLst/>
          </a:prstGeom>
          <a:noFill/>
          <a:ln/>
        </p:spPr>
        <p:txBody>
          <a:bodyPr wrap="square" lIns="0" tIns="0" rIns="0" bIns="0" rtlCol="0" anchor="t"/>
          <a:lstStyle/>
          <a:p>
            <a:pPr algn="l" indent="0" marL="0">
              <a:buNone/>
            </a:pPr>
            <a:r>
              <a:rPr lang="en-US" sz="1200" dirty="0">
                <a:solidFill>
                  <a:srgbClr val="6E7F6E"/>
                </a:solidFill>
              </a:rPr>
              <a:t>A randomised penny drop of 1 to 100 paise, reported back exactly, before they can list one item.</a:t>
            </a:r>
            <a:endParaRPr lang="en-US" sz="1200" dirty="0"/>
          </a:p>
        </p:txBody>
      </p:sp>
      <p:sp>
        <p:nvSpPr>
          <p:cNvPr id="27" name="why-card"/>
          <p:cNvSpPr/>
          <p:nvPr/>
        </p:nvSpPr>
        <p:spPr>
          <a:xfrm>
            <a:off x="640080" y="4224528"/>
            <a:ext cx="10881360" cy="1920240"/>
          </a:xfrm>
          <a:prstGeom prst="roundRect">
            <a:avLst>
              <a:gd name="adj" fmla="val 1905"/>
            </a:avLst>
          </a:prstGeom>
          <a:solidFill>
            <a:schemeClr val="bg1"/>
          </a:solidFill>
          <a:ln w="9525">
            <a:solidFill>
              <a:srgbClr val="D2601A"/>
            </a:solidFill>
            <a:prstDash val="solid"/>
          </a:ln>
          <a:effectLst>
            <a:outerShdw sx="100000" sy="100000" kx="0" ky="0" algn="bl" rotWithShape="0" blurRad="127000" dist="25400" dir="5400000">
              <a:srgbClr val="16301A">
                <a:alpha val="10000"/>
              </a:srgbClr>
            </a:outerShdw>
          </a:effectLst>
        </p:spPr>
      </p:sp>
      <p:sp>
        <p:nvSpPr>
          <p:cNvPr id="28" name="Text 26"/>
          <p:cNvSpPr txBox="1"/>
          <p:nvPr/>
        </p:nvSpPr>
        <p:spPr>
          <a:xfrm>
            <a:off x="1024128" y="4425696"/>
            <a:ext cx="10113264" cy="329184"/>
          </a:xfrm>
          <a:prstGeom prst="rect">
            <a:avLst/>
          </a:prstGeom>
          <a:noFill/>
          <a:ln/>
        </p:spPr>
        <p:txBody>
          <a:bodyPr wrap="square" lIns="0" tIns="0" rIns="0" bIns="0" rtlCol="0" anchor="ctr"/>
          <a:lstStyle/>
          <a:p>
            <a:pPr algn="l" indent="0" marL="0">
              <a:buNone/>
            </a:pPr>
            <a:r>
              <a:rPr lang="en-US" sz="1800" b="1" dirty="0">
                <a:solidFill>
                  <a:schemeClr val="tx1"/>
                </a:solidFill>
              </a:rPr>
              <a:t>Why this matters more than any feature in the app</a:t>
            </a:r>
            <a:endParaRPr lang="en-US" sz="1800" dirty="0"/>
          </a:p>
        </p:txBody>
      </p:sp>
      <p:sp>
        <p:nvSpPr>
          <p:cNvPr id="29" name="Text 27"/>
          <p:cNvSpPr txBox="1"/>
          <p:nvPr/>
        </p:nvSpPr>
        <p:spPr>
          <a:xfrm>
            <a:off x="1024128" y="4809744"/>
            <a:ext cx="10113264" cy="1097280"/>
          </a:xfrm>
          <a:prstGeom prst="rect">
            <a:avLst/>
          </a:prstGeom>
          <a:noFill/>
          <a:ln/>
        </p:spPr>
        <p:txBody>
          <a:bodyPr wrap="square" lIns="0" tIns="0" rIns="0" bIns="0" rtlCol="0" anchor="t"/>
          <a:lstStyle/>
          <a:p>
            <a:pPr algn="l" indent="0" marL="0">
              <a:lnSpc>
                <a:spcPct val="120000"/>
              </a:lnSpc>
              <a:buNone/>
            </a:pPr>
            <a:r>
              <a:rPr lang="en-US" sz="1350" b="1" dirty="0">
                <a:solidFill>
                  <a:srgbClr val="2C5F2D"/>
                </a:solidFill>
              </a:rPr>
              <a:t>No state official does data entry. No central team visits a market. No engineer is needed to add one.</a:t>
            </a:r>
            <a:endParaRPr lang="en-US" sz="1350" dirty="0"/>
          </a:p>
          <a:p>
            <a:pPr algn="l" indent="0" marL="0">
              <a:lnSpc>
                <a:spcPct val="120000"/>
              </a:lnSpc>
              <a:buNone/>
            </a:pPr>
            <a:r>
              <a:rPr lang="en-US" sz="1350" dirty="0">
                <a:solidFill>
                  <a:srgbClr val="6E7F6E"/>
                </a:solidFill>
              </a:rPr>
              <a:t>The hundredth Rythu Bazaar joins exactly the way the first one does — the committee walks its own perimeter on a phone. That is why this can be a people's platform rather than a pilot: the onboarding cost per market is one walk, borne by the market itself.</a:t>
            </a:r>
            <a:endParaRPr lang="en-US" sz="135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HOW AN ORDER MOVES</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One basket, several stalls, two handovers</a:t>
            </a:r>
            <a:endParaRPr lang="en-US" sz="3200" dirty="0"/>
          </a:p>
        </p:txBody>
      </p:sp>
      <p:sp>
        <p:nvSpPr>
          <p:cNvPr id="4" name="flow-card-1"/>
          <p:cNvSpPr/>
          <p:nvPr/>
        </p:nvSpPr>
        <p:spPr>
          <a:xfrm>
            <a:off x="640080" y="1371600"/>
            <a:ext cx="1971446" cy="2697480"/>
          </a:xfrm>
          <a:prstGeom prst="roundRect">
            <a:avLst>
              <a:gd name="adj" fmla="val 1855"/>
            </a:avLst>
          </a:prstGeom>
          <a:solidFill>
            <a:schemeClr val="bg2"/>
          </a:solidFill>
          <a:ln/>
          <a:effectLst>
            <a:outerShdw sx="100000" sy="100000" kx="0" ky="0" algn="bl" rotWithShape="0" blurRad="127000" dist="25400" dir="5400000">
              <a:srgbClr val="16301A">
                <a:alpha val="10000"/>
              </a:srgbClr>
            </a:outerShdw>
          </a:effectLst>
        </p:spPr>
      </p:sp>
      <p:sp>
        <p:nvSpPr>
          <p:cNvPr id="5" name="flow-badge-1"/>
          <p:cNvSpPr/>
          <p:nvPr/>
        </p:nvSpPr>
        <p:spPr>
          <a:xfrm>
            <a:off x="877824" y="1609344"/>
            <a:ext cx="438912" cy="438912"/>
          </a:xfrm>
          <a:prstGeom prst="ellipse">
            <a:avLst/>
          </a:prstGeom>
          <a:solidFill>
            <a:srgbClr val="2C5F2D"/>
          </a:solidFill>
          <a:ln/>
        </p:spPr>
      </p:sp>
      <p:sp>
        <p:nvSpPr>
          <p:cNvPr id="6" name="Text 4"/>
          <p:cNvSpPr txBox="1"/>
          <p:nvPr/>
        </p:nvSpPr>
        <p:spPr>
          <a:xfrm>
            <a:off x="877824" y="16093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877824" y="2121408"/>
            <a:ext cx="1495958" cy="548640"/>
          </a:xfrm>
          <a:prstGeom prst="rect">
            <a:avLst/>
          </a:prstGeom>
          <a:noFill/>
          <a:ln/>
        </p:spPr>
        <p:txBody>
          <a:bodyPr wrap="square" lIns="0" tIns="0" rIns="0" bIns="0" rtlCol="0" anchor="t"/>
          <a:lstStyle/>
          <a:p>
            <a:pPr algn="l" indent="0" marL="0">
              <a:buNone/>
            </a:pPr>
            <a:r>
              <a:rPr lang="en-US" sz="1450" b="1" dirty="0">
                <a:solidFill>
                  <a:schemeClr val="tx1"/>
                </a:solidFill>
              </a:rPr>
              <a:t>Basket placed</a:t>
            </a:r>
            <a:endParaRPr lang="en-US" sz="1450" dirty="0"/>
          </a:p>
        </p:txBody>
      </p:sp>
      <p:sp>
        <p:nvSpPr>
          <p:cNvPr id="8" name="Text 6"/>
          <p:cNvSpPr txBox="1"/>
          <p:nvPr/>
        </p:nvSpPr>
        <p:spPr>
          <a:xfrm>
            <a:off x="877824" y="2688336"/>
            <a:ext cx="1495958" cy="1188720"/>
          </a:xfrm>
          <a:prstGeom prst="rect">
            <a:avLst/>
          </a:prstGeom>
          <a:noFill/>
          <a:ln/>
        </p:spPr>
        <p:txBody>
          <a:bodyPr wrap="square" lIns="0" tIns="0" rIns="0" bIns="0" rtlCol="0" anchor="t"/>
          <a:lstStyle/>
          <a:p>
            <a:pPr algn="l" indent="0" marL="0">
              <a:buNone/>
            </a:pPr>
            <a:r>
              <a:rPr lang="en-US" sz="1200" dirty="0">
                <a:solidFill>
                  <a:srgbClr val="6E7F6E"/>
                </a:solidFill>
              </a:rPr>
              <a:t>A household orders five items from one market.</a:t>
            </a:r>
            <a:endParaRPr lang="en-US" sz="1200" dirty="0"/>
          </a:p>
        </p:txBody>
      </p:sp>
      <p:sp>
        <p:nvSpPr>
          <p:cNvPr id="9" name="flow-card-2"/>
          <p:cNvSpPr/>
          <p:nvPr/>
        </p:nvSpPr>
        <p:spPr>
          <a:xfrm>
            <a:off x="2867558" y="1371600"/>
            <a:ext cx="1971446" cy="2697480"/>
          </a:xfrm>
          <a:prstGeom prst="roundRect">
            <a:avLst>
              <a:gd name="adj" fmla="val 1855"/>
            </a:avLst>
          </a:prstGeom>
          <a:solidFill>
            <a:schemeClr val="bg2"/>
          </a:solidFill>
          <a:ln/>
          <a:effectLst>
            <a:outerShdw sx="100000" sy="100000" kx="0" ky="0" algn="bl" rotWithShape="0" blurRad="127000" dist="25400" dir="5400000">
              <a:srgbClr val="16301A">
                <a:alpha val="10000"/>
              </a:srgbClr>
            </a:outerShdw>
          </a:effectLst>
        </p:spPr>
      </p:sp>
      <p:sp>
        <p:nvSpPr>
          <p:cNvPr id="10" name="flow-badge-2"/>
          <p:cNvSpPr/>
          <p:nvPr/>
        </p:nvSpPr>
        <p:spPr>
          <a:xfrm>
            <a:off x="3105302" y="1609344"/>
            <a:ext cx="438912" cy="438912"/>
          </a:xfrm>
          <a:prstGeom prst="ellipse">
            <a:avLst/>
          </a:prstGeom>
          <a:solidFill>
            <a:srgbClr val="2C5F2D"/>
          </a:solidFill>
          <a:ln/>
        </p:spPr>
      </p:sp>
      <p:sp>
        <p:nvSpPr>
          <p:cNvPr id="11" name="Text 9"/>
          <p:cNvSpPr txBox="1"/>
          <p:nvPr/>
        </p:nvSpPr>
        <p:spPr>
          <a:xfrm>
            <a:off x="3105302" y="16093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3105302" y="2121408"/>
            <a:ext cx="1495958" cy="548640"/>
          </a:xfrm>
          <a:prstGeom prst="rect">
            <a:avLst/>
          </a:prstGeom>
          <a:noFill/>
          <a:ln/>
        </p:spPr>
        <p:txBody>
          <a:bodyPr wrap="square" lIns="0" tIns="0" rIns="0" bIns="0" rtlCol="0" anchor="t"/>
          <a:lstStyle/>
          <a:p>
            <a:pPr algn="l" indent="0" marL="0">
              <a:buNone/>
            </a:pPr>
            <a:r>
              <a:rPr lang="en-US" sz="1450" b="1" dirty="0">
                <a:solidFill>
                  <a:schemeClr val="tx1"/>
                </a:solidFill>
              </a:rPr>
              <a:t>Split by coverage</a:t>
            </a:r>
            <a:endParaRPr lang="en-US" sz="1450" dirty="0"/>
          </a:p>
        </p:txBody>
      </p:sp>
      <p:sp>
        <p:nvSpPr>
          <p:cNvPr id="13" name="Text 11"/>
          <p:cNvSpPr txBox="1"/>
          <p:nvPr/>
        </p:nvSpPr>
        <p:spPr>
          <a:xfrm>
            <a:off x="3105302" y="2688336"/>
            <a:ext cx="1495958" cy="1188720"/>
          </a:xfrm>
          <a:prstGeom prst="rect">
            <a:avLst/>
          </a:prstGeom>
          <a:noFill/>
          <a:ln/>
        </p:spPr>
        <p:txBody>
          <a:bodyPr wrap="square" lIns="0" tIns="0" rIns="0" bIns="0" rtlCol="0" anchor="t"/>
          <a:lstStyle/>
          <a:p>
            <a:pPr algn="l" indent="0" marL="0">
              <a:buNone/>
            </a:pPr>
            <a:r>
              <a:rPr lang="en-US" sz="1200" dirty="0">
                <a:solidFill>
                  <a:srgbClr val="6E7F6E"/>
                </a:solidFill>
              </a:rPr>
              <a:t>The fewest stalls that cover the basket, so a rider walks to two pitches, not five.</a:t>
            </a:r>
            <a:endParaRPr lang="en-US" sz="1200" dirty="0"/>
          </a:p>
        </p:txBody>
      </p:sp>
      <p:sp>
        <p:nvSpPr>
          <p:cNvPr id="14" name="flow-card-3"/>
          <p:cNvSpPr/>
          <p:nvPr/>
        </p:nvSpPr>
        <p:spPr>
          <a:xfrm>
            <a:off x="5095037" y="1371600"/>
            <a:ext cx="1971446" cy="2697480"/>
          </a:xfrm>
          <a:prstGeom prst="roundRect">
            <a:avLst>
              <a:gd name="adj" fmla="val 1855"/>
            </a:avLst>
          </a:prstGeom>
          <a:solidFill>
            <a:schemeClr val="bg2"/>
          </a:solidFill>
          <a:ln/>
          <a:effectLst>
            <a:outerShdw sx="100000" sy="100000" kx="0" ky="0" algn="bl" rotWithShape="0" blurRad="127000" dist="25400" dir="5400000">
              <a:srgbClr val="16301A">
                <a:alpha val="10000"/>
              </a:srgbClr>
            </a:outerShdw>
          </a:effectLst>
        </p:spPr>
      </p:sp>
      <p:sp>
        <p:nvSpPr>
          <p:cNvPr id="15" name="flow-badge-3"/>
          <p:cNvSpPr/>
          <p:nvPr/>
        </p:nvSpPr>
        <p:spPr>
          <a:xfrm>
            <a:off x="5332781" y="1609344"/>
            <a:ext cx="438912" cy="438912"/>
          </a:xfrm>
          <a:prstGeom prst="ellipse">
            <a:avLst/>
          </a:prstGeom>
          <a:solidFill>
            <a:srgbClr val="2C5F2D"/>
          </a:solidFill>
          <a:ln/>
        </p:spPr>
      </p:sp>
      <p:sp>
        <p:nvSpPr>
          <p:cNvPr id="16" name="Text 14"/>
          <p:cNvSpPr txBox="1"/>
          <p:nvPr/>
        </p:nvSpPr>
        <p:spPr>
          <a:xfrm>
            <a:off x="5332781" y="16093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5332781" y="2121408"/>
            <a:ext cx="1495958" cy="548640"/>
          </a:xfrm>
          <a:prstGeom prst="rect">
            <a:avLst/>
          </a:prstGeom>
          <a:noFill/>
          <a:ln/>
        </p:spPr>
        <p:txBody>
          <a:bodyPr wrap="square" lIns="0" tIns="0" rIns="0" bIns="0" rtlCol="0" anchor="t"/>
          <a:lstStyle/>
          <a:p>
            <a:pPr algn="l" indent="0" marL="0">
              <a:buNone/>
            </a:pPr>
            <a:r>
              <a:rPr lang="en-US" sz="1450" b="1" dirty="0">
                <a:solidFill>
                  <a:schemeClr val="tx1"/>
                </a:solidFill>
              </a:rPr>
              <a:t>Stalls pack</a:t>
            </a:r>
            <a:endParaRPr lang="en-US" sz="1450" dirty="0"/>
          </a:p>
        </p:txBody>
      </p:sp>
      <p:sp>
        <p:nvSpPr>
          <p:cNvPr id="18" name="Text 16"/>
          <p:cNvSpPr txBox="1"/>
          <p:nvPr/>
        </p:nvSpPr>
        <p:spPr>
          <a:xfrm>
            <a:off x="5332781" y="2688336"/>
            <a:ext cx="1495958" cy="1188720"/>
          </a:xfrm>
          <a:prstGeom prst="rect">
            <a:avLst/>
          </a:prstGeom>
          <a:noFill/>
          <a:ln/>
        </p:spPr>
        <p:txBody>
          <a:bodyPr wrap="square" lIns="0" tIns="0" rIns="0" bIns="0" rtlCol="0" anchor="t"/>
          <a:lstStyle/>
          <a:p>
            <a:pPr algn="l" indent="0" marL="0">
              <a:buNone/>
            </a:pPr>
            <a:r>
              <a:rPr lang="en-US" sz="1200" dirty="0">
                <a:solidFill>
                  <a:srgbClr val="6E7F6E"/>
                </a:solidFill>
              </a:rPr>
              <a:t>Each stall sees only its own lines. The order moves on when every line is ready.</a:t>
            </a:r>
            <a:endParaRPr lang="en-US" sz="1200" dirty="0"/>
          </a:p>
        </p:txBody>
      </p:sp>
      <p:sp>
        <p:nvSpPr>
          <p:cNvPr id="19" name="flow-card-4"/>
          <p:cNvSpPr/>
          <p:nvPr/>
        </p:nvSpPr>
        <p:spPr>
          <a:xfrm>
            <a:off x="7322515" y="1371600"/>
            <a:ext cx="1971446" cy="2697480"/>
          </a:xfrm>
          <a:prstGeom prst="roundRect">
            <a:avLst>
              <a:gd name="adj" fmla="val 1855"/>
            </a:avLst>
          </a:prstGeom>
          <a:solidFill>
            <a:schemeClr val="tx1"/>
          </a:solidFill>
          <a:ln/>
          <a:effectLst>
            <a:outerShdw sx="100000" sy="100000" kx="0" ky="0" algn="bl" rotWithShape="0" blurRad="127000" dist="25400" dir="5400000">
              <a:srgbClr val="16301A">
                <a:alpha val="10000"/>
              </a:srgbClr>
            </a:outerShdw>
          </a:effectLst>
        </p:spPr>
      </p:sp>
      <p:sp>
        <p:nvSpPr>
          <p:cNvPr id="20" name="flow-badge-4"/>
          <p:cNvSpPr/>
          <p:nvPr/>
        </p:nvSpPr>
        <p:spPr>
          <a:xfrm>
            <a:off x="7560259" y="1609344"/>
            <a:ext cx="438912" cy="438912"/>
          </a:xfrm>
          <a:prstGeom prst="ellipse">
            <a:avLst/>
          </a:prstGeom>
          <a:solidFill>
            <a:srgbClr val="D2601A"/>
          </a:solidFill>
          <a:ln/>
        </p:spPr>
      </p:sp>
      <p:sp>
        <p:nvSpPr>
          <p:cNvPr id="21" name="Text 19"/>
          <p:cNvSpPr txBox="1"/>
          <p:nvPr/>
        </p:nvSpPr>
        <p:spPr>
          <a:xfrm>
            <a:off x="7560259" y="16093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Text 20"/>
          <p:cNvSpPr txBox="1"/>
          <p:nvPr/>
        </p:nvSpPr>
        <p:spPr>
          <a:xfrm>
            <a:off x="7560259" y="2121408"/>
            <a:ext cx="1495958" cy="548640"/>
          </a:xfrm>
          <a:prstGeom prst="rect">
            <a:avLst/>
          </a:prstGeom>
          <a:noFill/>
          <a:ln/>
        </p:spPr>
        <p:txBody>
          <a:bodyPr wrap="square" lIns="0" tIns="0" rIns="0" bIns="0" rtlCol="0" anchor="t"/>
          <a:lstStyle/>
          <a:p>
            <a:pPr algn="l" indent="0" marL="0">
              <a:buNone/>
            </a:pPr>
            <a:r>
              <a:rPr lang="en-US" sz="1450" b="1" dirty="0">
                <a:solidFill>
                  <a:srgbClr val="FFFFFF"/>
                </a:solidFill>
              </a:rPr>
              <a:t>Rider collects</a:t>
            </a:r>
            <a:endParaRPr lang="en-US" sz="1450" dirty="0"/>
          </a:p>
        </p:txBody>
      </p:sp>
      <p:sp>
        <p:nvSpPr>
          <p:cNvPr id="23" name="Text 21"/>
          <p:cNvSpPr txBox="1"/>
          <p:nvPr/>
        </p:nvSpPr>
        <p:spPr>
          <a:xfrm>
            <a:off x="7560259" y="2688336"/>
            <a:ext cx="1495958" cy="1188720"/>
          </a:xfrm>
          <a:prstGeom prst="rect">
            <a:avLst/>
          </a:prstGeom>
          <a:noFill/>
          <a:ln/>
        </p:spPr>
        <p:txBody>
          <a:bodyPr wrap="square" lIns="0" tIns="0" rIns="0" bIns="0" rtlCol="0" anchor="t"/>
          <a:lstStyle/>
          <a:p>
            <a:pPr algn="l" indent="0" marL="0">
              <a:buNone/>
            </a:pPr>
            <a:r>
              <a:rPr lang="en-US" sz="1200" dirty="0">
                <a:solidFill>
                  <a:srgbClr val="97BC62"/>
                </a:solidFill>
              </a:rPr>
              <a:t>At each pitch the rider types that stall's own six-digit code.</a:t>
            </a:r>
            <a:endParaRPr lang="en-US" sz="1200" dirty="0"/>
          </a:p>
        </p:txBody>
      </p:sp>
      <p:sp>
        <p:nvSpPr>
          <p:cNvPr id="24" name="flow-card-5"/>
          <p:cNvSpPr/>
          <p:nvPr/>
        </p:nvSpPr>
        <p:spPr>
          <a:xfrm>
            <a:off x="9549994" y="1371600"/>
            <a:ext cx="1971446" cy="2697480"/>
          </a:xfrm>
          <a:prstGeom prst="roundRect">
            <a:avLst>
              <a:gd name="adj" fmla="val 1855"/>
            </a:avLst>
          </a:prstGeom>
          <a:solidFill>
            <a:schemeClr val="tx1"/>
          </a:solidFill>
          <a:ln/>
          <a:effectLst>
            <a:outerShdw sx="100000" sy="100000" kx="0" ky="0" algn="bl" rotWithShape="0" blurRad="127000" dist="25400" dir="5400000">
              <a:srgbClr val="16301A">
                <a:alpha val="10000"/>
              </a:srgbClr>
            </a:outerShdw>
          </a:effectLst>
        </p:spPr>
      </p:sp>
      <p:sp>
        <p:nvSpPr>
          <p:cNvPr id="25" name="flow-badge-5"/>
          <p:cNvSpPr/>
          <p:nvPr/>
        </p:nvSpPr>
        <p:spPr>
          <a:xfrm>
            <a:off x="9787738" y="1609344"/>
            <a:ext cx="438912" cy="438912"/>
          </a:xfrm>
          <a:prstGeom prst="ellipse">
            <a:avLst/>
          </a:prstGeom>
          <a:solidFill>
            <a:srgbClr val="D2601A"/>
          </a:solidFill>
          <a:ln/>
        </p:spPr>
      </p:sp>
      <p:sp>
        <p:nvSpPr>
          <p:cNvPr id="26" name="Text 24"/>
          <p:cNvSpPr txBox="1"/>
          <p:nvPr/>
        </p:nvSpPr>
        <p:spPr>
          <a:xfrm>
            <a:off x="9787738" y="16093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7" name="Text 25"/>
          <p:cNvSpPr txBox="1"/>
          <p:nvPr/>
        </p:nvSpPr>
        <p:spPr>
          <a:xfrm>
            <a:off x="9787738" y="2121408"/>
            <a:ext cx="1495958" cy="548640"/>
          </a:xfrm>
          <a:prstGeom prst="rect">
            <a:avLst/>
          </a:prstGeom>
          <a:noFill/>
          <a:ln/>
        </p:spPr>
        <p:txBody>
          <a:bodyPr wrap="square" lIns="0" tIns="0" rIns="0" bIns="0" rtlCol="0" anchor="t"/>
          <a:lstStyle/>
          <a:p>
            <a:pPr algn="l" indent="0" marL="0">
              <a:buNone/>
            </a:pPr>
            <a:r>
              <a:rPr lang="en-US" sz="1450" b="1" dirty="0">
                <a:solidFill>
                  <a:srgbClr val="FFFFFF"/>
                </a:solidFill>
              </a:rPr>
              <a:t>Household confirms</a:t>
            </a:r>
            <a:endParaRPr lang="en-US" sz="1450" dirty="0"/>
          </a:p>
        </p:txBody>
      </p:sp>
      <p:sp>
        <p:nvSpPr>
          <p:cNvPr id="28" name="Text 26"/>
          <p:cNvSpPr txBox="1"/>
          <p:nvPr/>
        </p:nvSpPr>
        <p:spPr>
          <a:xfrm>
            <a:off x="9787738" y="2688336"/>
            <a:ext cx="1495958" cy="1188720"/>
          </a:xfrm>
          <a:prstGeom prst="rect">
            <a:avLst/>
          </a:prstGeom>
          <a:noFill/>
          <a:ln/>
        </p:spPr>
        <p:txBody>
          <a:bodyPr wrap="square" lIns="0" tIns="0" rIns="0" bIns="0" rtlCol="0" anchor="t"/>
          <a:lstStyle/>
          <a:p>
            <a:pPr algn="l" indent="0" marL="0">
              <a:buNone/>
            </a:pPr>
            <a:r>
              <a:rPr lang="en-US" sz="1200" dirty="0">
                <a:solidFill>
                  <a:srgbClr val="97BC62"/>
                </a:solidFill>
              </a:rPr>
              <a:t>At the door the rider types the code the household is shown. Only then is it delivered.</a:t>
            </a:r>
            <a:endParaRPr lang="en-US" sz="1200" dirty="0"/>
          </a:p>
        </p:txBody>
      </p:sp>
      <p:sp>
        <p:nvSpPr>
          <p:cNvPr id="29" name="hand-note-1"/>
          <p:cNvSpPr/>
          <p:nvPr/>
        </p:nvSpPr>
        <p:spPr>
          <a:xfrm>
            <a:off x="640080" y="4279392"/>
            <a:ext cx="5257800" cy="1572768"/>
          </a:xfrm>
          <a:prstGeom prst="roundRect">
            <a:avLst>
              <a:gd name="adj" fmla="val 2326"/>
            </a:avLst>
          </a:prstGeom>
          <a:solidFill>
            <a:schemeClr val="bg2"/>
          </a:solidFill>
          <a:ln w="9525">
            <a:solidFill>
              <a:srgbClr val="97BC62"/>
            </a:solidFill>
            <a:prstDash val="solid"/>
          </a:ln>
          <a:effectLst>
            <a:outerShdw sx="100000" sy="100000" kx="0" ky="0" algn="bl" rotWithShape="0" blurRad="127000" dist="25400" dir="5400000">
              <a:srgbClr val="16301A">
                <a:alpha val="10000"/>
              </a:srgbClr>
            </a:outerShdw>
          </a:effectLst>
        </p:spPr>
      </p:sp>
      <p:sp>
        <p:nvSpPr>
          <p:cNvPr id="30" name="Text 28"/>
          <p:cNvSpPr txBox="1"/>
          <p:nvPr/>
        </p:nvSpPr>
        <p:spPr>
          <a:xfrm>
            <a:off x="969264" y="4480560"/>
            <a:ext cx="4599432" cy="512064"/>
          </a:xfrm>
          <a:prstGeom prst="rect">
            <a:avLst/>
          </a:prstGeom>
          <a:noFill/>
          <a:ln/>
        </p:spPr>
        <p:txBody>
          <a:bodyPr wrap="square" lIns="0" tIns="0" rIns="0" bIns="0" rtlCol="0" anchor="t"/>
          <a:lstStyle/>
          <a:p>
            <a:pPr algn="l" indent="0" marL="0">
              <a:buNone/>
            </a:pPr>
            <a:r>
              <a:rPr lang="en-US" sz="1500" b="1" dirty="0">
                <a:solidFill>
                  <a:srgbClr val="2C5F2D"/>
                </a:solidFill>
              </a:rPr>
              <a:t>The rider types both codes and is shown neither</a:t>
            </a:r>
            <a:endParaRPr lang="en-US" sz="1500" dirty="0"/>
          </a:p>
        </p:txBody>
      </p:sp>
      <p:sp>
        <p:nvSpPr>
          <p:cNvPr id="31" name="Text 29"/>
          <p:cNvSpPr txBox="1"/>
          <p:nvPr/>
        </p:nvSpPr>
        <p:spPr>
          <a:xfrm>
            <a:off x="969264" y="5010912"/>
            <a:ext cx="4599432" cy="731520"/>
          </a:xfrm>
          <a:prstGeom prst="rect">
            <a:avLst/>
          </a:prstGeom>
          <a:noFill/>
          <a:ln/>
        </p:spPr>
        <p:txBody>
          <a:bodyPr wrap="square" lIns="0" tIns="0" rIns="0" bIns="0" rtlCol="0" anchor="t"/>
          <a:lstStyle/>
          <a:p>
            <a:pPr algn="l" indent="0" marL="0">
              <a:buNone/>
            </a:pPr>
            <a:r>
              <a:rPr lang="en-US" sz="1250" dirty="0">
                <a:solidFill>
                  <a:srgbClr val="6E7F6E"/>
                </a:solidFill>
              </a:rPr>
              <a:t>No screen or endpoint will put either code in front of a rider's session. A false handover needs two people to agree to it.</a:t>
            </a:r>
            <a:endParaRPr lang="en-US" sz="1250" dirty="0"/>
          </a:p>
        </p:txBody>
      </p:sp>
      <p:sp>
        <p:nvSpPr>
          <p:cNvPr id="32" name="hand-note-2"/>
          <p:cNvSpPr/>
          <p:nvPr/>
        </p:nvSpPr>
        <p:spPr>
          <a:xfrm>
            <a:off x="6263640" y="4279392"/>
            <a:ext cx="5257800" cy="1572768"/>
          </a:xfrm>
          <a:prstGeom prst="roundRect">
            <a:avLst>
              <a:gd name="adj" fmla="val 2326"/>
            </a:avLst>
          </a:prstGeom>
          <a:solidFill>
            <a:schemeClr val="bg2"/>
          </a:solidFill>
          <a:ln w="9525">
            <a:solidFill>
              <a:srgbClr val="97BC62"/>
            </a:solidFill>
            <a:prstDash val="solid"/>
          </a:ln>
          <a:effectLst>
            <a:outerShdw sx="100000" sy="100000" kx="0" ky="0" algn="bl" rotWithShape="0" blurRad="127000" dist="25400" dir="5400000">
              <a:srgbClr val="16301A">
                <a:alpha val="10000"/>
              </a:srgbClr>
            </a:outerShdw>
          </a:effectLst>
        </p:spPr>
      </p:sp>
      <p:sp>
        <p:nvSpPr>
          <p:cNvPr id="33" name="Text 31"/>
          <p:cNvSpPr txBox="1"/>
          <p:nvPr/>
        </p:nvSpPr>
        <p:spPr>
          <a:xfrm>
            <a:off x="6592824" y="4480560"/>
            <a:ext cx="4599432" cy="512064"/>
          </a:xfrm>
          <a:prstGeom prst="rect">
            <a:avLst/>
          </a:prstGeom>
          <a:noFill/>
          <a:ln/>
        </p:spPr>
        <p:txBody>
          <a:bodyPr wrap="square" lIns="0" tIns="0" rIns="0" bIns="0" rtlCol="0" anchor="t"/>
          <a:lstStyle/>
          <a:p>
            <a:pPr algn="l" indent="0" marL="0">
              <a:buNone/>
            </a:pPr>
            <a:r>
              <a:rPr lang="en-US" sz="1500" b="1" dirty="0">
                <a:solidFill>
                  <a:srgbClr val="2C5F2D"/>
                </a:solidFill>
              </a:rPr>
              <a:t>A code exists only once someone has been shown it</a:t>
            </a:r>
            <a:endParaRPr lang="en-US" sz="1500" dirty="0"/>
          </a:p>
        </p:txBody>
      </p:sp>
      <p:sp>
        <p:nvSpPr>
          <p:cNvPr id="34" name="Text 32"/>
          <p:cNvSpPr txBox="1"/>
          <p:nvPr/>
        </p:nvSpPr>
        <p:spPr>
          <a:xfrm>
            <a:off x="6592824" y="5010912"/>
            <a:ext cx="4599432" cy="731520"/>
          </a:xfrm>
          <a:prstGeom prst="rect">
            <a:avLst/>
          </a:prstGeom>
          <a:noFill/>
          <a:ln/>
        </p:spPr>
        <p:txBody>
          <a:bodyPr wrap="square" lIns="0" tIns="0" rIns="0" bIns="0" rtlCol="0" anchor="t"/>
          <a:lstStyle/>
          <a:p>
            <a:pPr algn="l" indent="0" marL="0">
              <a:buNone/>
            </a:pPr>
            <a:r>
              <a:rPr lang="en-US" sz="1250" dirty="0">
                <a:solidFill>
                  <a:srgbClr val="6E7F6E"/>
                </a:solidFill>
              </a:rPr>
              <a:t>It is created the first time its holder opens it, so a code nobody has seen cannot be redeemed, and five wrong guesses kill it.</a:t>
            </a:r>
            <a:endParaRPr lang="en-US" sz="125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CONTROLS</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Built so this cannot come back on you</a:t>
            </a:r>
            <a:endParaRPr lang="en-US" sz="3200" dirty="0"/>
          </a:p>
        </p:txBody>
      </p:sp>
      <p:sp>
        <p:nvSpPr>
          <p:cNvPr id="4" name="control-card-1"/>
          <p:cNvSpPr/>
          <p:nvPr/>
        </p:nvSpPr>
        <p:spPr>
          <a:xfrm>
            <a:off x="640080" y="1371600"/>
            <a:ext cx="3383280" cy="1828800"/>
          </a:xfrm>
          <a:prstGeom prst="roundRect">
            <a:avLst>
              <a:gd name="adj" fmla="val 2000"/>
            </a:avLst>
          </a:prstGeom>
          <a:solidFill>
            <a:schemeClr val="bg1"/>
          </a:solidFill>
          <a:ln/>
          <a:effectLst>
            <a:outerShdw sx="100000" sy="100000" kx="0" ky="0" algn="bl" rotWithShape="0" blurRad="127000" dist="25400" dir="5400000">
              <a:srgbClr val="16301A">
                <a:alpha val="10000"/>
              </a:srgbClr>
            </a:outerShdw>
          </a:effectLst>
        </p:spPr>
      </p:sp>
      <p:sp>
        <p:nvSpPr>
          <p:cNvPr id="5" name="control-badge-1"/>
          <p:cNvSpPr/>
          <p:nvPr/>
        </p:nvSpPr>
        <p:spPr>
          <a:xfrm>
            <a:off x="914400" y="1609344"/>
            <a:ext cx="420624" cy="420624"/>
          </a:xfrm>
          <a:prstGeom prst="ellipse">
            <a:avLst/>
          </a:prstGeom>
          <a:solidFill>
            <a:srgbClr val="2C5F2D"/>
          </a:solidFill>
          <a:ln/>
        </p:spPr>
      </p:sp>
      <p:sp>
        <p:nvSpPr>
          <p:cNvPr id="6" name="Text 4"/>
          <p:cNvSpPr txBox="1"/>
          <p:nvPr/>
        </p:nvSpPr>
        <p:spPr>
          <a:xfrm>
            <a:off x="914400" y="160934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Text 5"/>
          <p:cNvSpPr txBox="1"/>
          <p:nvPr/>
        </p:nvSpPr>
        <p:spPr>
          <a:xfrm>
            <a:off x="1444752" y="1572768"/>
            <a:ext cx="2304288" cy="512064"/>
          </a:xfrm>
          <a:prstGeom prst="rect">
            <a:avLst/>
          </a:prstGeom>
          <a:noFill/>
          <a:ln/>
        </p:spPr>
        <p:txBody>
          <a:bodyPr wrap="square" lIns="0" tIns="0" rIns="0" bIns="0" rtlCol="0" anchor="ctr"/>
          <a:lstStyle/>
          <a:p>
            <a:pPr algn="l" indent="0" marL="0">
              <a:buNone/>
            </a:pPr>
            <a:r>
              <a:rPr lang="en-US" sz="1450" b="1" dirty="0">
                <a:solidFill>
                  <a:schemeClr val="tx1"/>
                </a:solidFill>
              </a:rPr>
              <a:t>No passwords exist</a:t>
            </a:r>
            <a:endParaRPr lang="en-US" sz="1450" dirty="0"/>
          </a:p>
        </p:txBody>
      </p:sp>
      <p:sp>
        <p:nvSpPr>
          <p:cNvPr id="8" name="Text 6"/>
          <p:cNvSpPr txBox="1"/>
          <p:nvPr/>
        </p:nvSpPr>
        <p:spPr>
          <a:xfrm>
            <a:off x="914400" y="2157984"/>
            <a:ext cx="2834640" cy="914400"/>
          </a:xfrm>
          <a:prstGeom prst="rect">
            <a:avLst/>
          </a:prstGeom>
          <a:noFill/>
          <a:ln/>
        </p:spPr>
        <p:txBody>
          <a:bodyPr wrap="square" lIns="0" tIns="0" rIns="0" bIns="0" rtlCol="0" anchor="t"/>
          <a:lstStyle/>
          <a:p>
            <a:pPr algn="l" indent="0" marL="0">
              <a:buNone/>
            </a:pPr>
            <a:r>
              <a:rPr lang="en-US" sz="1200" dirty="0">
                <a:solidFill>
                  <a:srgbClr val="6E7F6E"/>
                </a:solidFill>
              </a:rPr>
              <a:t>Possession of the phone number is the only credential. No password field, no reset, nothing to leak or reuse. Codes arrive over WhatsApp.</a:t>
            </a:r>
            <a:endParaRPr lang="en-US" sz="1200" dirty="0"/>
          </a:p>
        </p:txBody>
      </p:sp>
      <p:sp>
        <p:nvSpPr>
          <p:cNvPr id="9" name="control-card-2"/>
          <p:cNvSpPr/>
          <p:nvPr/>
        </p:nvSpPr>
        <p:spPr>
          <a:xfrm>
            <a:off x="4389120" y="1371600"/>
            <a:ext cx="3383280" cy="1828800"/>
          </a:xfrm>
          <a:prstGeom prst="roundRect">
            <a:avLst>
              <a:gd name="adj" fmla="val 2000"/>
            </a:avLst>
          </a:prstGeom>
          <a:solidFill>
            <a:schemeClr val="bg1"/>
          </a:solidFill>
          <a:ln/>
          <a:effectLst>
            <a:outerShdw sx="100000" sy="100000" kx="0" ky="0" algn="bl" rotWithShape="0" blurRad="127000" dist="25400" dir="5400000">
              <a:srgbClr val="16301A">
                <a:alpha val="10000"/>
              </a:srgbClr>
            </a:outerShdw>
          </a:effectLst>
        </p:spPr>
      </p:sp>
      <p:sp>
        <p:nvSpPr>
          <p:cNvPr id="10" name="control-badge-2"/>
          <p:cNvSpPr/>
          <p:nvPr/>
        </p:nvSpPr>
        <p:spPr>
          <a:xfrm>
            <a:off x="4663440" y="1609344"/>
            <a:ext cx="420624" cy="420624"/>
          </a:xfrm>
          <a:prstGeom prst="ellipse">
            <a:avLst/>
          </a:prstGeom>
          <a:solidFill>
            <a:srgbClr val="D2601A"/>
          </a:solidFill>
          <a:ln/>
        </p:spPr>
      </p:sp>
      <p:sp>
        <p:nvSpPr>
          <p:cNvPr id="11" name="Text 9"/>
          <p:cNvSpPr txBox="1"/>
          <p:nvPr/>
        </p:nvSpPr>
        <p:spPr>
          <a:xfrm>
            <a:off x="4663440" y="160934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2" name="Text 10"/>
          <p:cNvSpPr txBox="1"/>
          <p:nvPr/>
        </p:nvSpPr>
        <p:spPr>
          <a:xfrm>
            <a:off x="5193792" y="1572768"/>
            <a:ext cx="2304288" cy="512064"/>
          </a:xfrm>
          <a:prstGeom prst="rect">
            <a:avLst/>
          </a:prstGeom>
          <a:noFill/>
          <a:ln/>
        </p:spPr>
        <p:txBody>
          <a:bodyPr wrap="square" lIns="0" tIns="0" rIns="0" bIns="0" rtlCol="0" anchor="ctr"/>
          <a:lstStyle/>
          <a:p>
            <a:pPr algn="l" indent="0" marL="0">
              <a:buNone/>
            </a:pPr>
            <a:r>
              <a:rPr lang="en-US" sz="1450" b="1" dirty="0">
                <a:solidFill>
                  <a:schemeClr val="tx1"/>
                </a:solidFill>
              </a:rPr>
              <a:t>A bank account is proven, not typed</a:t>
            </a:r>
            <a:endParaRPr lang="en-US" sz="1450" dirty="0"/>
          </a:p>
        </p:txBody>
      </p:sp>
      <p:sp>
        <p:nvSpPr>
          <p:cNvPr id="13" name="Text 11"/>
          <p:cNvSpPr txBox="1"/>
          <p:nvPr/>
        </p:nvSpPr>
        <p:spPr>
          <a:xfrm>
            <a:off x="4663440" y="2157984"/>
            <a:ext cx="2834640" cy="914400"/>
          </a:xfrm>
          <a:prstGeom prst="rect">
            <a:avLst/>
          </a:prstGeom>
          <a:noFill/>
          <a:ln/>
        </p:spPr>
        <p:txBody>
          <a:bodyPr wrap="square" lIns="0" tIns="0" rIns="0" bIns="0" rtlCol="0" anchor="t"/>
          <a:lstStyle/>
          <a:p>
            <a:pPr algn="l" indent="0" marL="0">
              <a:buNone/>
            </a:pPr>
            <a:r>
              <a:rPr lang="en-US" sz="1200" dirty="0">
                <a:solidFill>
                  <a:srgbClr val="6E7F6E"/>
                </a:solidFill>
              </a:rPr>
              <a:t>A randomised 1–100 paise deposit, reported back exactly. The account number is encrypted at rest and only ever shown as the last four digits.</a:t>
            </a:r>
            <a:endParaRPr lang="en-US" sz="1200" dirty="0"/>
          </a:p>
        </p:txBody>
      </p:sp>
      <p:sp>
        <p:nvSpPr>
          <p:cNvPr id="14" name="control-card-3"/>
          <p:cNvSpPr/>
          <p:nvPr/>
        </p:nvSpPr>
        <p:spPr>
          <a:xfrm>
            <a:off x="8138160" y="1371600"/>
            <a:ext cx="3383280" cy="1828800"/>
          </a:xfrm>
          <a:prstGeom prst="roundRect">
            <a:avLst>
              <a:gd name="adj" fmla="val 2000"/>
            </a:avLst>
          </a:prstGeom>
          <a:solidFill>
            <a:schemeClr val="bg1"/>
          </a:solidFill>
          <a:ln/>
          <a:effectLst>
            <a:outerShdw sx="100000" sy="100000" kx="0" ky="0" algn="bl" rotWithShape="0" blurRad="127000" dist="25400" dir="5400000">
              <a:srgbClr val="16301A">
                <a:alpha val="10000"/>
              </a:srgbClr>
            </a:outerShdw>
          </a:effectLst>
        </p:spPr>
      </p:sp>
      <p:sp>
        <p:nvSpPr>
          <p:cNvPr id="15" name="control-badge-3"/>
          <p:cNvSpPr/>
          <p:nvPr/>
        </p:nvSpPr>
        <p:spPr>
          <a:xfrm>
            <a:off x="8412480" y="1609344"/>
            <a:ext cx="420624" cy="420624"/>
          </a:xfrm>
          <a:prstGeom prst="ellipse">
            <a:avLst/>
          </a:prstGeom>
          <a:solidFill>
            <a:srgbClr val="4E7A68"/>
          </a:solidFill>
          <a:ln/>
        </p:spPr>
      </p:sp>
      <p:sp>
        <p:nvSpPr>
          <p:cNvPr id="16" name="Text 14"/>
          <p:cNvSpPr txBox="1"/>
          <p:nvPr/>
        </p:nvSpPr>
        <p:spPr>
          <a:xfrm>
            <a:off x="8412480" y="160934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7" name="Text 15"/>
          <p:cNvSpPr txBox="1"/>
          <p:nvPr/>
        </p:nvSpPr>
        <p:spPr>
          <a:xfrm>
            <a:off x="8942832" y="1572768"/>
            <a:ext cx="2304288" cy="512064"/>
          </a:xfrm>
          <a:prstGeom prst="rect">
            <a:avLst/>
          </a:prstGeom>
          <a:noFill/>
          <a:ln/>
        </p:spPr>
        <p:txBody>
          <a:bodyPr wrap="square" lIns="0" tIns="0" rIns="0" bIns="0" rtlCol="0" anchor="ctr"/>
          <a:lstStyle/>
          <a:p>
            <a:pPr algn="l" indent="0" marL="0">
              <a:buNone/>
            </a:pPr>
            <a:r>
              <a:rPr lang="en-US" sz="1450" b="1" dirty="0">
                <a:solidFill>
                  <a:schemeClr val="tx1"/>
                </a:solidFill>
              </a:rPr>
              <a:t>Money is integer paise, never a float</a:t>
            </a:r>
            <a:endParaRPr lang="en-US" sz="1450" dirty="0"/>
          </a:p>
        </p:txBody>
      </p:sp>
      <p:sp>
        <p:nvSpPr>
          <p:cNvPr id="18" name="Text 16"/>
          <p:cNvSpPr txBox="1"/>
          <p:nvPr/>
        </p:nvSpPr>
        <p:spPr>
          <a:xfrm>
            <a:off x="8412480" y="2157984"/>
            <a:ext cx="2834640" cy="914400"/>
          </a:xfrm>
          <a:prstGeom prst="rect">
            <a:avLst/>
          </a:prstGeom>
          <a:noFill/>
          <a:ln/>
        </p:spPr>
        <p:txBody>
          <a:bodyPr wrap="square" lIns="0" tIns="0" rIns="0" bIns="0" rtlCol="0" anchor="t"/>
          <a:lstStyle/>
          <a:p>
            <a:pPr algn="l" indent="0" marL="0">
              <a:buNone/>
            </a:pPr>
            <a:r>
              <a:rPr lang="en-US" sz="1200" dirty="0">
                <a:solidFill>
                  <a:srgbClr val="6E7F6E"/>
                </a:solidFill>
              </a:rPr>
              <a:t>Every amount is whole paise. A wallet balance is derived from an append-only ledger, not a field anyone can edit, and crediting is idempotent.</a:t>
            </a:r>
            <a:endParaRPr lang="en-US" sz="1200" dirty="0"/>
          </a:p>
        </p:txBody>
      </p:sp>
      <p:sp>
        <p:nvSpPr>
          <p:cNvPr id="19" name="control-card-4"/>
          <p:cNvSpPr/>
          <p:nvPr/>
        </p:nvSpPr>
        <p:spPr>
          <a:xfrm>
            <a:off x="640080" y="3474720"/>
            <a:ext cx="3383280" cy="1828800"/>
          </a:xfrm>
          <a:prstGeom prst="roundRect">
            <a:avLst>
              <a:gd name="adj" fmla="val 2000"/>
            </a:avLst>
          </a:prstGeom>
          <a:solidFill>
            <a:schemeClr val="bg1"/>
          </a:solidFill>
          <a:ln/>
          <a:effectLst>
            <a:outerShdw sx="100000" sy="100000" kx="0" ky="0" algn="bl" rotWithShape="0" blurRad="127000" dist="25400" dir="5400000">
              <a:srgbClr val="16301A">
                <a:alpha val="10000"/>
              </a:srgbClr>
            </a:outerShdw>
          </a:effectLst>
        </p:spPr>
      </p:sp>
      <p:sp>
        <p:nvSpPr>
          <p:cNvPr id="20" name="control-badge-4"/>
          <p:cNvSpPr/>
          <p:nvPr/>
        </p:nvSpPr>
        <p:spPr>
          <a:xfrm>
            <a:off x="914400" y="3712464"/>
            <a:ext cx="420624" cy="420624"/>
          </a:xfrm>
          <a:prstGeom prst="ellipse">
            <a:avLst/>
          </a:prstGeom>
          <a:solidFill>
            <a:srgbClr val="B8860B"/>
          </a:solidFill>
          <a:ln/>
        </p:spPr>
      </p:sp>
      <p:sp>
        <p:nvSpPr>
          <p:cNvPr id="21" name="Text 19"/>
          <p:cNvSpPr txBox="1"/>
          <p:nvPr/>
        </p:nvSpPr>
        <p:spPr>
          <a:xfrm>
            <a:off x="914400" y="37124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2" name="Text 20"/>
          <p:cNvSpPr txBox="1"/>
          <p:nvPr/>
        </p:nvSpPr>
        <p:spPr>
          <a:xfrm>
            <a:off x="1444752" y="3675888"/>
            <a:ext cx="2304288" cy="512064"/>
          </a:xfrm>
          <a:prstGeom prst="rect">
            <a:avLst/>
          </a:prstGeom>
          <a:noFill/>
          <a:ln/>
        </p:spPr>
        <p:txBody>
          <a:bodyPr wrap="square" lIns="0" tIns="0" rIns="0" bIns="0" rtlCol="0" anchor="ctr"/>
          <a:lstStyle/>
          <a:p>
            <a:pPr algn="l" indent="0" marL="0">
              <a:buNone/>
            </a:pPr>
            <a:r>
              <a:rPr lang="en-US" sz="1450" b="1" dirty="0">
                <a:solidFill>
                  <a:schemeClr val="tx1"/>
                </a:solidFill>
              </a:rPr>
              <a:t>Nobody sees another's business</a:t>
            </a:r>
            <a:endParaRPr lang="en-US" sz="1450" dirty="0"/>
          </a:p>
        </p:txBody>
      </p:sp>
      <p:sp>
        <p:nvSpPr>
          <p:cNvPr id="23" name="Text 21"/>
          <p:cNvSpPr txBox="1"/>
          <p:nvPr/>
        </p:nvSpPr>
        <p:spPr>
          <a:xfrm>
            <a:off x="914400" y="4261104"/>
            <a:ext cx="2834640" cy="914400"/>
          </a:xfrm>
          <a:prstGeom prst="rect">
            <a:avLst/>
          </a:prstGeom>
          <a:noFill/>
          <a:ln/>
        </p:spPr>
        <p:txBody>
          <a:bodyPr wrap="square" lIns="0" tIns="0" rIns="0" bIns="0" rtlCol="0" anchor="t"/>
          <a:lstStyle/>
          <a:p>
            <a:pPr algn="l" indent="0" marL="0">
              <a:buNone/>
            </a:pPr>
            <a:r>
              <a:rPr lang="en-US" sz="1200" dirty="0">
                <a:solidFill>
                  <a:srgbClr val="6E7F6E"/>
                </a:solidFill>
              </a:rPr>
              <a:t>Order visibility is scoped by role on the server, on every request. One vendor cannot read another's customers, prices or volumes.</a:t>
            </a:r>
            <a:endParaRPr lang="en-US" sz="1200" dirty="0"/>
          </a:p>
        </p:txBody>
      </p:sp>
      <p:sp>
        <p:nvSpPr>
          <p:cNvPr id="24" name="control-card-5"/>
          <p:cNvSpPr/>
          <p:nvPr/>
        </p:nvSpPr>
        <p:spPr>
          <a:xfrm>
            <a:off x="4389120" y="3474720"/>
            <a:ext cx="3383280" cy="1828800"/>
          </a:xfrm>
          <a:prstGeom prst="roundRect">
            <a:avLst>
              <a:gd name="adj" fmla="val 2000"/>
            </a:avLst>
          </a:prstGeom>
          <a:solidFill>
            <a:schemeClr val="bg1"/>
          </a:solidFill>
          <a:ln/>
          <a:effectLst>
            <a:outerShdw sx="100000" sy="100000" kx="0" ky="0" algn="bl" rotWithShape="0" blurRad="127000" dist="25400" dir="5400000">
              <a:srgbClr val="16301A">
                <a:alpha val="10000"/>
              </a:srgbClr>
            </a:outerShdw>
          </a:effectLst>
        </p:spPr>
      </p:sp>
      <p:sp>
        <p:nvSpPr>
          <p:cNvPr id="25" name="control-badge-5"/>
          <p:cNvSpPr/>
          <p:nvPr/>
        </p:nvSpPr>
        <p:spPr>
          <a:xfrm>
            <a:off x="4663440" y="3712464"/>
            <a:ext cx="420624" cy="420624"/>
          </a:xfrm>
          <a:prstGeom prst="ellipse">
            <a:avLst/>
          </a:prstGeom>
          <a:solidFill>
            <a:srgbClr val="2C5F2D"/>
          </a:solidFill>
          <a:ln/>
        </p:spPr>
      </p:sp>
      <p:sp>
        <p:nvSpPr>
          <p:cNvPr id="26" name="Text 24"/>
          <p:cNvSpPr txBox="1"/>
          <p:nvPr/>
        </p:nvSpPr>
        <p:spPr>
          <a:xfrm>
            <a:off x="4663440" y="37124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27" name="Text 25"/>
          <p:cNvSpPr txBox="1"/>
          <p:nvPr/>
        </p:nvSpPr>
        <p:spPr>
          <a:xfrm>
            <a:off x="5193792" y="3675888"/>
            <a:ext cx="2304288" cy="512064"/>
          </a:xfrm>
          <a:prstGeom prst="rect">
            <a:avLst/>
          </a:prstGeom>
          <a:noFill/>
          <a:ln/>
        </p:spPr>
        <p:txBody>
          <a:bodyPr wrap="square" lIns="0" tIns="0" rIns="0" bIns="0" rtlCol="0" anchor="ctr"/>
          <a:lstStyle/>
          <a:p>
            <a:pPr algn="l" indent="0" marL="0">
              <a:buNone/>
            </a:pPr>
            <a:r>
              <a:rPr lang="en-US" sz="1450" b="1" dirty="0">
                <a:solidFill>
                  <a:schemeClr val="tx1"/>
                </a:solidFill>
              </a:rPr>
              <a:t>A suspension takes effect at once</a:t>
            </a:r>
            <a:endParaRPr lang="en-US" sz="1450" dirty="0"/>
          </a:p>
        </p:txBody>
      </p:sp>
      <p:sp>
        <p:nvSpPr>
          <p:cNvPr id="28" name="Text 26"/>
          <p:cNvSpPr txBox="1"/>
          <p:nvPr/>
        </p:nvSpPr>
        <p:spPr>
          <a:xfrm>
            <a:off x="4663440" y="4261104"/>
            <a:ext cx="2834640" cy="914400"/>
          </a:xfrm>
          <a:prstGeom prst="rect">
            <a:avLst/>
          </a:prstGeom>
          <a:noFill/>
          <a:ln/>
        </p:spPr>
        <p:txBody>
          <a:bodyPr wrap="square" lIns="0" tIns="0" rIns="0" bIns="0" rtlCol="0" anchor="t"/>
          <a:lstStyle/>
          <a:p>
            <a:pPr algn="l" indent="0" marL="0">
              <a:buNone/>
            </a:pPr>
            <a:r>
              <a:rPr lang="en-US" sz="1200" dirty="0">
                <a:solidFill>
                  <a:srgbClr val="6E7F6E"/>
                </a:solidFill>
              </a:rPr>
              <a:t>Role and verification status are re-read from the database on every single request, so a de-verified vendor stops trading immediately.</a:t>
            </a:r>
            <a:endParaRPr lang="en-US" sz="1200" dirty="0"/>
          </a:p>
        </p:txBody>
      </p:sp>
      <p:sp>
        <p:nvSpPr>
          <p:cNvPr id="29" name="control-card-6"/>
          <p:cNvSpPr/>
          <p:nvPr/>
        </p:nvSpPr>
        <p:spPr>
          <a:xfrm>
            <a:off x="8138160" y="3474720"/>
            <a:ext cx="3383280" cy="1828800"/>
          </a:xfrm>
          <a:prstGeom prst="roundRect">
            <a:avLst>
              <a:gd name="adj" fmla="val 2000"/>
            </a:avLst>
          </a:prstGeom>
          <a:solidFill>
            <a:schemeClr val="bg1"/>
          </a:solidFill>
          <a:ln/>
          <a:effectLst>
            <a:outerShdw sx="100000" sy="100000" kx="0" ky="0" algn="bl" rotWithShape="0" blurRad="127000" dist="25400" dir="5400000">
              <a:srgbClr val="16301A">
                <a:alpha val="10000"/>
              </a:srgbClr>
            </a:outerShdw>
          </a:effectLst>
        </p:spPr>
      </p:sp>
      <p:sp>
        <p:nvSpPr>
          <p:cNvPr id="30" name="control-badge-6"/>
          <p:cNvSpPr/>
          <p:nvPr/>
        </p:nvSpPr>
        <p:spPr>
          <a:xfrm>
            <a:off x="8412480" y="3712464"/>
            <a:ext cx="420624" cy="420624"/>
          </a:xfrm>
          <a:prstGeom prst="ellipse">
            <a:avLst/>
          </a:prstGeom>
          <a:solidFill>
            <a:srgbClr val="D2601A"/>
          </a:solidFill>
          <a:ln/>
        </p:spPr>
      </p:sp>
      <p:sp>
        <p:nvSpPr>
          <p:cNvPr id="31" name="Text 29"/>
          <p:cNvSpPr txBox="1"/>
          <p:nvPr/>
        </p:nvSpPr>
        <p:spPr>
          <a:xfrm>
            <a:off x="8412480" y="37124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32" name="Text 30"/>
          <p:cNvSpPr txBox="1"/>
          <p:nvPr/>
        </p:nvSpPr>
        <p:spPr>
          <a:xfrm>
            <a:off x="8942832" y="3675888"/>
            <a:ext cx="2304288" cy="512064"/>
          </a:xfrm>
          <a:prstGeom prst="rect">
            <a:avLst/>
          </a:prstGeom>
          <a:noFill/>
          <a:ln/>
        </p:spPr>
        <p:txBody>
          <a:bodyPr wrap="square" lIns="0" tIns="0" rIns="0" bIns="0" rtlCol="0" anchor="ctr"/>
          <a:lstStyle/>
          <a:p>
            <a:pPr algn="l" indent="0" marL="0">
              <a:buNone/>
            </a:pPr>
            <a:r>
              <a:rPr lang="en-US" sz="1450" b="1" dirty="0">
                <a:solidFill>
                  <a:schemeClr val="tx1"/>
                </a:solidFill>
              </a:rPr>
              <a:t>67 automated test suites on the server</a:t>
            </a:r>
            <a:endParaRPr lang="en-US" sz="1450" dirty="0"/>
          </a:p>
        </p:txBody>
      </p:sp>
      <p:sp>
        <p:nvSpPr>
          <p:cNvPr id="33" name="Text 31"/>
          <p:cNvSpPr txBox="1"/>
          <p:nvPr/>
        </p:nvSpPr>
        <p:spPr>
          <a:xfrm>
            <a:off x="8412480" y="4261104"/>
            <a:ext cx="2834640" cy="914400"/>
          </a:xfrm>
          <a:prstGeom prst="rect">
            <a:avLst/>
          </a:prstGeom>
          <a:noFill/>
          <a:ln/>
        </p:spPr>
        <p:txBody>
          <a:bodyPr wrap="square" lIns="0" tIns="0" rIns="0" bIns="0" rtlCol="0" anchor="t"/>
          <a:lstStyle/>
          <a:p>
            <a:pPr algn="l" indent="0" marL="0">
              <a:buNone/>
            </a:pPr>
            <a:r>
              <a:rPr lang="en-US" sz="1200" dirty="0">
                <a:solidFill>
                  <a:srgbClr val="6E7F6E"/>
                </a:solidFill>
              </a:rPr>
              <a:t>Covering settlement arithmetic, authorisation boundaries, handover-code leakage, geo-fencing and migrations. They run on every change.</a:t>
            </a:r>
            <a:endParaRPr lang="en-US" sz="1200" dirty="0"/>
          </a:p>
        </p:txBody>
      </p:sp>
      <p:sp>
        <p:nvSpPr>
          <p:cNvPr id="34" name="Text 32"/>
          <p:cNvSpPr txBox="1"/>
          <p:nvPr/>
        </p:nvSpPr>
        <p:spPr>
          <a:xfrm>
            <a:off x="640080" y="5614416"/>
            <a:ext cx="10881360" cy="329184"/>
          </a:xfrm>
          <a:prstGeom prst="rect">
            <a:avLst/>
          </a:prstGeom>
          <a:noFill/>
          <a:ln/>
        </p:spPr>
        <p:txBody>
          <a:bodyPr wrap="square" lIns="0" tIns="0" rIns="0" bIns="0" rtlCol="0" anchor="ctr"/>
          <a:lstStyle/>
          <a:p>
            <a:pPr algn="l" indent="0" marL="0">
              <a:buNone/>
            </a:pPr>
            <a:r>
              <a:rPr lang="en-US" sz="1350" b="1" i="1" dirty="0">
                <a:solidFill>
                  <a:srgbClr val="2C5F2D"/>
                </a:solidFill>
              </a:rPr>
              <a:t>Every item above is in the code today and can be read by any auditor your department nominates.</a:t>
            </a:r>
            <a:endParaRPr lang="en-US" sz="135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THE COMMERCIAL MODEL</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The market sets the split, not the platform</a:t>
            </a:r>
            <a:endParaRPr lang="en-US" sz="3200" dirty="0"/>
          </a:p>
        </p:txBody>
      </p:sp>
      <p:sp>
        <p:nvSpPr>
          <p:cNvPr id="4" name="Text 2"/>
          <p:cNvSpPr txBox="1"/>
          <p:nvPr/>
        </p:nvSpPr>
        <p:spPr>
          <a:xfrm>
            <a:off x="640080" y="1243584"/>
            <a:ext cx="10881360" cy="530352"/>
          </a:xfrm>
          <a:prstGeom prst="rect">
            <a:avLst/>
          </a:prstGeom>
          <a:noFill/>
          <a:ln/>
        </p:spPr>
        <p:txBody>
          <a:bodyPr wrap="square" lIns="0" tIns="0" rIns="0" bIns="0" rtlCol="0" anchor="t"/>
          <a:lstStyle/>
          <a:p>
            <a:pPr algn="l" indent="0" marL="0">
              <a:buNone/>
            </a:pPr>
            <a:r>
              <a:rPr lang="en-US" sz="1400" dirty="0">
                <a:solidFill>
                  <a:srgbClr val="6E7F6E"/>
                </a:solidFill>
              </a:rPr>
              <a:t>Every order's gross is divided into five buckets that must add up to exactly 100%. There is a state-wide default and a per-market override, so a Rythu Bazaar can run on different terms from a private market.</a:t>
            </a:r>
            <a:endParaRPr lang="en-US" sz="1400" dirty="0"/>
          </a:p>
        </p:txBody>
      </p:sp>
      <p:sp>
        <p:nvSpPr>
          <p:cNvPr id="5" name="Text 3"/>
          <p:cNvSpPr txBox="1"/>
          <p:nvPr/>
        </p:nvSpPr>
        <p:spPr>
          <a:xfrm>
            <a:off x="640080" y="1810512"/>
            <a:ext cx="6492240" cy="237744"/>
          </a:xfrm>
          <a:prstGeom prst="rect">
            <a:avLst/>
          </a:prstGeom>
          <a:noFill/>
          <a:ln/>
        </p:spPr>
        <p:txBody>
          <a:bodyPr wrap="square" lIns="0" tIns="0" rIns="0" bIns="0" rtlCol="0" anchor="ctr"/>
          <a:lstStyle/>
          <a:p>
            <a:pPr algn="l" indent="0" marL="0">
              <a:buNone/>
            </a:pPr>
            <a:r>
              <a:rPr lang="en-US" sz="950" b="1" spc="180" kern="0" dirty="0">
                <a:solidFill>
                  <a:srgbClr val="6E7F6E"/>
                </a:solidFill>
              </a:rPr>
              <a:t>SHARE OF EACH ORDER'S GROSS</a:t>
            </a:r>
            <a:endParaRPr lang="en-US" sz="950" dirty="0"/>
          </a:p>
        </p:txBody>
      </p:sp>
      <p:sp>
        <p:nvSpPr>
          <p:cNvPr id="6" name="Text 4"/>
          <p:cNvSpPr txBox="1"/>
          <p:nvPr/>
        </p:nvSpPr>
        <p:spPr>
          <a:xfrm>
            <a:off x="640080" y="2103120"/>
            <a:ext cx="1783080" cy="365760"/>
          </a:xfrm>
          <a:prstGeom prst="rect">
            <a:avLst/>
          </a:prstGeom>
          <a:noFill/>
          <a:ln/>
        </p:spPr>
        <p:txBody>
          <a:bodyPr wrap="square" lIns="0" tIns="0" rIns="0" bIns="0" rtlCol="0" anchor="ctr"/>
          <a:lstStyle/>
          <a:p>
            <a:pPr algn="r" indent="0" marL="0">
              <a:buNone/>
            </a:pPr>
            <a:r>
              <a:rPr lang="en-US" sz="1250" dirty="0">
                <a:solidFill>
                  <a:schemeClr val="tx1"/>
                </a:solidFill>
              </a:rPr>
              <a:t>Stall vendor</a:t>
            </a:r>
            <a:endParaRPr lang="en-US" sz="1250" dirty="0"/>
          </a:p>
        </p:txBody>
      </p:sp>
      <p:sp>
        <p:nvSpPr>
          <p:cNvPr id="7" name="split-track-1"/>
          <p:cNvSpPr/>
          <p:nvPr/>
        </p:nvSpPr>
        <p:spPr>
          <a:xfrm>
            <a:off x="2560320" y="2167128"/>
            <a:ext cx="3657600" cy="237744"/>
          </a:xfrm>
          <a:prstGeom prst="roundRect">
            <a:avLst>
              <a:gd name="adj" fmla="val 192308"/>
            </a:avLst>
          </a:prstGeom>
          <a:solidFill>
            <a:schemeClr val="bg2"/>
          </a:solidFill>
          <a:ln/>
        </p:spPr>
      </p:sp>
      <p:sp>
        <p:nvSpPr>
          <p:cNvPr id="8" name="split-bar-1"/>
          <p:cNvSpPr/>
          <p:nvPr/>
        </p:nvSpPr>
        <p:spPr>
          <a:xfrm>
            <a:off x="2560320" y="2167128"/>
            <a:ext cx="3108960" cy="237744"/>
          </a:xfrm>
          <a:prstGeom prst="roundRect">
            <a:avLst>
              <a:gd name="adj" fmla="val 192308"/>
            </a:avLst>
          </a:prstGeom>
          <a:solidFill>
            <a:srgbClr val="2C5F2D"/>
          </a:solidFill>
          <a:ln/>
        </p:spPr>
      </p:sp>
      <p:sp>
        <p:nvSpPr>
          <p:cNvPr id="9" name="Text 7"/>
          <p:cNvSpPr txBox="1"/>
          <p:nvPr/>
        </p:nvSpPr>
        <p:spPr>
          <a:xfrm>
            <a:off x="6345936" y="2103120"/>
            <a:ext cx="731520" cy="365760"/>
          </a:xfrm>
          <a:prstGeom prst="rect">
            <a:avLst/>
          </a:prstGeom>
          <a:noFill/>
          <a:ln/>
        </p:spPr>
        <p:txBody>
          <a:bodyPr wrap="square" lIns="0" tIns="0" rIns="0" bIns="0" rtlCol="0" anchor="ctr"/>
          <a:lstStyle/>
          <a:p>
            <a:pPr algn="l" indent="0" marL="0">
              <a:buNone/>
            </a:pPr>
            <a:r>
              <a:rPr lang="en-US" sz="1300" b="1" dirty="0">
                <a:solidFill>
                  <a:srgbClr val="2C5F2D"/>
                </a:solidFill>
              </a:rPr>
              <a:t>85%</a:t>
            </a:r>
            <a:endParaRPr lang="en-US" sz="1300" dirty="0"/>
          </a:p>
        </p:txBody>
      </p:sp>
      <p:sp>
        <p:nvSpPr>
          <p:cNvPr id="10" name="Text 8"/>
          <p:cNvSpPr txBox="1"/>
          <p:nvPr/>
        </p:nvSpPr>
        <p:spPr>
          <a:xfrm>
            <a:off x="640080" y="2670048"/>
            <a:ext cx="1783080" cy="365760"/>
          </a:xfrm>
          <a:prstGeom prst="rect">
            <a:avLst/>
          </a:prstGeom>
          <a:noFill/>
          <a:ln/>
        </p:spPr>
        <p:txBody>
          <a:bodyPr wrap="square" lIns="0" tIns="0" rIns="0" bIns="0" rtlCol="0" anchor="ctr"/>
          <a:lstStyle/>
          <a:p>
            <a:pPr algn="r" indent="0" marL="0">
              <a:buNone/>
            </a:pPr>
            <a:r>
              <a:rPr lang="en-US" sz="1250" dirty="0">
                <a:solidFill>
                  <a:schemeClr val="tx1"/>
                </a:solidFill>
              </a:rPr>
              <a:t>Rider</a:t>
            </a:r>
            <a:endParaRPr lang="en-US" sz="1250" dirty="0"/>
          </a:p>
        </p:txBody>
      </p:sp>
      <p:sp>
        <p:nvSpPr>
          <p:cNvPr id="11" name="split-track-2"/>
          <p:cNvSpPr/>
          <p:nvPr/>
        </p:nvSpPr>
        <p:spPr>
          <a:xfrm>
            <a:off x="2560320" y="2734056"/>
            <a:ext cx="3657600" cy="237744"/>
          </a:xfrm>
          <a:prstGeom prst="roundRect">
            <a:avLst>
              <a:gd name="adj" fmla="val 192308"/>
            </a:avLst>
          </a:prstGeom>
          <a:solidFill>
            <a:schemeClr val="bg2"/>
          </a:solidFill>
          <a:ln/>
        </p:spPr>
      </p:sp>
      <p:sp>
        <p:nvSpPr>
          <p:cNvPr id="12" name="split-bar-2"/>
          <p:cNvSpPr/>
          <p:nvPr/>
        </p:nvSpPr>
        <p:spPr>
          <a:xfrm>
            <a:off x="2560320" y="2734056"/>
            <a:ext cx="365760" cy="237744"/>
          </a:xfrm>
          <a:prstGeom prst="roundRect">
            <a:avLst>
              <a:gd name="adj" fmla="val 192308"/>
            </a:avLst>
          </a:prstGeom>
          <a:solidFill>
            <a:srgbClr val="2C5F2D"/>
          </a:solidFill>
          <a:ln/>
        </p:spPr>
      </p:sp>
      <p:sp>
        <p:nvSpPr>
          <p:cNvPr id="13" name="Text 11"/>
          <p:cNvSpPr txBox="1"/>
          <p:nvPr/>
        </p:nvSpPr>
        <p:spPr>
          <a:xfrm>
            <a:off x="6345936" y="2670048"/>
            <a:ext cx="731520" cy="365760"/>
          </a:xfrm>
          <a:prstGeom prst="rect">
            <a:avLst/>
          </a:prstGeom>
          <a:noFill/>
          <a:ln/>
        </p:spPr>
        <p:txBody>
          <a:bodyPr wrap="square" lIns="0" tIns="0" rIns="0" bIns="0" rtlCol="0" anchor="ctr"/>
          <a:lstStyle/>
          <a:p>
            <a:pPr algn="l" indent="0" marL="0">
              <a:buNone/>
            </a:pPr>
            <a:r>
              <a:rPr lang="en-US" sz="1300" b="1" dirty="0">
                <a:solidFill>
                  <a:srgbClr val="2C5F2D"/>
                </a:solidFill>
              </a:rPr>
              <a:t>10%</a:t>
            </a:r>
            <a:endParaRPr lang="en-US" sz="1300" dirty="0"/>
          </a:p>
        </p:txBody>
      </p:sp>
      <p:sp>
        <p:nvSpPr>
          <p:cNvPr id="14" name="Text 12"/>
          <p:cNvSpPr txBox="1"/>
          <p:nvPr/>
        </p:nvSpPr>
        <p:spPr>
          <a:xfrm>
            <a:off x="640080" y="3236976"/>
            <a:ext cx="1783080" cy="365760"/>
          </a:xfrm>
          <a:prstGeom prst="rect">
            <a:avLst/>
          </a:prstGeom>
          <a:noFill/>
          <a:ln/>
        </p:spPr>
        <p:txBody>
          <a:bodyPr wrap="square" lIns="0" tIns="0" rIns="0" bIns="0" rtlCol="0" anchor="ctr"/>
          <a:lstStyle/>
          <a:p>
            <a:pPr algn="r" indent="0" marL="0">
              <a:buNone/>
            </a:pPr>
            <a:r>
              <a:rPr lang="en-US" sz="1250" dirty="0">
                <a:solidFill>
                  <a:schemeClr val="tx1"/>
                </a:solidFill>
              </a:rPr>
              <a:t>Market committee</a:t>
            </a:r>
            <a:endParaRPr lang="en-US" sz="1250" dirty="0"/>
          </a:p>
        </p:txBody>
      </p:sp>
      <p:sp>
        <p:nvSpPr>
          <p:cNvPr id="15" name="split-track-3"/>
          <p:cNvSpPr/>
          <p:nvPr/>
        </p:nvSpPr>
        <p:spPr>
          <a:xfrm>
            <a:off x="2560320" y="3300984"/>
            <a:ext cx="3657600" cy="237744"/>
          </a:xfrm>
          <a:prstGeom prst="roundRect">
            <a:avLst>
              <a:gd name="adj" fmla="val 192308"/>
            </a:avLst>
          </a:prstGeom>
          <a:solidFill>
            <a:schemeClr val="bg2"/>
          </a:solidFill>
          <a:ln/>
        </p:spPr>
      </p:sp>
      <p:sp>
        <p:nvSpPr>
          <p:cNvPr id="16" name="split-bar-3"/>
          <p:cNvSpPr/>
          <p:nvPr/>
        </p:nvSpPr>
        <p:spPr>
          <a:xfrm>
            <a:off x="2560320" y="3300984"/>
            <a:ext cx="146304" cy="237744"/>
          </a:xfrm>
          <a:prstGeom prst="roundRect">
            <a:avLst>
              <a:gd name="adj" fmla="val 312500"/>
            </a:avLst>
          </a:prstGeom>
          <a:solidFill>
            <a:srgbClr val="2C5F2D"/>
          </a:solidFill>
          <a:ln/>
        </p:spPr>
      </p:sp>
      <p:sp>
        <p:nvSpPr>
          <p:cNvPr id="17" name="Text 15"/>
          <p:cNvSpPr txBox="1"/>
          <p:nvPr/>
        </p:nvSpPr>
        <p:spPr>
          <a:xfrm>
            <a:off x="6345936" y="3236976"/>
            <a:ext cx="731520" cy="365760"/>
          </a:xfrm>
          <a:prstGeom prst="rect">
            <a:avLst/>
          </a:prstGeom>
          <a:noFill/>
          <a:ln/>
        </p:spPr>
        <p:txBody>
          <a:bodyPr wrap="square" lIns="0" tIns="0" rIns="0" bIns="0" rtlCol="0" anchor="ctr"/>
          <a:lstStyle/>
          <a:p>
            <a:pPr algn="l" indent="0" marL="0">
              <a:buNone/>
            </a:pPr>
            <a:r>
              <a:rPr lang="en-US" sz="1300" b="1" dirty="0">
                <a:solidFill>
                  <a:srgbClr val="2C5F2D"/>
                </a:solidFill>
              </a:rPr>
              <a:t>3%</a:t>
            </a:r>
            <a:endParaRPr lang="en-US" sz="1300" dirty="0"/>
          </a:p>
        </p:txBody>
      </p:sp>
      <p:sp>
        <p:nvSpPr>
          <p:cNvPr id="18" name="Text 16"/>
          <p:cNvSpPr txBox="1"/>
          <p:nvPr/>
        </p:nvSpPr>
        <p:spPr>
          <a:xfrm>
            <a:off x="640080" y="3803904"/>
            <a:ext cx="1783080" cy="365760"/>
          </a:xfrm>
          <a:prstGeom prst="rect">
            <a:avLst/>
          </a:prstGeom>
          <a:noFill/>
          <a:ln/>
        </p:spPr>
        <p:txBody>
          <a:bodyPr wrap="square" lIns="0" tIns="0" rIns="0" bIns="0" rtlCol="0" anchor="ctr"/>
          <a:lstStyle/>
          <a:p>
            <a:pPr algn="r" indent="0" marL="0">
              <a:buNone/>
            </a:pPr>
            <a:r>
              <a:rPr lang="en-US" sz="1250" dirty="0">
                <a:solidFill>
                  <a:schemeClr val="tx1"/>
                </a:solidFill>
              </a:rPr>
              <a:t>Customer incentive</a:t>
            </a:r>
            <a:endParaRPr lang="en-US" sz="1250" dirty="0"/>
          </a:p>
        </p:txBody>
      </p:sp>
      <p:sp>
        <p:nvSpPr>
          <p:cNvPr id="19" name="split-track-4"/>
          <p:cNvSpPr/>
          <p:nvPr/>
        </p:nvSpPr>
        <p:spPr>
          <a:xfrm>
            <a:off x="2560320" y="3867912"/>
            <a:ext cx="3657600" cy="237744"/>
          </a:xfrm>
          <a:prstGeom prst="roundRect">
            <a:avLst>
              <a:gd name="adj" fmla="val 192308"/>
            </a:avLst>
          </a:prstGeom>
          <a:solidFill>
            <a:schemeClr val="bg2"/>
          </a:solidFill>
          <a:ln/>
        </p:spPr>
      </p:sp>
      <p:sp>
        <p:nvSpPr>
          <p:cNvPr id="20" name="split-bar-4"/>
          <p:cNvSpPr/>
          <p:nvPr/>
        </p:nvSpPr>
        <p:spPr>
          <a:xfrm>
            <a:off x="2560320" y="3867912"/>
            <a:ext cx="146304" cy="237744"/>
          </a:xfrm>
          <a:prstGeom prst="roundRect">
            <a:avLst>
              <a:gd name="adj" fmla="val 312500"/>
            </a:avLst>
          </a:prstGeom>
          <a:solidFill>
            <a:srgbClr val="2C5F2D"/>
          </a:solidFill>
          <a:ln/>
        </p:spPr>
      </p:sp>
      <p:sp>
        <p:nvSpPr>
          <p:cNvPr id="21" name="Text 19"/>
          <p:cNvSpPr txBox="1"/>
          <p:nvPr/>
        </p:nvSpPr>
        <p:spPr>
          <a:xfrm>
            <a:off x="6345936" y="3803904"/>
            <a:ext cx="731520" cy="365760"/>
          </a:xfrm>
          <a:prstGeom prst="rect">
            <a:avLst/>
          </a:prstGeom>
          <a:noFill/>
          <a:ln/>
        </p:spPr>
        <p:txBody>
          <a:bodyPr wrap="square" lIns="0" tIns="0" rIns="0" bIns="0" rtlCol="0" anchor="ctr"/>
          <a:lstStyle/>
          <a:p>
            <a:pPr algn="l" indent="0" marL="0">
              <a:buNone/>
            </a:pPr>
            <a:r>
              <a:rPr lang="en-US" sz="1300" b="1" dirty="0">
                <a:solidFill>
                  <a:srgbClr val="2C5F2D"/>
                </a:solidFill>
              </a:rPr>
              <a:t>2%</a:t>
            </a:r>
            <a:endParaRPr lang="en-US" sz="1300" dirty="0"/>
          </a:p>
        </p:txBody>
      </p:sp>
      <p:sp>
        <p:nvSpPr>
          <p:cNvPr id="22" name="Text 20"/>
          <p:cNvSpPr txBox="1"/>
          <p:nvPr/>
        </p:nvSpPr>
        <p:spPr>
          <a:xfrm>
            <a:off x="640080" y="4370832"/>
            <a:ext cx="1783080" cy="365760"/>
          </a:xfrm>
          <a:prstGeom prst="rect">
            <a:avLst/>
          </a:prstGeom>
          <a:noFill/>
          <a:ln/>
        </p:spPr>
        <p:txBody>
          <a:bodyPr wrap="square" lIns="0" tIns="0" rIns="0" bIns="0" rtlCol="0" anchor="ctr"/>
          <a:lstStyle/>
          <a:p>
            <a:pPr algn="r" indent="0" marL="0">
              <a:buNone/>
            </a:pPr>
            <a:r>
              <a:rPr lang="en-US" sz="1250" b="1" dirty="0">
                <a:solidFill>
                  <a:srgbClr val="D2601A"/>
                </a:solidFill>
              </a:rPr>
              <a:t>VegDrop platform</a:t>
            </a:r>
            <a:endParaRPr lang="en-US" sz="1250" dirty="0"/>
          </a:p>
        </p:txBody>
      </p:sp>
      <p:sp>
        <p:nvSpPr>
          <p:cNvPr id="23" name="split-track-5"/>
          <p:cNvSpPr/>
          <p:nvPr/>
        </p:nvSpPr>
        <p:spPr>
          <a:xfrm>
            <a:off x="2560320" y="4434840"/>
            <a:ext cx="3657600" cy="237744"/>
          </a:xfrm>
          <a:prstGeom prst="roundRect">
            <a:avLst>
              <a:gd name="adj" fmla="val 192308"/>
            </a:avLst>
          </a:prstGeom>
          <a:solidFill>
            <a:schemeClr val="bg2"/>
          </a:solidFill>
          <a:ln/>
        </p:spPr>
      </p:sp>
      <p:sp>
        <p:nvSpPr>
          <p:cNvPr id="24" name="Text 22"/>
          <p:cNvSpPr txBox="1"/>
          <p:nvPr/>
        </p:nvSpPr>
        <p:spPr>
          <a:xfrm>
            <a:off x="6345936" y="4370832"/>
            <a:ext cx="731520" cy="365760"/>
          </a:xfrm>
          <a:prstGeom prst="rect">
            <a:avLst/>
          </a:prstGeom>
          <a:noFill/>
          <a:ln/>
        </p:spPr>
        <p:txBody>
          <a:bodyPr wrap="square" lIns="0" tIns="0" rIns="0" bIns="0" rtlCol="0" anchor="ctr"/>
          <a:lstStyle/>
          <a:p>
            <a:pPr algn="l" indent="0" marL="0">
              <a:buNone/>
            </a:pPr>
            <a:r>
              <a:rPr lang="en-US" sz="1300" b="1" dirty="0">
                <a:solidFill>
                  <a:srgbClr val="D2601A"/>
                </a:solidFill>
              </a:rPr>
              <a:t>0%</a:t>
            </a:r>
            <a:endParaRPr lang="en-US" sz="1300" dirty="0"/>
          </a:p>
        </p:txBody>
      </p:sp>
      <p:sp>
        <p:nvSpPr>
          <p:cNvPr id="25" name="Text 23"/>
          <p:cNvSpPr txBox="1"/>
          <p:nvPr/>
        </p:nvSpPr>
        <p:spPr>
          <a:xfrm>
            <a:off x="640080" y="4919472"/>
            <a:ext cx="6492240" cy="274320"/>
          </a:xfrm>
          <a:prstGeom prst="rect">
            <a:avLst/>
          </a:prstGeom>
          <a:noFill/>
          <a:ln/>
        </p:spPr>
        <p:txBody>
          <a:bodyPr wrap="square" lIns="0" tIns="0" rIns="0" bIns="0" rtlCol="0" anchor="ctr"/>
          <a:lstStyle/>
          <a:p>
            <a:pPr algn="l" indent="0" marL="0">
              <a:buNone/>
            </a:pPr>
            <a:r>
              <a:rPr lang="en-US" sz="1050" i="1" dirty="0">
                <a:solidFill>
                  <a:srgbClr val="6E7F6E"/>
                </a:solidFill>
              </a:rPr>
              <a:t>Illustrative split, not a fixed rate. The committee chooses these five numbers.</a:t>
            </a:r>
            <a:endParaRPr lang="en-US" sz="1050" dirty="0"/>
          </a:p>
        </p:txBody>
      </p:sp>
      <p:sp>
        <p:nvSpPr>
          <p:cNvPr id="26" name="Text 24"/>
          <p:cNvSpPr txBox="1"/>
          <p:nvPr/>
        </p:nvSpPr>
        <p:spPr>
          <a:xfrm>
            <a:off x="640080" y="5285232"/>
            <a:ext cx="6492240" cy="566928"/>
          </a:xfrm>
          <a:prstGeom prst="rect">
            <a:avLst/>
          </a:prstGeom>
          <a:noFill/>
          <a:ln/>
        </p:spPr>
        <p:txBody>
          <a:bodyPr wrap="square" lIns="0" tIns="0" rIns="0" bIns="0" rtlCol="0" anchor="t"/>
          <a:lstStyle/>
          <a:p>
            <a:pPr algn="l" indent="0" marL="0">
              <a:buNone/>
            </a:pPr>
            <a:r>
              <a:rPr lang="en-US" sz="1150" i="1" dirty="0">
                <a:solidFill>
                  <a:srgbClr val="6E7F6E"/>
                </a:solidFill>
              </a:rPr>
              <a:t>Commission has exactly one source of truth in the ledger. It is never re-derived as a percentage of sales, so no screen can report revenue the platform never took.</a:t>
            </a:r>
            <a:endParaRPr lang="en-US" sz="1150" dirty="0"/>
          </a:p>
        </p:txBody>
      </p:sp>
      <p:sp>
        <p:nvSpPr>
          <p:cNvPr id="27" name="zero-card"/>
          <p:cNvSpPr/>
          <p:nvPr/>
        </p:nvSpPr>
        <p:spPr>
          <a:xfrm>
            <a:off x="7498080" y="1828800"/>
            <a:ext cx="4023360" cy="1682496"/>
          </a:xfrm>
          <a:prstGeom prst="roundRect">
            <a:avLst>
              <a:gd name="adj" fmla="val 2174"/>
            </a:avLst>
          </a:prstGeom>
          <a:solidFill>
            <a:schemeClr val="tx1"/>
          </a:solidFill>
          <a:ln/>
          <a:effectLst>
            <a:outerShdw sx="100000" sy="100000" kx="0" ky="0" algn="bl" rotWithShape="0" blurRad="127000" dist="25400" dir="5400000">
              <a:srgbClr val="16301A">
                <a:alpha val="10000"/>
              </a:srgbClr>
            </a:outerShdw>
          </a:effectLst>
        </p:spPr>
      </p:sp>
      <p:sp>
        <p:nvSpPr>
          <p:cNvPr id="28" name="Text 26"/>
          <p:cNvSpPr txBox="1"/>
          <p:nvPr/>
        </p:nvSpPr>
        <p:spPr>
          <a:xfrm>
            <a:off x="7827264" y="1920240"/>
            <a:ext cx="3364992" cy="731520"/>
          </a:xfrm>
          <a:prstGeom prst="rect">
            <a:avLst/>
          </a:prstGeom>
          <a:noFill/>
          <a:ln/>
        </p:spPr>
        <p:txBody>
          <a:bodyPr wrap="square" lIns="0" tIns="0" rIns="0" bIns="0" rtlCol="0" anchor="ctr"/>
          <a:lstStyle/>
          <a:p>
            <a:pPr algn="l" indent="0" marL="0">
              <a:buNone/>
            </a:pPr>
            <a:r>
              <a:rPr lang="en-US" sz="5200" b="1" dirty="0">
                <a:solidFill>
                  <a:srgbClr val="97BC62"/>
                </a:solidFill>
              </a:rPr>
              <a:t>0%</a:t>
            </a:r>
            <a:endParaRPr lang="en-US" sz="5200" dirty="0"/>
          </a:p>
        </p:txBody>
      </p:sp>
      <p:sp>
        <p:nvSpPr>
          <p:cNvPr id="29" name="Text 27"/>
          <p:cNvSpPr txBox="1"/>
          <p:nvPr/>
        </p:nvSpPr>
        <p:spPr>
          <a:xfrm>
            <a:off x="7827264" y="2670048"/>
            <a:ext cx="3364992" cy="731520"/>
          </a:xfrm>
          <a:prstGeom prst="rect">
            <a:avLst/>
          </a:prstGeom>
          <a:noFill/>
          <a:ln/>
        </p:spPr>
        <p:txBody>
          <a:bodyPr wrap="square" lIns="0" tIns="0" rIns="0" bIns="0" rtlCol="0" anchor="t"/>
          <a:lstStyle/>
          <a:p>
            <a:pPr algn="l" indent="0" marL="0">
              <a:buNone/>
            </a:pPr>
            <a:r>
              <a:rPr lang="en-US" sz="1300" dirty="0">
                <a:solidFill>
                  <a:srgbClr val="FFFFFF"/>
                </a:solidFill>
              </a:rPr>
              <a:t>is the platform commission the software ships with. Not a launch offer — the shipped default.</a:t>
            </a:r>
            <a:endParaRPr lang="en-US" sz="1300" dirty="0"/>
          </a:p>
        </p:txBody>
      </p:sp>
      <p:sp>
        <p:nvSpPr>
          <p:cNvPr id="30" name="gov-terms-card"/>
          <p:cNvSpPr/>
          <p:nvPr/>
        </p:nvSpPr>
        <p:spPr>
          <a:xfrm>
            <a:off x="7498080" y="3602736"/>
            <a:ext cx="4023360" cy="2286000"/>
          </a:xfrm>
          <a:prstGeom prst="roundRect">
            <a:avLst>
              <a:gd name="adj" fmla="val 1600"/>
            </a:avLst>
          </a:prstGeom>
          <a:solidFill>
            <a:schemeClr val="bg2"/>
          </a:solidFill>
          <a:ln w="9525">
            <a:solidFill>
              <a:srgbClr val="D2601A"/>
            </a:solidFill>
            <a:prstDash val="solid"/>
          </a:ln>
          <a:effectLst>
            <a:outerShdw sx="100000" sy="100000" kx="0" ky="0" algn="bl" rotWithShape="0" blurRad="127000" dist="25400" dir="5400000">
              <a:srgbClr val="16301A">
                <a:alpha val="10000"/>
              </a:srgbClr>
            </a:outerShdw>
          </a:effectLst>
        </p:spPr>
      </p:sp>
      <p:sp>
        <p:nvSpPr>
          <p:cNvPr id="31" name="Text 29"/>
          <p:cNvSpPr txBox="1"/>
          <p:nvPr/>
        </p:nvSpPr>
        <p:spPr>
          <a:xfrm>
            <a:off x="7827264" y="3785616"/>
            <a:ext cx="3364992" cy="310896"/>
          </a:xfrm>
          <a:prstGeom prst="rect">
            <a:avLst/>
          </a:prstGeom>
          <a:noFill/>
          <a:ln/>
        </p:spPr>
        <p:txBody>
          <a:bodyPr wrap="square" lIns="0" tIns="0" rIns="0" bIns="0" rtlCol="0" anchor="ctr"/>
          <a:lstStyle/>
          <a:p>
            <a:pPr algn="l" indent="0" marL="0">
              <a:buNone/>
            </a:pPr>
            <a:r>
              <a:rPr lang="en-US" sz="1400" b="1" dirty="0">
                <a:solidFill>
                  <a:srgbClr val="2C5F2D"/>
                </a:solidFill>
              </a:rPr>
              <a:t>What that means for a Rythu Bazaar</a:t>
            </a:r>
            <a:endParaRPr lang="en-US" sz="1400" dirty="0"/>
          </a:p>
        </p:txBody>
      </p:sp>
      <p:sp>
        <p:nvSpPr>
          <p:cNvPr id="32" name="Text 30"/>
          <p:cNvSpPr txBox="1"/>
          <p:nvPr/>
        </p:nvSpPr>
        <p:spPr>
          <a:xfrm>
            <a:off x="7827264" y="4133088"/>
            <a:ext cx="3364992" cy="1645920"/>
          </a:xfrm>
          <a:prstGeom prst="rect">
            <a:avLst/>
          </a:prstGeom>
          <a:noFill/>
          <a:ln/>
        </p:spPr>
        <p:txBody>
          <a:bodyPr wrap="square" lIns="0" tIns="0" rIns="0" bIns="0" rtlCol="0" anchor="t"/>
          <a:lstStyle/>
          <a:p>
            <a:pPr algn="l" indent="0" marL="0">
              <a:lnSpc>
                <a:spcPct val="120000"/>
              </a:lnSpc>
              <a:buNone/>
            </a:pPr>
            <a:r>
              <a:rPr lang="en-US" sz="1200" dirty="0">
                <a:solidFill>
                  <a:srgbClr val="6E7F6E"/>
                </a:solidFill>
              </a:rPr>
              <a:t>The state or the committee can set the platform's cut to nil, and VegDrop takes nothing from the vendor.</a:t>
            </a:r>
            <a:endParaRPr lang="en-US" sz="1200" dirty="0"/>
          </a:p>
          <a:p>
            <a:pPr algn="l" indent="0" marL="0">
              <a:lnSpc>
                <a:spcPct val="120000"/>
              </a:lnSpc>
              <a:buNone/>
            </a:pPr>
            <a:r>
              <a:rPr lang="en-US" sz="1200" dirty="0">
                <a:solidFill>
                  <a:srgbClr val="6E7F6E"/>
                </a:solidFill>
              </a:rPr>
              <a:t>The rider's and committee's shares are then the only deductions, visible to the vendor line by line.</a:t>
            </a:r>
            <a:endParaRPr lang="en-US" sz="12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PROJECTION, NOT MEASUREMENT</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What one market at steady state would mean</a:t>
            </a:r>
            <a:endParaRPr lang="en-US" sz="3200" dirty="0"/>
          </a:p>
        </p:txBody>
      </p:sp>
      <p:sp>
        <p:nvSpPr>
          <p:cNvPr id="4" name="assumption-card"/>
          <p:cNvSpPr/>
          <p:nvPr/>
        </p:nvSpPr>
        <p:spPr>
          <a:xfrm>
            <a:off x="640080" y="1261872"/>
            <a:ext cx="10881360" cy="731520"/>
          </a:xfrm>
          <a:prstGeom prst="roundRect">
            <a:avLst>
              <a:gd name="adj" fmla="val 5000"/>
            </a:avLst>
          </a:prstGeom>
          <a:solidFill>
            <a:schemeClr val="bg1"/>
          </a:solidFill>
          <a:ln w="9525">
            <a:solidFill>
              <a:srgbClr val="D2601A"/>
            </a:solidFill>
            <a:prstDash val="solid"/>
          </a:ln>
          <a:effectLst>
            <a:outerShdw sx="100000" sy="100000" kx="0" ky="0" algn="bl" rotWithShape="0" blurRad="127000" dist="25400" dir="5400000">
              <a:srgbClr val="16301A">
                <a:alpha val="10000"/>
              </a:srgbClr>
            </a:outerShdw>
          </a:effectLst>
        </p:spPr>
      </p:sp>
      <p:sp>
        <p:nvSpPr>
          <p:cNvPr id="5" name="Text 3"/>
          <p:cNvSpPr txBox="1"/>
          <p:nvPr/>
        </p:nvSpPr>
        <p:spPr>
          <a:xfrm>
            <a:off x="969264" y="1261872"/>
            <a:ext cx="10222992" cy="731520"/>
          </a:xfrm>
          <a:prstGeom prst="rect">
            <a:avLst/>
          </a:prstGeom>
          <a:noFill/>
          <a:ln/>
        </p:spPr>
        <p:txBody>
          <a:bodyPr wrap="square" lIns="0" tIns="0" rIns="0" bIns="0" rtlCol="0" anchor="ctr"/>
          <a:lstStyle/>
          <a:p>
            <a:pPr algn="l" indent="0" marL="0">
              <a:buNone/>
            </a:pPr>
            <a:r>
              <a:rPr lang="en-US" sz="1300" b="1" dirty="0">
                <a:solidFill>
                  <a:srgbClr val="D2601A"/>
                </a:solidFill>
              </a:rPr>
              <a:t>Assumption: </a:t>
            </a:r>
            <a:pPr algn="l" indent="0" marL="0">
              <a:buNone/>
            </a:pPr>
            <a:r>
              <a:rPr lang="en-US" sz="1300" dirty="0">
                <a:solidFill>
                  <a:srgbClr val="6E7F6E"/>
                </a:solidFill>
              </a:rPr>
              <a:t>one market of 60 stalls serving 300 households a day at an average basket of ₹250. Nothing here is measured yet — the arithmetic is shown so you can reject the assumption rather than the conclusion.</a:t>
            </a:r>
            <a:endParaRPr lang="en-US" sz="1300" dirty="0"/>
          </a:p>
        </p:txBody>
      </p:sp>
      <p:sp>
        <p:nvSpPr>
          <p:cNvPr id="6" name="impact-card-1"/>
          <p:cNvSpPr/>
          <p:nvPr/>
        </p:nvSpPr>
        <p:spPr>
          <a:xfrm>
            <a:off x="640080" y="2157984"/>
            <a:ext cx="2446020" cy="2651760"/>
          </a:xfrm>
          <a:prstGeom prst="roundRect">
            <a:avLst>
              <a:gd name="adj" fmla="val 1495"/>
            </a:avLst>
          </a:prstGeom>
          <a:solidFill>
            <a:schemeClr val="bg1"/>
          </a:solidFill>
          <a:ln/>
          <a:effectLst>
            <a:outerShdw sx="100000" sy="100000" kx="0" ky="0" algn="bl" rotWithShape="0" blurRad="127000" dist="25400" dir="5400000">
              <a:srgbClr val="16301A">
                <a:alpha val="10000"/>
              </a:srgbClr>
            </a:outerShdw>
          </a:effectLst>
        </p:spPr>
      </p:sp>
      <p:sp>
        <p:nvSpPr>
          <p:cNvPr id="7" name="Text 5"/>
          <p:cNvSpPr txBox="1"/>
          <p:nvPr/>
        </p:nvSpPr>
        <p:spPr>
          <a:xfrm>
            <a:off x="877824" y="2340864"/>
            <a:ext cx="2043684" cy="694944"/>
          </a:xfrm>
          <a:prstGeom prst="rect">
            <a:avLst/>
          </a:prstGeom>
          <a:noFill/>
          <a:ln/>
        </p:spPr>
        <p:txBody>
          <a:bodyPr wrap="square" lIns="0" tIns="0" rIns="0" bIns="0" rtlCol="0" anchor="ctr"/>
          <a:lstStyle/>
          <a:p>
            <a:pPr algn="l" indent="0" marL="0">
              <a:buNone/>
            </a:pPr>
            <a:r>
              <a:rPr lang="en-US" sz="3000" b="1" dirty="0">
                <a:solidFill>
                  <a:srgbClr val="2C5F2D"/>
                </a:solidFill>
              </a:rPr>
              <a:t>₹75,000</a:t>
            </a:r>
            <a:endParaRPr lang="en-US" sz="3000" dirty="0"/>
          </a:p>
        </p:txBody>
      </p:sp>
      <p:sp>
        <p:nvSpPr>
          <p:cNvPr id="8" name="Text 6"/>
          <p:cNvSpPr txBox="1"/>
          <p:nvPr/>
        </p:nvSpPr>
        <p:spPr>
          <a:xfrm>
            <a:off x="877824" y="3054096"/>
            <a:ext cx="1988820" cy="548640"/>
          </a:xfrm>
          <a:prstGeom prst="rect">
            <a:avLst/>
          </a:prstGeom>
          <a:noFill/>
          <a:ln/>
        </p:spPr>
        <p:txBody>
          <a:bodyPr wrap="square" lIns="0" tIns="0" rIns="0" bIns="0" rtlCol="0" anchor="t"/>
          <a:lstStyle/>
          <a:p>
            <a:pPr algn="l" indent="0" marL="0">
              <a:buNone/>
            </a:pPr>
            <a:r>
              <a:rPr lang="en-US" sz="1250" b="1" dirty="0">
                <a:solidFill>
                  <a:schemeClr val="tx1"/>
                </a:solidFill>
              </a:rPr>
              <a:t>of produce moved</a:t>
            </a:r>
            <a:endParaRPr lang="en-US" sz="1250" dirty="0"/>
          </a:p>
          <a:p>
            <a:pPr algn="l" indent="0" marL="0">
              <a:buNone/>
            </a:pPr>
            <a:r>
              <a:rPr lang="en-US" sz="1250" b="1" dirty="0">
                <a:solidFill>
                  <a:schemeClr val="tx1"/>
                </a:solidFill>
              </a:rPr>
              <a:t>per market per day</a:t>
            </a:r>
            <a:endParaRPr lang="en-US" sz="1250" dirty="0"/>
          </a:p>
        </p:txBody>
      </p:sp>
      <p:sp>
        <p:nvSpPr>
          <p:cNvPr id="9" name="Text 7"/>
          <p:cNvSpPr txBox="1"/>
          <p:nvPr/>
        </p:nvSpPr>
        <p:spPr>
          <a:xfrm>
            <a:off x="877824" y="3639312"/>
            <a:ext cx="1988820" cy="1005840"/>
          </a:xfrm>
          <a:prstGeom prst="rect">
            <a:avLst/>
          </a:prstGeom>
          <a:noFill/>
          <a:ln/>
        </p:spPr>
        <p:txBody>
          <a:bodyPr wrap="square" lIns="0" tIns="0" rIns="0" bIns="0" rtlCol="0" anchor="t"/>
          <a:lstStyle/>
          <a:p>
            <a:pPr algn="l" indent="0" marL="0">
              <a:buNone/>
            </a:pPr>
            <a:r>
              <a:rPr lang="en-US" sz="1150" dirty="0">
                <a:solidFill>
                  <a:srgbClr val="6E7F6E"/>
                </a:solidFill>
              </a:rPr>
              <a:t>300 baskets × ₹250. Demand that no longer depends on who walks past the stall.</a:t>
            </a:r>
            <a:endParaRPr lang="en-US" sz="1150" dirty="0"/>
          </a:p>
        </p:txBody>
      </p:sp>
      <p:sp>
        <p:nvSpPr>
          <p:cNvPr id="10" name="impact-card-2"/>
          <p:cNvSpPr/>
          <p:nvPr/>
        </p:nvSpPr>
        <p:spPr>
          <a:xfrm>
            <a:off x="3451860" y="2157984"/>
            <a:ext cx="2446020" cy="2651760"/>
          </a:xfrm>
          <a:prstGeom prst="roundRect">
            <a:avLst>
              <a:gd name="adj" fmla="val 1495"/>
            </a:avLst>
          </a:prstGeom>
          <a:solidFill>
            <a:schemeClr val="bg1"/>
          </a:solidFill>
          <a:ln/>
          <a:effectLst>
            <a:outerShdw sx="100000" sy="100000" kx="0" ky="0" algn="bl" rotWithShape="0" blurRad="127000" dist="25400" dir="5400000">
              <a:srgbClr val="16301A">
                <a:alpha val="10000"/>
              </a:srgbClr>
            </a:outerShdw>
          </a:effectLst>
        </p:spPr>
      </p:sp>
      <p:sp>
        <p:nvSpPr>
          <p:cNvPr id="11" name="Text 9"/>
          <p:cNvSpPr txBox="1"/>
          <p:nvPr/>
        </p:nvSpPr>
        <p:spPr>
          <a:xfrm>
            <a:off x="3689604" y="2340864"/>
            <a:ext cx="2043684" cy="694944"/>
          </a:xfrm>
          <a:prstGeom prst="rect">
            <a:avLst/>
          </a:prstGeom>
          <a:noFill/>
          <a:ln/>
        </p:spPr>
        <p:txBody>
          <a:bodyPr wrap="square" lIns="0" tIns="0" rIns="0" bIns="0" rtlCol="0" anchor="ctr"/>
          <a:lstStyle/>
          <a:p>
            <a:pPr algn="l" indent="0" marL="0">
              <a:buNone/>
            </a:pPr>
            <a:r>
              <a:rPr lang="en-US" sz="3000" b="1" dirty="0">
                <a:solidFill>
                  <a:srgbClr val="2C5F2D"/>
                </a:solidFill>
              </a:rPr>
              <a:t>₹22.5 L</a:t>
            </a:r>
            <a:endParaRPr lang="en-US" sz="3000" dirty="0"/>
          </a:p>
        </p:txBody>
      </p:sp>
      <p:sp>
        <p:nvSpPr>
          <p:cNvPr id="12" name="Text 10"/>
          <p:cNvSpPr txBox="1"/>
          <p:nvPr/>
        </p:nvSpPr>
        <p:spPr>
          <a:xfrm>
            <a:off x="3689604" y="3054096"/>
            <a:ext cx="1988820" cy="548640"/>
          </a:xfrm>
          <a:prstGeom prst="rect">
            <a:avLst/>
          </a:prstGeom>
          <a:noFill/>
          <a:ln/>
        </p:spPr>
        <p:txBody>
          <a:bodyPr wrap="square" lIns="0" tIns="0" rIns="0" bIns="0" rtlCol="0" anchor="t"/>
          <a:lstStyle/>
          <a:p>
            <a:pPr algn="l" indent="0" marL="0">
              <a:buNone/>
            </a:pPr>
            <a:r>
              <a:rPr lang="en-US" sz="1250" b="1" dirty="0">
                <a:solidFill>
                  <a:schemeClr val="tx1"/>
                </a:solidFill>
              </a:rPr>
              <a:t>per market</a:t>
            </a:r>
            <a:endParaRPr lang="en-US" sz="1250" dirty="0"/>
          </a:p>
          <a:p>
            <a:pPr algn="l" indent="0" marL="0">
              <a:buNone/>
            </a:pPr>
            <a:r>
              <a:rPr lang="en-US" sz="1250" b="1" dirty="0">
                <a:solidFill>
                  <a:schemeClr val="tx1"/>
                </a:solidFill>
              </a:rPr>
              <a:t>per month</a:t>
            </a:r>
            <a:endParaRPr lang="en-US" sz="1250" dirty="0"/>
          </a:p>
        </p:txBody>
      </p:sp>
      <p:sp>
        <p:nvSpPr>
          <p:cNvPr id="13" name="Text 11"/>
          <p:cNvSpPr txBox="1"/>
          <p:nvPr/>
        </p:nvSpPr>
        <p:spPr>
          <a:xfrm>
            <a:off x="3689604" y="3639312"/>
            <a:ext cx="1988820" cy="1005840"/>
          </a:xfrm>
          <a:prstGeom prst="rect">
            <a:avLst/>
          </a:prstGeom>
          <a:noFill/>
          <a:ln/>
        </p:spPr>
        <p:txBody>
          <a:bodyPr wrap="square" lIns="0" tIns="0" rIns="0" bIns="0" rtlCol="0" anchor="t"/>
          <a:lstStyle/>
          <a:p>
            <a:pPr algn="l" indent="0" marL="0">
              <a:buNone/>
            </a:pPr>
            <a:r>
              <a:rPr lang="en-US" sz="1150" dirty="0">
                <a:solidFill>
                  <a:srgbClr val="6E7F6E"/>
                </a:solidFill>
              </a:rPr>
              <a:t>The same arithmetic over 30 market days, flowing to vendors rather than an intermediary.</a:t>
            </a:r>
            <a:endParaRPr lang="en-US" sz="1150" dirty="0"/>
          </a:p>
        </p:txBody>
      </p:sp>
      <p:sp>
        <p:nvSpPr>
          <p:cNvPr id="14" name="impact-card-3"/>
          <p:cNvSpPr/>
          <p:nvPr/>
        </p:nvSpPr>
        <p:spPr>
          <a:xfrm>
            <a:off x="6263640" y="2157984"/>
            <a:ext cx="2446020" cy="2651760"/>
          </a:xfrm>
          <a:prstGeom prst="roundRect">
            <a:avLst>
              <a:gd name="adj" fmla="val 1495"/>
            </a:avLst>
          </a:prstGeom>
          <a:solidFill>
            <a:schemeClr val="bg1"/>
          </a:solidFill>
          <a:ln/>
          <a:effectLst>
            <a:outerShdw sx="100000" sy="100000" kx="0" ky="0" algn="bl" rotWithShape="0" blurRad="127000" dist="25400" dir="5400000">
              <a:srgbClr val="16301A">
                <a:alpha val="10000"/>
              </a:srgbClr>
            </a:outerShdw>
          </a:effectLst>
        </p:spPr>
      </p:sp>
      <p:sp>
        <p:nvSpPr>
          <p:cNvPr id="15" name="Text 13"/>
          <p:cNvSpPr txBox="1"/>
          <p:nvPr/>
        </p:nvSpPr>
        <p:spPr>
          <a:xfrm>
            <a:off x="6501384" y="2340864"/>
            <a:ext cx="2043684" cy="694944"/>
          </a:xfrm>
          <a:prstGeom prst="rect">
            <a:avLst/>
          </a:prstGeom>
          <a:noFill/>
          <a:ln/>
        </p:spPr>
        <p:txBody>
          <a:bodyPr wrap="square" lIns="0" tIns="0" rIns="0" bIns="0" rtlCol="0" anchor="ctr"/>
          <a:lstStyle/>
          <a:p>
            <a:pPr algn="l" indent="0" marL="0">
              <a:buNone/>
            </a:pPr>
            <a:r>
              <a:rPr lang="en-US" sz="3000" b="1" dirty="0">
                <a:solidFill>
                  <a:srgbClr val="2C5F2D"/>
                </a:solidFill>
              </a:rPr>
              <a:t>~10</a:t>
            </a:r>
            <a:endParaRPr lang="en-US" sz="3000" dirty="0"/>
          </a:p>
        </p:txBody>
      </p:sp>
      <p:sp>
        <p:nvSpPr>
          <p:cNvPr id="16" name="Text 14"/>
          <p:cNvSpPr txBox="1"/>
          <p:nvPr/>
        </p:nvSpPr>
        <p:spPr>
          <a:xfrm>
            <a:off x="6501384" y="3054096"/>
            <a:ext cx="1988820" cy="548640"/>
          </a:xfrm>
          <a:prstGeom prst="rect">
            <a:avLst/>
          </a:prstGeom>
          <a:noFill/>
          <a:ln/>
        </p:spPr>
        <p:txBody>
          <a:bodyPr wrap="square" lIns="0" tIns="0" rIns="0" bIns="0" rtlCol="0" anchor="t"/>
          <a:lstStyle/>
          <a:p>
            <a:pPr algn="l" indent="0" marL="0">
              <a:buNone/>
            </a:pPr>
            <a:r>
              <a:rPr lang="en-US" sz="1250" b="1" dirty="0">
                <a:solidFill>
                  <a:schemeClr val="tx1"/>
                </a:solidFill>
              </a:rPr>
              <a:t>rider earning slots</a:t>
            </a:r>
            <a:endParaRPr lang="en-US" sz="1250" dirty="0"/>
          </a:p>
          <a:p>
            <a:pPr algn="l" indent="0" marL="0">
              <a:buNone/>
            </a:pPr>
            <a:r>
              <a:rPr lang="en-US" sz="1250" b="1" dirty="0">
                <a:solidFill>
                  <a:schemeClr val="tx1"/>
                </a:solidFill>
              </a:rPr>
              <a:t>per market</a:t>
            </a:r>
            <a:endParaRPr lang="en-US" sz="1250" dirty="0"/>
          </a:p>
        </p:txBody>
      </p:sp>
      <p:sp>
        <p:nvSpPr>
          <p:cNvPr id="17" name="Text 15"/>
          <p:cNvSpPr txBox="1"/>
          <p:nvPr/>
        </p:nvSpPr>
        <p:spPr>
          <a:xfrm>
            <a:off x="6501384" y="3639312"/>
            <a:ext cx="1988820" cy="1005840"/>
          </a:xfrm>
          <a:prstGeom prst="rect">
            <a:avLst/>
          </a:prstGeom>
          <a:noFill/>
          <a:ln/>
        </p:spPr>
        <p:txBody>
          <a:bodyPr wrap="square" lIns="0" tIns="0" rIns="0" bIns="0" rtlCol="0" anchor="t"/>
          <a:lstStyle/>
          <a:p>
            <a:pPr algn="l" indent="0" marL="0">
              <a:buNone/>
            </a:pPr>
            <a:r>
              <a:rPr lang="en-US" sz="1150" dirty="0">
                <a:solidFill>
                  <a:srgbClr val="6E7F6E"/>
                </a:solidFill>
              </a:rPr>
              <a:t>At roughly 30 deliveries per rider per day, paid per order from the same ledger.</a:t>
            </a:r>
            <a:endParaRPr lang="en-US" sz="1150" dirty="0"/>
          </a:p>
        </p:txBody>
      </p:sp>
      <p:sp>
        <p:nvSpPr>
          <p:cNvPr id="18" name="impact-card-4"/>
          <p:cNvSpPr/>
          <p:nvPr/>
        </p:nvSpPr>
        <p:spPr>
          <a:xfrm>
            <a:off x="9075420" y="2157984"/>
            <a:ext cx="2446020" cy="2651760"/>
          </a:xfrm>
          <a:prstGeom prst="roundRect">
            <a:avLst>
              <a:gd name="adj" fmla="val 1495"/>
            </a:avLst>
          </a:prstGeom>
          <a:solidFill>
            <a:schemeClr val="bg1"/>
          </a:solidFill>
          <a:ln/>
          <a:effectLst>
            <a:outerShdw sx="100000" sy="100000" kx="0" ky="0" algn="bl" rotWithShape="0" blurRad="127000" dist="25400" dir="5400000">
              <a:srgbClr val="16301A">
                <a:alpha val="10000"/>
              </a:srgbClr>
            </a:outerShdw>
          </a:effectLst>
        </p:spPr>
      </p:sp>
      <p:sp>
        <p:nvSpPr>
          <p:cNvPr id="19" name="Text 17"/>
          <p:cNvSpPr txBox="1"/>
          <p:nvPr/>
        </p:nvSpPr>
        <p:spPr>
          <a:xfrm>
            <a:off x="9313164" y="2340864"/>
            <a:ext cx="2043684" cy="694944"/>
          </a:xfrm>
          <a:prstGeom prst="rect">
            <a:avLst/>
          </a:prstGeom>
          <a:noFill/>
          <a:ln/>
        </p:spPr>
        <p:txBody>
          <a:bodyPr wrap="square" lIns="0" tIns="0" rIns="0" bIns="0" rtlCol="0" anchor="ctr"/>
          <a:lstStyle/>
          <a:p>
            <a:pPr algn="l" indent="0" marL="0">
              <a:buNone/>
            </a:pPr>
            <a:r>
              <a:rPr lang="en-US" sz="3000" b="1" dirty="0">
                <a:solidFill>
                  <a:srgbClr val="2C5F2D"/>
                </a:solidFill>
              </a:rPr>
              <a:t>~1,000</a:t>
            </a:r>
            <a:endParaRPr lang="en-US" sz="3000" dirty="0"/>
          </a:p>
        </p:txBody>
      </p:sp>
      <p:sp>
        <p:nvSpPr>
          <p:cNvPr id="20" name="Text 18"/>
          <p:cNvSpPr txBox="1"/>
          <p:nvPr/>
        </p:nvSpPr>
        <p:spPr>
          <a:xfrm>
            <a:off x="9313164" y="3054096"/>
            <a:ext cx="1988820" cy="548640"/>
          </a:xfrm>
          <a:prstGeom prst="rect">
            <a:avLst/>
          </a:prstGeom>
          <a:noFill/>
          <a:ln/>
        </p:spPr>
        <p:txBody>
          <a:bodyPr wrap="square" lIns="0" tIns="0" rIns="0" bIns="0" rtlCol="0" anchor="t"/>
          <a:lstStyle/>
          <a:p>
            <a:pPr algn="l" indent="0" marL="0">
              <a:buNone/>
            </a:pPr>
            <a:r>
              <a:rPr lang="en-US" sz="1250" b="1" dirty="0">
                <a:solidFill>
                  <a:schemeClr val="tx1"/>
                </a:solidFill>
              </a:rPr>
              <a:t>rider slots if</a:t>
            </a:r>
            <a:endParaRPr lang="en-US" sz="1250" dirty="0"/>
          </a:p>
          <a:p>
            <a:pPr algn="l" indent="0" marL="0">
              <a:buNone/>
            </a:pPr>
            <a:r>
              <a:rPr lang="en-US" sz="1250" b="1" dirty="0">
                <a:solidFill>
                  <a:schemeClr val="tx1"/>
                </a:solidFill>
              </a:rPr>
              <a:t>100 markets register</a:t>
            </a:r>
            <a:endParaRPr lang="en-US" sz="1250" dirty="0"/>
          </a:p>
        </p:txBody>
      </p:sp>
      <p:sp>
        <p:nvSpPr>
          <p:cNvPr id="21" name="Text 19"/>
          <p:cNvSpPr txBox="1"/>
          <p:nvPr/>
        </p:nvSpPr>
        <p:spPr>
          <a:xfrm>
            <a:off x="9313164" y="3639312"/>
            <a:ext cx="1988820" cy="1005840"/>
          </a:xfrm>
          <a:prstGeom prst="rect">
            <a:avLst/>
          </a:prstGeom>
          <a:noFill/>
          <a:ln/>
        </p:spPr>
        <p:txBody>
          <a:bodyPr wrap="square" lIns="0" tIns="0" rIns="0" bIns="0" rtlCol="0" anchor="t"/>
          <a:lstStyle/>
          <a:p>
            <a:pPr algn="l" indent="0" marL="0">
              <a:buNone/>
            </a:pPr>
            <a:r>
              <a:rPr lang="en-US" sz="1150" dirty="0">
                <a:solidFill>
                  <a:srgbClr val="6E7F6E"/>
                </a:solidFill>
              </a:rPr>
              <a:t>Onboarding costs one perimeter walk per market, so this scales without state headcount.</a:t>
            </a:r>
            <a:endParaRPr lang="en-US" sz="1150" dirty="0"/>
          </a:p>
        </p:txBody>
      </p:sp>
      <p:sp>
        <p:nvSpPr>
          <p:cNvPr id="22" name="jobs-band"/>
          <p:cNvSpPr/>
          <p:nvPr/>
        </p:nvSpPr>
        <p:spPr>
          <a:xfrm>
            <a:off x="640080" y="4974336"/>
            <a:ext cx="10881360" cy="1152144"/>
          </a:xfrm>
          <a:prstGeom prst="roundRect">
            <a:avLst>
              <a:gd name="adj" fmla="val 3175"/>
            </a:avLst>
          </a:prstGeom>
          <a:solidFill>
            <a:schemeClr val="tx1"/>
          </a:solidFill>
          <a:ln/>
          <a:effectLst>
            <a:outerShdw sx="100000" sy="100000" kx="0" ky="0" algn="bl" rotWithShape="0" blurRad="127000" dist="25400" dir="5400000">
              <a:srgbClr val="16301A">
                <a:alpha val="10000"/>
              </a:srgbClr>
            </a:outerShdw>
          </a:effectLst>
        </p:spPr>
      </p:sp>
      <p:sp>
        <p:nvSpPr>
          <p:cNvPr id="23" name="Text 21"/>
          <p:cNvSpPr txBox="1"/>
          <p:nvPr/>
        </p:nvSpPr>
        <p:spPr>
          <a:xfrm>
            <a:off x="1024128" y="4974336"/>
            <a:ext cx="10113264" cy="1152144"/>
          </a:xfrm>
          <a:prstGeom prst="rect">
            <a:avLst/>
          </a:prstGeom>
          <a:noFill/>
          <a:ln/>
        </p:spPr>
        <p:txBody>
          <a:bodyPr wrap="square" lIns="0" tIns="0" rIns="0" bIns="0" rtlCol="0" anchor="ctr"/>
          <a:lstStyle/>
          <a:p>
            <a:pPr algn="l" indent="0" marL="0">
              <a:lnSpc>
                <a:spcPct val="118000"/>
              </a:lnSpc>
              <a:buNone/>
            </a:pPr>
            <a:r>
              <a:rPr lang="en-US" sz="1300" b="1" dirty="0">
                <a:solidFill>
                  <a:srgbClr val="FFFFFF"/>
                </a:solidFill>
              </a:rPr>
              <a:t>The job this creates is a rider's, and it is created in the vendor's own town.</a:t>
            </a:r>
            <a:endParaRPr lang="en-US" sz="1300" dirty="0"/>
          </a:p>
          <a:p>
            <a:pPr algn="l" indent="0" marL="0">
              <a:lnSpc>
                <a:spcPct val="118000"/>
              </a:lnSpc>
              <a:buNone/>
            </a:pPr>
            <a:r>
              <a:rPr lang="en-US" sz="1300" dirty="0">
                <a:solidFill>
                  <a:srgbClr val="97BC62"/>
                </a:solidFill>
              </a:rPr>
              <a:t>Not a software job in a metro — a delivery shift that pays per order, in the district the market is in, with the earnings on a ledger the rider can read. I am not asking you to take these numbers on trust. The last slide is what I will come back with, measured.</a:t>
            </a:r>
            <a:endParaRPr lang="en-US" sz="13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HONEST STATUS</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Where the project actually stands today</a:t>
            </a:r>
            <a:endParaRPr lang="en-US" sz="3200" dirty="0"/>
          </a:p>
        </p:txBody>
      </p:sp>
      <p:sp>
        <p:nvSpPr>
          <p:cNvPr id="4" name="built-card"/>
          <p:cNvSpPr/>
          <p:nvPr/>
        </p:nvSpPr>
        <p:spPr>
          <a:xfrm>
            <a:off x="640080" y="1316736"/>
            <a:ext cx="5212080" cy="4133088"/>
          </a:xfrm>
          <a:prstGeom prst="roundRect">
            <a:avLst>
              <a:gd name="adj" fmla="val 885"/>
            </a:avLst>
          </a:prstGeom>
          <a:solidFill>
            <a:schemeClr val="bg2"/>
          </a:solidFill>
          <a:ln/>
          <a:effectLst>
            <a:outerShdw sx="100000" sy="100000" kx="0" ky="0" algn="bl" rotWithShape="0" blurRad="127000" dist="25400" dir="5400000">
              <a:srgbClr val="16301A">
                <a:alpha val="10000"/>
              </a:srgbClr>
            </a:outerShdw>
          </a:effectLst>
        </p:spPr>
      </p:sp>
      <p:sp>
        <p:nvSpPr>
          <p:cNvPr id="5" name="built-badge"/>
          <p:cNvSpPr/>
          <p:nvPr/>
        </p:nvSpPr>
        <p:spPr>
          <a:xfrm>
            <a:off x="950976" y="1554480"/>
            <a:ext cx="457200" cy="457200"/>
          </a:xfrm>
          <a:prstGeom prst="ellipse">
            <a:avLst/>
          </a:prstGeom>
          <a:solidFill>
            <a:srgbClr val="2C5F2D"/>
          </a:solidFill>
          <a:ln/>
        </p:spPr>
      </p:sp>
      <p:sp>
        <p:nvSpPr>
          <p:cNvPr id="6" name="Text 4"/>
          <p:cNvSpPr txBox="1"/>
          <p:nvPr/>
        </p:nvSpPr>
        <p:spPr>
          <a:xfrm>
            <a:off x="950976" y="155448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7" name="Text 5"/>
          <p:cNvSpPr txBox="1"/>
          <p:nvPr/>
        </p:nvSpPr>
        <p:spPr>
          <a:xfrm>
            <a:off x="1517904" y="1554480"/>
            <a:ext cx="4023360" cy="457200"/>
          </a:xfrm>
          <a:prstGeom prst="rect">
            <a:avLst/>
          </a:prstGeom>
          <a:noFill/>
          <a:ln/>
        </p:spPr>
        <p:txBody>
          <a:bodyPr wrap="square" lIns="0" tIns="0" rIns="0" bIns="0" rtlCol="0" anchor="ctr"/>
          <a:lstStyle/>
          <a:p>
            <a:pPr algn="l" indent="0" marL="0">
              <a:buNone/>
            </a:pPr>
            <a:r>
              <a:rPr lang="en-US" sz="2000" b="1" dirty="0">
                <a:solidFill>
                  <a:srgbClr val="2C5F2D"/>
                </a:solidFill>
              </a:rPr>
              <a:t>Built and working</a:t>
            </a:r>
            <a:endParaRPr lang="en-US" sz="2000" dirty="0"/>
          </a:p>
        </p:txBody>
      </p:sp>
      <p:sp>
        <p:nvSpPr>
          <p:cNvPr id="8" name="Text 6"/>
          <p:cNvSpPr txBox="1"/>
          <p:nvPr/>
        </p:nvSpPr>
        <p:spPr>
          <a:xfrm>
            <a:off x="987552" y="2103120"/>
            <a:ext cx="4517136" cy="3108960"/>
          </a:xfrm>
          <a:prstGeom prst="rect">
            <a:avLst/>
          </a:prstGeom>
          <a:noFill/>
          <a:ln/>
        </p:spPr>
        <p:txBody>
          <a:bodyPr wrap="square" lIns="0" tIns="0" rIns="0" bIns="0" rtlCol="0" anchor="t"/>
          <a:lstStyle/>
          <a:p>
            <a:pPr algn="l" marL="342900" indent="-342900">
              <a:spcAft>
                <a:spcPts val="700"/>
              </a:spcAft>
              <a:buSzPct val="100000"/>
              <a:buChar char="•"/>
            </a:pPr>
            <a:r>
              <a:rPr lang="en-US" sz="1250" dirty="0">
                <a:solidFill>
                  <a:schemeClr val="tx1"/>
                </a:solidFill>
              </a:rPr>
              <a:t>All six role apps end to end — order, split, pack, collect, deliver, settle</a:t>
            </a:r>
            <a:endParaRPr lang="en-US" sz="1250" dirty="0"/>
          </a:p>
          <a:p>
            <a:pPr algn="l" marL="342900" indent="-342900">
              <a:spcAft>
                <a:spcPts val="700"/>
              </a:spcAft>
              <a:buSzPct val="100000"/>
              <a:buChar char="•"/>
            </a:pPr>
            <a:r>
              <a:rPr lang="en-US" sz="1250" dirty="0">
                <a:solidFill>
                  <a:schemeClr val="tx1"/>
                </a:solidFill>
              </a:rPr>
              <a:t>About 93,600 lines of code, 27 data models, 20 API modules</a:t>
            </a:r>
            <a:endParaRPr lang="en-US" sz="1250" dirty="0"/>
          </a:p>
          <a:p>
            <a:pPr algn="l" marL="342900" indent="-342900">
              <a:spcAft>
                <a:spcPts val="700"/>
              </a:spcAft>
              <a:buSzPct val="100000"/>
              <a:buChar char="•"/>
            </a:pPr>
            <a:r>
              <a:rPr lang="en-US" sz="1250" dirty="0">
                <a:solidFill>
                  <a:schemeClr val="tx1"/>
                </a:solidFill>
              </a:rPr>
              <a:t>67 automated server test suites, run on every change</a:t>
            </a:r>
            <a:endParaRPr lang="en-US" sz="1250" dirty="0"/>
          </a:p>
          <a:p>
            <a:pPr algn="l" marL="342900" indent="-342900">
              <a:spcAft>
                <a:spcPts val="700"/>
              </a:spcAft>
              <a:buSzPct val="100000"/>
              <a:buChar char="•"/>
            </a:pPr>
            <a:r>
              <a:rPr lang="en-US" sz="1250" dirty="0">
                <a:solidFill>
                  <a:schemeClr val="tx1"/>
                </a:solidFill>
              </a:rPr>
              <a:t>Telugu, Hindi and English through the customer interface</a:t>
            </a:r>
            <a:endParaRPr lang="en-US" sz="1250" dirty="0"/>
          </a:p>
          <a:p>
            <a:pPr algn="l" marL="342900" indent="-342900">
              <a:spcAft>
                <a:spcPts val="700"/>
              </a:spcAft>
              <a:buSzPct val="100000"/>
              <a:buChar char="•"/>
            </a:pPr>
            <a:r>
              <a:rPr lang="en-US" sz="1250" dirty="0">
                <a:solidFill>
                  <a:schemeClr val="tx1"/>
                </a:solidFill>
              </a:rPr>
              <a:t>Razorpay payments and RazorpayX vendor payouts integrated</a:t>
            </a:r>
            <a:endParaRPr lang="en-US" sz="1250" dirty="0"/>
          </a:p>
          <a:p>
            <a:pPr algn="l" marL="342900" indent="-342900">
              <a:spcAft>
                <a:spcPts val="700"/>
              </a:spcAft>
              <a:buSzPct val="100000"/>
              <a:buChar char="•"/>
            </a:pPr>
            <a:r>
              <a:rPr lang="en-US" sz="1250" dirty="0">
                <a:solidFill>
                  <a:schemeClr val="tx1"/>
                </a:solidFill>
              </a:rPr>
              <a:t>GPS market boundaries, penny-drop verification, handover codes</a:t>
            </a:r>
            <a:endParaRPr lang="en-US" sz="1250" dirty="0"/>
          </a:p>
          <a:p>
            <a:pPr algn="l" marL="342900" indent="-342900">
              <a:spcAft>
                <a:spcPts val="700"/>
              </a:spcAft>
              <a:buSzPct val="100000"/>
              <a:buChar char="•"/>
            </a:pPr>
            <a:r>
              <a:rPr lang="en-US" sz="1250" dirty="0">
                <a:solidFill>
                  <a:schemeClr val="tx1"/>
                </a:solidFill>
              </a:rPr>
              <a:t>A cooking assistant with 83 hand-checked recipes that fills a basket</a:t>
            </a:r>
            <a:endParaRPr lang="en-US" sz="1250" dirty="0"/>
          </a:p>
        </p:txBody>
      </p:sp>
      <p:sp>
        <p:nvSpPr>
          <p:cNvPr id="9" name="notyet-card"/>
          <p:cNvSpPr/>
          <p:nvPr/>
        </p:nvSpPr>
        <p:spPr>
          <a:xfrm>
            <a:off x="6309360" y="1316736"/>
            <a:ext cx="5212080" cy="4133088"/>
          </a:xfrm>
          <a:prstGeom prst="roundRect">
            <a:avLst>
              <a:gd name="adj" fmla="val 885"/>
            </a:avLst>
          </a:prstGeom>
          <a:solidFill>
            <a:schemeClr val="bg1"/>
          </a:solidFill>
          <a:ln w="9525">
            <a:solidFill>
              <a:srgbClr val="D2601A"/>
            </a:solidFill>
            <a:prstDash val="solid"/>
          </a:ln>
          <a:effectLst>
            <a:outerShdw sx="100000" sy="100000" kx="0" ky="0" algn="bl" rotWithShape="0" blurRad="127000" dist="25400" dir="5400000">
              <a:srgbClr val="16301A">
                <a:alpha val="10000"/>
              </a:srgbClr>
            </a:outerShdw>
          </a:effectLst>
        </p:spPr>
      </p:sp>
      <p:sp>
        <p:nvSpPr>
          <p:cNvPr id="10" name="notyet-badge"/>
          <p:cNvSpPr/>
          <p:nvPr/>
        </p:nvSpPr>
        <p:spPr>
          <a:xfrm>
            <a:off x="6620256" y="1554480"/>
            <a:ext cx="457200" cy="457200"/>
          </a:xfrm>
          <a:prstGeom prst="ellipse">
            <a:avLst/>
          </a:prstGeom>
          <a:solidFill>
            <a:srgbClr val="D2601A"/>
          </a:solidFill>
          <a:ln/>
        </p:spPr>
      </p:sp>
      <p:sp>
        <p:nvSpPr>
          <p:cNvPr id="11" name="Text 9"/>
          <p:cNvSpPr txBox="1"/>
          <p:nvPr/>
        </p:nvSpPr>
        <p:spPr>
          <a:xfrm>
            <a:off x="6620256" y="155448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12" name="Text 10"/>
          <p:cNvSpPr txBox="1"/>
          <p:nvPr/>
        </p:nvSpPr>
        <p:spPr>
          <a:xfrm>
            <a:off x="7187184" y="1554480"/>
            <a:ext cx="4023360" cy="457200"/>
          </a:xfrm>
          <a:prstGeom prst="rect">
            <a:avLst/>
          </a:prstGeom>
          <a:noFill/>
          <a:ln/>
        </p:spPr>
        <p:txBody>
          <a:bodyPr wrap="square" lIns="0" tIns="0" rIns="0" bIns="0" rtlCol="0" anchor="ctr"/>
          <a:lstStyle/>
          <a:p>
            <a:pPr algn="l" indent="0" marL="0">
              <a:buNone/>
            </a:pPr>
            <a:r>
              <a:rPr lang="en-US" sz="2000" b="1" dirty="0">
                <a:solidFill>
                  <a:srgbClr val="D2601A"/>
                </a:solidFill>
              </a:rPr>
              <a:t>Not yet true</a:t>
            </a:r>
            <a:endParaRPr lang="en-US" sz="2000" dirty="0"/>
          </a:p>
        </p:txBody>
      </p:sp>
      <p:sp>
        <p:nvSpPr>
          <p:cNvPr id="13" name="Text 11"/>
          <p:cNvSpPr txBox="1"/>
          <p:nvPr/>
        </p:nvSpPr>
        <p:spPr>
          <a:xfrm>
            <a:off x="6656832" y="2103120"/>
            <a:ext cx="4517136" cy="3108960"/>
          </a:xfrm>
          <a:prstGeom prst="rect">
            <a:avLst/>
          </a:prstGeom>
          <a:noFill/>
          <a:ln/>
        </p:spPr>
        <p:txBody>
          <a:bodyPr wrap="square" lIns="0" tIns="0" rIns="0" bIns="0" rtlCol="0" anchor="t"/>
          <a:lstStyle/>
          <a:p>
            <a:pPr algn="l" marL="342900" indent="-342900">
              <a:spcAft>
                <a:spcPts val="700"/>
              </a:spcAft>
              <a:buSzPct val="100000"/>
              <a:buChar char="•"/>
            </a:pPr>
            <a:r>
              <a:rPr lang="en-US" sz="1250" b="1" dirty="0">
                <a:solidFill>
                  <a:schemeClr val="tx1"/>
                </a:solidFill>
              </a:rPr>
              <a:t>Zero real orders. Not one. No household has used this.</a:t>
            </a:r>
            <a:endParaRPr lang="en-US" sz="1250" dirty="0"/>
          </a:p>
          <a:p>
            <a:pPr algn="l" marL="342900" indent="-342900">
              <a:spcAft>
                <a:spcPts val="700"/>
              </a:spcAft>
              <a:buSzPct val="100000"/>
              <a:buChar char="•"/>
            </a:pPr>
            <a:r>
              <a:rPr lang="en-US" sz="1250" dirty="0">
                <a:solidFill>
                  <a:schemeClr val="tx1"/>
                </a:solidFill>
              </a:rPr>
              <a:t>Not in production — it runs as a working demonstration</a:t>
            </a:r>
            <a:endParaRPr lang="en-US" sz="1250" dirty="0"/>
          </a:p>
          <a:p>
            <a:pPr algn="l" marL="342900" indent="-342900">
              <a:spcAft>
                <a:spcPts val="700"/>
              </a:spcAft>
              <a:buSzPct val="100000"/>
              <a:buChar char="•"/>
            </a:pPr>
            <a:r>
              <a:rPr lang="en-US" sz="1250" dirty="0">
                <a:solidFill>
                  <a:schemeClr val="tx1"/>
                </a:solidFill>
              </a:rPr>
              <a:t>No market has registered and no vendor has been verified</a:t>
            </a:r>
            <a:endParaRPr lang="en-US" sz="1250" dirty="0"/>
          </a:p>
          <a:p>
            <a:pPr algn="l" marL="342900" indent="-342900">
              <a:spcAft>
                <a:spcPts val="700"/>
              </a:spcAft>
              <a:buSzPct val="100000"/>
              <a:buChar char="•"/>
            </a:pPr>
            <a:r>
              <a:rPr lang="en-US" sz="1250" dirty="0">
                <a:solidFill>
                  <a:schemeClr val="tx1"/>
                </a:solidFill>
              </a:rPr>
              <a:t>Needs a WhatsApp authentication template approved for real sign-ins</a:t>
            </a:r>
            <a:endParaRPr lang="en-US" sz="1250" dirty="0"/>
          </a:p>
          <a:p>
            <a:pPr algn="l" marL="342900" indent="-342900">
              <a:spcAft>
                <a:spcPts val="700"/>
              </a:spcAft>
              <a:buSzPct val="100000"/>
              <a:buChar char="•"/>
            </a:pPr>
            <a:r>
              <a:rPr lang="en-US" sz="1250" dirty="0">
                <a:solidFill>
                  <a:schemeClr val="tx1"/>
                </a:solidFill>
              </a:rPr>
              <a:t>No external security or financial audit has been done</a:t>
            </a:r>
            <a:endParaRPr lang="en-US" sz="1250" dirty="0"/>
          </a:p>
          <a:p>
            <a:pPr algn="l" marL="342900" indent="-342900">
              <a:spcAft>
                <a:spcPts val="700"/>
              </a:spcAft>
              <a:buSzPct val="100000"/>
              <a:buChar char="•"/>
            </a:pPr>
            <a:r>
              <a:rPr lang="en-US" sz="1250" dirty="0">
                <a:solidFill>
                  <a:schemeClr val="tx1"/>
                </a:solidFill>
              </a:rPr>
              <a:t>Rider supply, basket size and delivery time are modelled, not observed</a:t>
            </a:r>
            <a:endParaRPr lang="en-US" sz="1250" dirty="0"/>
          </a:p>
        </p:txBody>
      </p:sp>
      <p:sp>
        <p:nvSpPr>
          <p:cNvPr id="14" name="honesty-band"/>
          <p:cNvSpPr/>
          <p:nvPr/>
        </p:nvSpPr>
        <p:spPr>
          <a:xfrm>
            <a:off x="640080" y="5577840"/>
            <a:ext cx="10881360" cy="621792"/>
          </a:xfrm>
          <a:prstGeom prst="roundRect">
            <a:avLst>
              <a:gd name="adj" fmla="val 5882"/>
            </a:avLst>
          </a:prstGeom>
          <a:solidFill>
            <a:schemeClr val="tx1"/>
          </a:solidFill>
          <a:ln/>
          <a:effectLst>
            <a:outerShdw sx="100000" sy="100000" kx="0" ky="0" algn="bl" rotWithShape="0" blurRad="127000" dist="25400" dir="5400000">
              <a:srgbClr val="16301A">
                <a:alpha val="10000"/>
              </a:srgbClr>
            </a:outerShdw>
          </a:effectLst>
        </p:spPr>
      </p:sp>
      <p:sp>
        <p:nvSpPr>
          <p:cNvPr id="15" name="Text 13"/>
          <p:cNvSpPr txBox="1"/>
          <p:nvPr/>
        </p:nvSpPr>
        <p:spPr>
          <a:xfrm>
            <a:off x="1024128" y="5577840"/>
            <a:ext cx="10113264" cy="621792"/>
          </a:xfrm>
          <a:prstGeom prst="rect">
            <a:avLst/>
          </a:prstGeom>
          <a:noFill/>
          <a:ln/>
        </p:spPr>
        <p:txBody>
          <a:bodyPr wrap="square" lIns="0" tIns="0" rIns="0" bIns="0" rtlCol="0" anchor="ctr"/>
          <a:lstStyle/>
          <a:p>
            <a:pPr algn="l" indent="0" marL="0">
              <a:buNone/>
            </a:pPr>
            <a:r>
              <a:rPr lang="en-US" sz="1300" b="1" dirty="0">
                <a:solidFill>
                  <a:srgbClr val="FFFFFF"/>
                </a:solidFill>
              </a:rPr>
              <a:t>I would rather you hear the right-hand column from me now than have your office find it later. That column is exactly what I am asking for help to change.</a:t>
            </a:r>
            <a:endParaRPr lang="en-US" sz="13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97BC62"/>
                </a:solidFill>
              </a:rPr>
              <a:t>THE ASK</a:t>
            </a:r>
            <a:endParaRPr lang="en-US" sz="1050" dirty="0"/>
          </a:p>
        </p:txBody>
      </p:sp>
      <p:sp>
        <p:nvSpPr>
          <p:cNvPr id="3" name="Text 0"/>
          <p:cNvSpPr/>
          <p:nvPr>
            <p:ph idx="100" type="title" hasCustomPrompt="1"/>
          </p:nvPr>
        </p:nvSpPr>
        <p:spPr>
          <a:xfrm>
            <a:off x="640080" y="548640"/>
            <a:ext cx="10881360" cy="777240"/>
          </a:xfrm>
          <a:prstGeom prst="rect">
            <a:avLst/>
          </a:prstGeom>
          <a:noFill/>
          <a:ln/>
        </p:spPr>
        <p:txBody>
          <a:bodyPr wrap="square" lIns="0" tIns="0" rIns="0" bIns="0" rtlCol="0" anchor="t"/>
          <a:lstStyle/>
          <a:p>
            <a:pPr algn="l" indent="0" marL="0">
              <a:buNone/>
            </a:pPr>
            <a:r>
              <a:rPr lang="en-US" sz="3200" b="1" dirty="0">
                <a:solidFill>
                  <a:schemeClr val="bg1"/>
                </a:solidFill>
              </a:rPr>
              <a:t>Three things, and only the first one is urgent</a:t>
            </a:r>
            <a:endParaRPr lang="en-US" sz="3200" dirty="0"/>
          </a:p>
        </p:txBody>
      </p:sp>
      <p:sp>
        <p:nvSpPr>
          <p:cNvPr id="4" name="ask-card-1"/>
          <p:cNvSpPr/>
          <p:nvPr/>
        </p:nvSpPr>
        <p:spPr>
          <a:xfrm>
            <a:off x="640080" y="1536192"/>
            <a:ext cx="3358896" cy="3456432"/>
          </a:xfrm>
          <a:prstGeom prst="roundRect">
            <a:avLst>
              <a:gd name="adj" fmla="val 1089"/>
            </a:avLst>
          </a:prstGeom>
          <a:solidFill>
            <a:srgbClr val="20481F"/>
          </a:solidFill>
          <a:ln w="12700">
            <a:solidFill>
              <a:srgbClr val="D2601A"/>
            </a:solidFill>
            <a:prstDash val="solid"/>
          </a:ln>
        </p:spPr>
      </p:sp>
      <p:sp>
        <p:nvSpPr>
          <p:cNvPr id="5" name="ask-badge-1"/>
          <p:cNvSpPr/>
          <p:nvPr/>
        </p:nvSpPr>
        <p:spPr>
          <a:xfrm>
            <a:off x="950976" y="1792224"/>
            <a:ext cx="548640" cy="548640"/>
          </a:xfrm>
          <a:prstGeom prst="ellipse">
            <a:avLst/>
          </a:prstGeom>
          <a:solidFill>
            <a:srgbClr val="D2601A"/>
          </a:solidFill>
          <a:ln/>
        </p:spPr>
      </p:sp>
      <p:sp>
        <p:nvSpPr>
          <p:cNvPr id="6" name="Text 4"/>
          <p:cNvSpPr txBox="1"/>
          <p:nvPr/>
        </p:nvSpPr>
        <p:spPr>
          <a:xfrm>
            <a:off x="950976" y="1792224"/>
            <a:ext cx="548640" cy="548640"/>
          </a:xfrm>
          <a:prstGeom prst="rect">
            <a:avLst/>
          </a:prstGeom>
          <a:noFill/>
          <a:ln/>
        </p:spPr>
        <p:txBody>
          <a:bodyPr wrap="square" lIns="0" tIns="0" rIns="0" bIns="0" rtlCol="0" anchor="ctr"/>
          <a:lstStyle/>
          <a:p>
            <a:pPr algn="ctr" indent="0" marL="0">
              <a:buNone/>
            </a:pPr>
            <a:r>
              <a:rPr lang="en-US" sz="1800" b="1" dirty="0">
                <a:solidFill>
                  <a:srgbClr val="16301A"/>
                </a:solidFill>
              </a:rPr>
              <a:t>1</a:t>
            </a:r>
            <a:endParaRPr lang="en-US" sz="1800" dirty="0"/>
          </a:p>
        </p:txBody>
      </p:sp>
      <p:sp>
        <p:nvSpPr>
          <p:cNvPr id="7" name="Text 5"/>
          <p:cNvSpPr txBox="1"/>
          <p:nvPr/>
        </p:nvSpPr>
        <p:spPr>
          <a:xfrm>
            <a:off x="950976" y="2468880"/>
            <a:ext cx="2737104" cy="713232"/>
          </a:xfrm>
          <a:prstGeom prst="rect">
            <a:avLst/>
          </a:prstGeom>
          <a:noFill/>
          <a:ln/>
        </p:spPr>
        <p:txBody>
          <a:bodyPr wrap="square" lIns="0" tIns="0" rIns="0" bIns="0" rtlCol="0" anchor="t"/>
          <a:lstStyle/>
          <a:p>
            <a:pPr algn="l" indent="0" marL="0">
              <a:buNone/>
            </a:pPr>
            <a:r>
              <a:rPr lang="en-US" sz="1700" b="1" dirty="0">
                <a:solidFill>
                  <a:srgbClr val="FFFFFF"/>
                </a:solidFill>
              </a:rPr>
              <a:t>One anchor Rythu Bazaar, for 90 days</a:t>
            </a:r>
            <a:endParaRPr lang="en-US" sz="1700" dirty="0"/>
          </a:p>
        </p:txBody>
      </p:sp>
      <p:sp>
        <p:nvSpPr>
          <p:cNvPr id="8" name="Text 6"/>
          <p:cNvSpPr txBox="1"/>
          <p:nvPr/>
        </p:nvSpPr>
        <p:spPr>
          <a:xfrm>
            <a:off x="950976" y="3218688"/>
            <a:ext cx="2737104" cy="1097280"/>
          </a:xfrm>
          <a:prstGeom prst="rect">
            <a:avLst/>
          </a:prstGeom>
          <a:noFill/>
          <a:ln/>
        </p:spPr>
        <p:txBody>
          <a:bodyPr wrap="square" lIns="0" tIns="0" rIns="0" bIns="0" rtlCol="0" anchor="t"/>
          <a:lstStyle/>
          <a:p>
            <a:pPr algn="l" indent="0" marL="0">
              <a:buNone/>
            </a:pPr>
            <a:r>
              <a:rPr lang="en-US" sz="1300" dirty="0">
                <a:solidFill>
                  <a:srgbClr val="97BC62"/>
                </a:solidFill>
              </a:rPr>
              <a:t>An introduction to one market committee willing to let 20–30 stalls register and trade on the platform for a season.</a:t>
            </a:r>
            <a:endParaRPr lang="en-US" sz="1300" dirty="0"/>
          </a:p>
        </p:txBody>
      </p:sp>
      <p:sp>
        <p:nvSpPr>
          <p:cNvPr id="9" name="Text 7"/>
          <p:cNvSpPr txBox="1"/>
          <p:nvPr/>
        </p:nvSpPr>
        <p:spPr>
          <a:xfrm>
            <a:off x="950976" y="4370832"/>
            <a:ext cx="2737104" cy="512064"/>
          </a:xfrm>
          <a:prstGeom prst="rect">
            <a:avLst/>
          </a:prstGeom>
          <a:noFill/>
          <a:ln/>
        </p:spPr>
        <p:txBody>
          <a:bodyPr wrap="square" lIns="0" tIns="0" rIns="0" bIns="0" rtlCol="0" anchor="t"/>
          <a:lstStyle/>
          <a:p>
            <a:pPr algn="l" indent="0" marL="0">
              <a:buNone/>
            </a:pPr>
            <a:r>
              <a:rPr lang="en-US" sz="1150" b="1" i="1" dirty="0">
                <a:solidFill>
                  <a:srgbClr val="D2601A"/>
                </a:solidFill>
              </a:rPr>
              <a:t>Cost to the state: one introduction. No money, no staff, no infrastructure.</a:t>
            </a:r>
            <a:endParaRPr lang="en-US" sz="1150" dirty="0"/>
          </a:p>
        </p:txBody>
      </p:sp>
      <p:sp>
        <p:nvSpPr>
          <p:cNvPr id="10" name="ask-card-2"/>
          <p:cNvSpPr/>
          <p:nvPr/>
        </p:nvSpPr>
        <p:spPr>
          <a:xfrm>
            <a:off x="4401312" y="1536192"/>
            <a:ext cx="3358896" cy="3456432"/>
          </a:xfrm>
          <a:prstGeom prst="roundRect">
            <a:avLst>
              <a:gd name="adj" fmla="val 1089"/>
            </a:avLst>
          </a:prstGeom>
          <a:solidFill>
            <a:srgbClr val="20481F"/>
          </a:solidFill>
          <a:ln w="12700">
            <a:solidFill>
              <a:srgbClr val="97BC62"/>
            </a:solidFill>
            <a:prstDash val="solid"/>
          </a:ln>
        </p:spPr>
      </p:sp>
      <p:sp>
        <p:nvSpPr>
          <p:cNvPr id="11" name="ask-badge-2"/>
          <p:cNvSpPr/>
          <p:nvPr/>
        </p:nvSpPr>
        <p:spPr>
          <a:xfrm>
            <a:off x="4712208" y="1792224"/>
            <a:ext cx="548640" cy="548640"/>
          </a:xfrm>
          <a:prstGeom prst="ellipse">
            <a:avLst/>
          </a:prstGeom>
          <a:solidFill>
            <a:srgbClr val="97BC62"/>
          </a:solidFill>
          <a:ln/>
        </p:spPr>
      </p:sp>
      <p:sp>
        <p:nvSpPr>
          <p:cNvPr id="12" name="Text 10"/>
          <p:cNvSpPr txBox="1"/>
          <p:nvPr/>
        </p:nvSpPr>
        <p:spPr>
          <a:xfrm>
            <a:off x="4712208" y="1792224"/>
            <a:ext cx="548640" cy="548640"/>
          </a:xfrm>
          <a:prstGeom prst="rect">
            <a:avLst/>
          </a:prstGeom>
          <a:noFill/>
          <a:ln/>
        </p:spPr>
        <p:txBody>
          <a:bodyPr wrap="square" lIns="0" tIns="0" rIns="0" bIns="0" rtlCol="0" anchor="ctr"/>
          <a:lstStyle/>
          <a:p>
            <a:pPr algn="ctr" indent="0" marL="0">
              <a:buNone/>
            </a:pPr>
            <a:r>
              <a:rPr lang="en-US" sz="1800" b="1" dirty="0">
                <a:solidFill>
                  <a:srgbClr val="16301A"/>
                </a:solidFill>
              </a:rPr>
              <a:t>2</a:t>
            </a:r>
            <a:endParaRPr lang="en-US" sz="1800" dirty="0"/>
          </a:p>
        </p:txBody>
      </p:sp>
      <p:sp>
        <p:nvSpPr>
          <p:cNvPr id="13" name="Text 11"/>
          <p:cNvSpPr txBox="1"/>
          <p:nvPr/>
        </p:nvSpPr>
        <p:spPr>
          <a:xfrm>
            <a:off x="4712208" y="2468880"/>
            <a:ext cx="2737104" cy="713232"/>
          </a:xfrm>
          <a:prstGeom prst="rect">
            <a:avLst/>
          </a:prstGeom>
          <a:noFill/>
          <a:ln/>
        </p:spPr>
        <p:txBody>
          <a:bodyPr wrap="square" lIns="0" tIns="0" rIns="0" bIns="0" rtlCol="0" anchor="t"/>
          <a:lstStyle/>
          <a:p>
            <a:pPr algn="l" indent="0" marL="0">
              <a:buNone/>
            </a:pPr>
            <a:r>
              <a:rPr lang="en-US" sz="1700" b="1" dirty="0">
                <a:solidFill>
                  <a:srgbClr val="FFFFFF"/>
                </a:solidFill>
              </a:rPr>
              <a:t>Open the gate once it is proven</a:t>
            </a:r>
            <a:endParaRPr lang="en-US" sz="1700" dirty="0"/>
          </a:p>
        </p:txBody>
      </p:sp>
      <p:sp>
        <p:nvSpPr>
          <p:cNvPr id="14" name="Text 12"/>
          <p:cNvSpPr txBox="1"/>
          <p:nvPr/>
        </p:nvSpPr>
        <p:spPr>
          <a:xfrm>
            <a:off x="4712208" y="3218688"/>
            <a:ext cx="2737104" cy="1097280"/>
          </a:xfrm>
          <a:prstGeom prst="rect">
            <a:avLst/>
          </a:prstGeom>
          <a:noFill/>
          <a:ln/>
        </p:spPr>
        <p:txBody>
          <a:bodyPr wrap="square" lIns="0" tIns="0" rIns="0" bIns="0" rtlCol="0" anchor="t"/>
          <a:lstStyle/>
          <a:p>
            <a:pPr algn="l" indent="0" marL="0">
              <a:buNone/>
            </a:pPr>
            <a:r>
              <a:rPr lang="en-US" sz="1300" dirty="0">
                <a:solidFill>
                  <a:srgbClr val="97BC62"/>
                </a:solidFill>
              </a:rPr>
              <a:t>If the 90 days hit the targets on the next slide, allow any Rythu Bazaar in Andhra Pradesh to register itself.</a:t>
            </a:r>
            <a:endParaRPr lang="en-US" sz="1300" dirty="0"/>
          </a:p>
        </p:txBody>
      </p:sp>
      <p:sp>
        <p:nvSpPr>
          <p:cNvPr id="15" name="Text 13"/>
          <p:cNvSpPr txBox="1"/>
          <p:nvPr/>
        </p:nvSpPr>
        <p:spPr>
          <a:xfrm>
            <a:off x="4712208" y="4370832"/>
            <a:ext cx="2737104" cy="512064"/>
          </a:xfrm>
          <a:prstGeom prst="rect">
            <a:avLst/>
          </a:prstGeom>
          <a:noFill/>
          <a:ln/>
        </p:spPr>
        <p:txBody>
          <a:bodyPr wrap="square" lIns="0" tIns="0" rIns="0" bIns="0" rtlCol="0" anchor="t"/>
          <a:lstStyle/>
          <a:p>
            <a:pPr algn="l" indent="0" marL="0">
              <a:buNone/>
            </a:pPr>
            <a:r>
              <a:rPr lang="en-US" sz="1150" b="1" i="1" dirty="0">
                <a:solidFill>
                  <a:srgbClr val="97BC62"/>
                </a:solidFill>
              </a:rPr>
              <a:t>The software already works this way. It needs permission, not engineering.</a:t>
            </a:r>
            <a:endParaRPr lang="en-US" sz="1150" dirty="0"/>
          </a:p>
        </p:txBody>
      </p:sp>
      <p:sp>
        <p:nvSpPr>
          <p:cNvPr id="16" name="ask-card-3"/>
          <p:cNvSpPr/>
          <p:nvPr/>
        </p:nvSpPr>
        <p:spPr>
          <a:xfrm>
            <a:off x="8162544" y="1536192"/>
            <a:ext cx="3358896" cy="3456432"/>
          </a:xfrm>
          <a:prstGeom prst="roundRect">
            <a:avLst>
              <a:gd name="adj" fmla="val 1089"/>
            </a:avLst>
          </a:prstGeom>
          <a:solidFill>
            <a:srgbClr val="20481F"/>
          </a:solidFill>
          <a:ln w="12700">
            <a:solidFill>
              <a:srgbClr val="B8860B"/>
            </a:solidFill>
            <a:prstDash val="solid"/>
          </a:ln>
        </p:spPr>
      </p:sp>
      <p:sp>
        <p:nvSpPr>
          <p:cNvPr id="17" name="ask-badge-3"/>
          <p:cNvSpPr/>
          <p:nvPr/>
        </p:nvSpPr>
        <p:spPr>
          <a:xfrm>
            <a:off x="8473440" y="1792224"/>
            <a:ext cx="548640" cy="548640"/>
          </a:xfrm>
          <a:prstGeom prst="ellipse">
            <a:avLst/>
          </a:prstGeom>
          <a:solidFill>
            <a:srgbClr val="B8860B"/>
          </a:solidFill>
          <a:ln/>
        </p:spPr>
      </p:sp>
      <p:sp>
        <p:nvSpPr>
          <p:cNvPr id="18" name="Text 16"/>
          <p:cNvSpPr txBox="1"/>
          <p:nvPr/>
        </p:nvSpPr>
        <p:spPr>
          <a:xfrm>
            <a:off x="8473440" y="1792224"/>
            <a:ext cx="548640" cy="548640"/>
          </a:xfrm>
          <a:prstGeom prst="rect">
            <a:avLst/>
          </a:prstGeom>
          <a:noFill/>
          <a:ln/>
        </p:spPr>
        <p:txBody>
          <a:bodyPr wrap="square" lIns="0" tIns="0" rIns="0" bIns="0" rtlCol="0" anchor="ctr"/>
          <a:lstStyle/>
          <a:p>
            <a:pPr algn="ctr" indent="0" marL="0">
              <a:buNone/>
            </a:pPr>
            <a:r>
              <a:rPr lang="en-US" sz="1800" b="1" dirty="0">
                <a:solidFill>
                  <a:srgbClr val="16301A"/>
                </a:solidFill>
              </a:rPr>
              <a:t>3</a:t>
            </a:r>
            <a:endParaRPr lang="en-US" sz="1800" dirty="0"/>
          </a:p>
        </p:txBody>
      </p:sp>
      <p:sp>
        <p:nvSpPr>
          <p:cNvPr id="19" name="Text 17"/>
          <p:cNvSpPr txBox="1"/>
          <p:nvPr/>
        </p:nvSpPr>
        <p:spPr>
          <a:xfrm>
            <a:off x="8473440" y="2468880"/>
            <a:ext cx="2737104" cy="713232"/>
          </a:xfrm>
          <a:prstGeom prst="rect">
            <a:avLst/>
          </a:prstGeom>
          <a:noFill/>
          <a:ln/>
        </p:spPr>
        <p:txBody>
          <a:bodyPr wrap="square" lIns="0" tIns="0" rIns="0" bIns="0" rtlCol="0" anchor="t"/>
          <a:lstStyle/>
          <a:p>
            <a:pPr algn="l" indent="0" marL="0">
              <a:buNone/>
            </a:pPr>
            <a:r>
              <a:rPr lang="en-US" sz="1700" b="1" dirty="0">
                <a:solidFill>
                  <a:srgbClr val="FFFFFF"/>
                </a:solidFill>
              </a:rPr>
              <a:t>A place at the Ratan Tata Innovation Hub</a:t>
            </a:r>
            <a:endParaRPr lang="en-US" sz="1700" dirty="0"/>
          </a:p>
        </p:txBody>
      </p:sp>
      <p:sp>
        <p:nvSpPr>
          <p:cNvPr id="20" name="Text 18"/>
          <p:cNvSpPr txBox="1"/>
          <p:nvPr/>
        </p:nvSpPr>
        <p:spPr>
          <a:xfrm>
            <a:off x="8473440" y="3218688"/>
            <a:ext cx="2737104" cy="1097280"/>
          </a:xfrm>
          <a:prstGeom prst="rect">
            <a:avLst/>
          </a:prstGeom>
          <a:noFill/>
          <a:ln/>
        </p:spPr>
        <p:txBody>
          <a:bodyPr wrap="square" lIns="0" tIns="0" rIns="0" bIns="0" rtlCol="0" anchor="t"/>
          <a:lstStyle/>
          <a:p>
            <a:pPr algn="l" indent="0" marL="0">
              <a:buNone/>
            </a:pPr>
            <a:r>
              <a:rPr lang="en-US" sz="1300" dirty="0">
                <a:solidFill>
                  <a:srgbClr val="97BC62"/>
                </a:solidFill>
              </a:rPr>
              <a:t>Incubation and acceleration, which already covers cross-sector ventures including food.</a:t>
            </a:r>
            <a:endParaRPr lang="en-US" sz="1300" dirty="0"/>
          </a:p>
        </p:txBody>
      </p:sp>
      <p:sp>
        <p:nvSpPr>
          <p:cNvPr id="21" name="Text 19"/>
          <p:cNvSpPr txBox="1"/>
          <p:nvPr/>
        </p:nvSpPr>
        <p:spPr>
          <a:xfrm>
            <a:off x="8473440" y="4370832"/>
            <a:ext cx="2737104" cy="512064"/>
          </a:xfrm>
          <a:prstGeom prst="rect">
            <a:avLst/>
          </a:prstGeom>
          <a:noFill/>
          <a:ln/>
        </p:spPr>
        <p:txBody>
          <a:bodyPr wrap="square" lIns="0" tIns="0" rIns="0" bIns="0" rtlCol="0" anchor="t"/>
          <a:lstStyle/>
          <a:p>
            <a:pPr algn="l" indent="0" marL="0">
              <a:buNone/>
            </a:pPr>
            <a:r>
              <a:rPr lang="en-US" sz="1150" b="1" i="1" dirty="0">
                <a:solidFill>
                  <a:srgbClr val="B8860B"/>
                </a:solidFill>
              </a:rPr>
              <a:t>Useful, not blocking. Asks one and two matter more.</a:t>
            </a:r>
            <a:endParaRPr lang="en-US" sz="1150" dirty="0"/>
          </a:p>
        </p:txBody>
      </p:sp>
      <p:sp>
        <p:nvSpPr>
          <p:cNvPr id="22" name="ask-band"/>
          <p:cNvSpPr/>
          <p:nvPr/>
        </p:nvSpPr>
        <p:spPr>
          <a:xfrm>
            <a:off x="640080" y="5193792"/>
            <a:ext cx="10881360" cy="987552"/>
          </a:xfrm>
          <a:prstGeom prst="roundRect">
            <a:avLst>
              <a:gd name="adj" fmla="val 3704"/>
            </a:avLst>
          </a:prstGeom>
          <a:solidFill>
            <a:srgbClr val="97BC62"/>
          </a:solidFill>
          <a:ln/>
        </p:spPr>
      </p:sp>
      <p:sp>
        <p:nvSpPr>
          <p:cNvPr id="23" name="Text 21"/>
          <p:cNvSpPr txBox="1"/>
          <p:nvPr/>
        </p:nvSpPr>
        <p:spPr>
          <a:xfrm>
            <a:off x="1024128" y="5193792"/>
            <a:ext cx="10113264" cy="987552"/>
          </a:xfrm>
          <a:prstGeom prst="rect">
            <a:avLst/>
          </a:prstGeom>
          <a:noFill/>
          <a:ln/>
        </p:spPr>
        <p:txBody>
          <a:bodyPr wrap="square" lIns="0" tIns="0" rIns="0" bIns="0" rtlCol="0" anchor="ctr"/>
          <a:lstStyle/>
          <a:p>
            <a:pPr algn="l" indent="0" marL="0">
              <a:buNone/>
            </a:pPr>
            <a:r>
              <a:rPr lang="en-US" sz="1400" b="1" dirty="0">
                <a:solidFill>
                  <a:srgbClr val="16301A"/>
                </a:solidFill>
              </a:rPr>
              <a:t>What I am not asking for: </a:t>
            </a:r>
            <a:pPr algn="l" indent="0" marL="0">
              <a:buNone/>
            </a:pPr>
            <a:r>
              <a:rPr lang="en-US" sz="1400" dirty="0">
                <a:solidFill>
                  <a:srgbClr val="16301A"/>
                </a:solidFill>
              </a:rPr>
              <a:t>no grant, no subsidy, no government money, no exclusivity, and no commitment beyond the 90 days. If the numbers do not appear, the gate stays shut and the state has spent nothing.</a:t>
            </a:r>
            <a:endParaRPr lang="en-US" sz="14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146304"/>
            <a:ext cx="10881360" cy="237744"/>
          </a:xfrm>
          <a:prstGeom prst="rect">
            <a:avLst/>
          </a:prstGeom>
          <a:noFill/>
          <a:ln/>
        </p:spPr>
        <p:txBody>
          <a:bodyPr wrap="square" lIns="0" tIns="0" rIns="0" bIns="0" rtlCol="0" anchor="ctr"/>
          <a:lstStyle/>
          <a:p>
            <a:pPr algn="l" indent="0" marL="0">
              <a:buNone/>
            </a:pPr>
            <a:r>
              <a:rPr lang="en-US" sz="1050" b="1" spc="220" kern="0" dirty="0">
                <a:solidFill>
                  <a:srgbClr val="D2601A"/>
                </a:solidFill>
              </a:rPr>
              <a:t>90 DAYS</a:t>
            </a:r>
            <a:endParaRPr lang="en-US" sz="1050" dirty="0"/>
          </a:p>
        </p:txBody>
      </p:sp>
      <p:sp>
        <p:nvSpPr>
          <p:cNvPr id="3" name="Text 0"/>
          <p:cNvSpPr/>
          <p:nvPr>
            <p:ph idx="100" type="title" hasCustomPrompt="1"/>
          </p:nvPr>
        </p:nvSpPr>
        <p:spPr>
          <a:xfrm>
            <a:off x="640080" y="420624"/>
            <a:ext cx="10881360" cy="731520"/>
          </a:xfrm>
          <a:prstGeom prst="rect">
            <a:avLst/>
          </a:prstGeom>
          <a:noFill/>
          <a:ln/>
        </p:spPr>
        <p:txBody>
          <a:bodyPr wrap="square" lIns="0" tIns="0" rIns="0" bIns="0" rtlCol="0" anchor="t"/>
          <a:lstStyle/>
          <a:p>
            <a:pPr algn="l" indent="0" marL="0">
              <a:buNone/>
            </a:pPr>
            <a:r>
              <a:rPr lang="en-US" sz="3200" b="1" dirty="0">
                <a:solidFill>
                  <a:schemeClr val="tx1"/>
                </a:solidFill>
              </a:rPr>
              <a:t>What I will come back with, measured</a:t>
            </a:r>
            <a:endParaRPr lang="en-US" sz="3200" dirty="0"/>
          </a:p>
        </p:txBody>
      </p:sp>
      <p:sp>
        <p:nvSpPr>
          <p:cNvPr id="4" name="Text 2"/>
          <p:cNvSpPr txBox="1"/>
          <p:nvPr/>
        </p:nvSpPr>
        <p:spPr>
          <a:xfrm>
            <a:off x="640080" y="1170432"/>
            <a:ext cx="10881360" cy="292608"/>
          </a:xfrm>
          <a:prstGeom prst="rect">
            <a:avLst/>
          </a:prstGeom>
          <a:noFill/>
          <a:ln/>
        </p:spPr>
        <p:txBody>
          <a:bodyPr wrap="square" lIns="0" tIns="0" rIns="0" bIns="0" rtlCol="0" anchor="ctr"/>
          <a:lstStyle/>
          <a:p>
            <a:pPr algn="l" indent="0" marL="0">
              <a:buNone/>
            </a:pPr>
            <a:r>
              <a:rPr lang="en-US" sz="1400" dirty="0">
                <a:solidFill>
                  <a:srgbClr val="6E7F6E"/>
                </a:solidFill>
              </a:rPr>
              <a:t>Five numbers. Each one either appears or it does not, and the ledger behind each is open to your department.</a:t>
            </a:r>
            <a:endParaRPr lang="en-US" sz="1400" dirty="0"/>
          </a:p>
        </p:txBody>
      </p:sp>
      <p:sp>
        <p:nvSpPr>
          <p:cNvPr id="5" name="target-card-1"/>
          <p:cNvSpPr/>
          <p:nvPr/>
        </p:nvSpPr>
        <p:spPr>
          <a:xfrm>
            <a:off x="640080" y="1554480"/>
            <a:ext cx="10881360" cy="640080"/>
          </a:xfrm>
          <a:prstGeom prst="roundRect">
            <a:avLst>
              <a:gd name="adj" fmla="val 5714"/>
            </a:avLst>
          </a:prstGeom>
          <a:solidFill>
            <a:schemeClr val="bg2"/>
          </a:solidFill>
          <a:ln/>
          <a:effectLst>
            <a:outerShdw sx="100000" sy="100000" kx="0" ky="0" algn="bl" rotWithShape="0" blurRad="127000" dist="25400" dir="5400000">
              <a:srgbClr val="16301A">
                <a:alpha val="10000"/>
              </a:srgbClr>
            </a:outerShdw>
          </a:effectLst>
        </p:spPr>
      </p:sp>
      <p:sp>
        <p:nvSpPr>
          <p:cNvPr id="6" name="Text 4"/>
          <p:cNvSpPr txBox="1"/>
          <p:nvPr/>
        </p:nvSpPr>
        <p:spPr>
          <a:xfrm>
            <a:off x="969264" y="1554480"/>
            <a:ext cx="658368" cy="640080"/>
          </a:xfrm>
          <a:prstGeom prst="rect">
            <a:avLst/>
          </a:prstGeom>
          <a:noFill/>
          <a:ln/>
        </p:spPr>
        <p:txBody>
          <a:bodyPr wrap="square" lIns="0" tIns="0" rIns="0" bIns="0" rtlCol="0" anchor="ctr"/>
          <a:lstStyle/>
          <a:p>
            <a:pPr algn="l" indent="0" marL="0">
              <a:buNone/>
            </a:pPr>
            <a:r>
              <a:rPr lang="en-US" sz="1800" b="1" dirty="0">
                <a:solidFill>
                  <a:srgbClr val="D2601A"/>
                </a:solidFill>
              </a:rPr>
              <a:t>01</a:t>
            </a:r>
            <a:endParaRPr lang="en-US" sz="1800" dirty="0"/>
          </a:p>
        </p:txBody>
      </p:sp>
      <p:sp>
        <p:nvSpPr>
          <p:cNvPr id="7" name="Text 5"/>
          <p:cNvSpPr txBox="1"/>
          <p:nvPr/>
        </p:nvSpPr>
        <p:spPr>
          <a:xfrm>
            <a:off x="1645920" y="1554480"/>
            <a:ext cx="4572000" cy="640080"/>
          </a:xfrm>
          <a:prstGeom prst="rect">
            <a:avLst/>
          </a:prstGeom>
          <a:noFill/>
          <a:ln/>
        </p:spPr>
        <p:txBody>
          <a:bodyPr wrap="square" lIns="0" tIns="0" rIns="0" bIns="0" rtlCol="0" anchor="ctr"/>
          <a:lstStyle/>
          <a:p>
            <a:pPr algn="l" indent="0" marL="0">
              <a:buNone/>
            </a:pPr>
            <a:r>
              <a:rPr lang="en-US" sz="1500" b="1" dirty="0">
                <a:solidFill>
                  <a:schemeClr val="tx1"/>
                </a:solidFill>
              </a:rPr>
              <a:t>25+ stalls registered and bank-verified</a:t>
            </a:r>
            <a:endParaRPr lang="en-US" sz="1500" dirty="0"/>
          </a:p>
        </p:txBody>
      </p:sp>
      <p:sp>
        <p:nvSpPr>
          <p:cNvPr id="8" name="Text 6"/>
          <p:cNvSpPr txBox="1"/>
          <p:nvPr/>
        </p:nvSpPr>
        <p:spPr>
          <a:xfrm>
            <a:off x="6400800" y="1554480"/>
            <a:ext cx="4754880" cy="640080"/>
          </a:xfrm>
          <a:prstGeom prst="rect">
            <a:avLst/>
          </a:prstGeom>
          <a:noFill/>
          <a:ln/>
        </p:spPr>
        <p:txBody>
          <a:bodyPr wrap="square" lIns="0" tIns="0" rIns="0" bIns="0" rtlCol="0" anchor="ctr"/>
          <a:lstStyle/>
          <a:p>
            <a:pPr algn="l" indent="0" marL="0">
              <a:buNone/>
            </a:pPr>
            <a:r>
              <a:rPr lang="en-US" sz="1200" dirty="0">
                <a:solidFill>
                  <a:srgbClr val="6E7F6E"/>
                </a:solidFill>
              </a:rPr>
              <a:t>In one market, each having proved control of its own settlement account.</a:t>
            </a:r>
            <a:endParaRPr lang="en-US" sz="1200" dirty="0"/>
          </a:p>
        </p:txBody>
      </p:sp>
      <p:sp>
        <p:nvSpPr>
          <p:cNvPr id="9" name="target-card-2"/>
          <p:cNvSpPr/>
          <p:nvPr/>
        </p:nvSpPr>
        <p:spPr>
          <a:xfrm>
            <a:off x="640080" y="2267712"/>
            <a:ext cx="10881360" cy="640080"/>
          </a:xfrm>
          <a:prstGeom prst="roundRect">
            <a:avLst>
              <a:gd name="adj" fmla="val 5714"/>
            </a:avLst>
          </a:prstGeom>
          <a:solidFill>
            <a:schemeClr val="bg1"/>
          </a:solidFill>
          <a:ln/>
          <a:effectLst>
            <a:outerShdw sx="100000" sy="100000" kx="0" ky="0" algn="bl" rotWithShape="0" blurRad="127000" dist="25400" dir="5400000">
              <a:srgbClr val="16301A">
                <a:alpha val="10000"/>
              </a:srgbClr>
            </a:outerShdw>
          </a:effectLst>
        </p:spPr>
      </p:sp>
      <p:sp>
        <p:nvSpPr>
          <p:cNvPr id="10" name="Text 8"/>
          <p:cNvSpPr txBox="1"/>
          <p:nvPr/>
        </p:nvSpPr>
        <p:spPr>
          <a:xfrm>
            <a:off x="969264" y="2267712"/>
            <a:ext cx="658368" cy="640080"/>
          </a:xfrm>
          <a:prstGeom prst="rect">
            <a:avLst/>
          </a:prstGeom>
          <a:noFill/>
          <a:ln/>
        </p:spPr>
        <p:txBody>
          <a:bodyPr wrap="square" lIns="0" tIns="0" rIns="0" bIns="0" rtlCol="0" anchor="ctr"/>
          <a:lstStyle/>
          <a:p>
            <a:pPr algn="l" indent="0" marL="0">
              <a:buNone/>
            </a:pPr>
            <a:r>
              <a:rPr lang="en-US" sz="1800" b="1" dirty="0">
                <a:solidFill>
                  <a:srgbClr val="D2601A"/>
                </a:solidFill>
              </a:rPr>
              <a:t>02</a:t>
            </a:r>
            <a:endParaRPr lang="en-US" sz="1800" dirty="0"/>
          </a:p>
        </p:txBody>
      </p:sp>
      <p:sp>
        <p:nvSpPr>
          <p:cNvPr id="11" name="Text 9"/>
          <p:cNvSpPr txBox="1"/>
          <p:nvPr/>
        </p:nvSpPr>
        <p:spPr>
          <a:xfrm>
            <a:off x="1645920" y="2267712"/>
            <a:ext cx="4572000" cy="640080"/>
          </a:xfrm>
          <a:prstGeom prst="rect">
            <a:avLst/>
          </a:prstGeom>
          <a:noFill/>
          <a:ln/>
        </p:spPr>
        <p:txBody>
          <a:bodyPr wrap="square" lIns="0" tIns="0" rIns="0" bIns="0" rtlCol="0" anchor="ctr"/>
          <a:lstStyle/>
          <a:p>
            <a:pPr algn="l" indent="0" marL="0">
              <a:buNone/>
            </a:pPr>
            <a:r>
              <a:rPr lang="en-US" sz="1500" b="1" dirty="0">
                <a:solidFill>
                  <a:schemeClr val="tx1"/>
                </a:solidFill>
              </a:rPr>
              <a:t>1,000 delivered orders</a:t>
            </a:r>
            <a:endParaRPr lang="en-US" sz="1500" dirty="0"/>
          </a:p>
        </p:txBody>
      </p:sp>
      <p:sp>
        <p:nvSpPr>
          <p:cNvPr id="12" name="Text 10"/>
          <p:cNvSpPr txBox="1"/>
          <p:nvPr/>
        </p:nvSpPr>
        <p:spPr>
          <a:xfrm>
            <a:off x="6400800" y="2267712"/>
            <a:ext cx="4754880" cy="640080"/>
          </a:xfrm>
          <a:prstGeom prst="rect">
            <a:avLst/>
          </a:prstGeom>
          <a:noFill/>
          <a:ln/>
        </p:spPr>
        <p:txBody>
          <a:bodyPr wrap="square" lIns="0" tIns="0" rIns="0" bIns="0" rtlCol="0" anchor="ctr"/>
          <a:lstStyle/>
          <a:p>
            <a:pPr algn="l" indent="0" marL="0">
              <a:buNone/>
            </a:pPr>
            <a:r>
              <a:rPr lang="en-US" sz="1200" dirty="0">
                <a:solidFill>
                  <a:srgbClr val="6E7F6E"/>
                </a:solidFill>
              </a:rPr>
              <a:t>Every one with both handover codes recorded against named accounts.</a:t>
            </a:r>
            <a:endParaRPr lang="en-US" sz="1200" dirty="0"/>
          </a:p>
        </p:txBody>
      </p:sp>
      <p:sp>
        <p:nvSpPr>
          <p:cNvPr id="13" name="target-card-3"/>
          <p:cNvSpPr/>
          <p:nvPr/>
        </p:nvSpPr>
        <p:spPr>
          <a:xfrm>
            <a:off x="640080" y="2980944"/>
            <a:ext cx="10881360" cy="640080"/>
          </a:xfrm>
          <a:prstGeom prst="roundRect">
            <a:avLst>
              <a:gd name="adj" fmla="val 5714"/>
            </a:avLst>
          </a:prstGeom>
          <a:solidFill>
            <a:schemeClr val="bg2"/>
          </a:solidFill>
          <a:ln/>
          <a:effectLst>
            <a:outerShdw sx="100000" sy="100000" kx="0" ky="0" algn="bl" rotWithShape="0" blurRad="127000" dist="25400" dir="5400000">
              <a:srgbClr val="16301A">
                <a:alpha val="10000"/>
              </a:srgbClr>
            </a:outerShdw>
          </a:effectLst>
        </p:spPr>
      </p:sp>
      <p:sp>
        <p:nvSpPr>
          <p:cNvPr id="14" name="Text 12"/>
          <p:cNvSpPr txBox="1"/>
          <p:nvPr/>
        </p:nvSpPr>
        <p:spPr>
          <a:xfrm>
            <a:off x="969264" y="2980944"/>
            <a:ext cx="658368" cy="640080"/>
          </a:xfrm>
          <a:prstGeom prst="rect">
            <a:avLst/>
          </a:prstGeom>
          <a:noFill/>
          <a:ln/>
        </p:spPr>
        <p:txBody>
          <a:bodyPr wrap="square" lIns="0" tIns="0" rIns="0" bIns="0" rtlCol="0" anchor="ctr"/>
          <a:lstStyle/>
          <a:p>
            <a:pPr algn="l" indent="0" marL="0">
              <a:buNone/>
            </a:pPr>
            <a:r>
              <a:rPr lang="en-US" sz="1800" b="1" dirty="0">
                <a:solidFill>
                  <a:srgbClr val="D2601A"/>
                </a:solidFill>
              </a:rPr>
              <a:t>03</a:t>
            </a:r>
            <a:endParaRPr lang="en-US" sz="1800" dirty="0"/>
          </a:p>
        </p:txBody>
      </p:sp>
      <p:sp>
        <p:nvSpPr>
          <p:cNvPr id="15" name="Text 13"/>
          <p:cNvSpPr txBox="1"/>
          <p:nvPr/>
        </p:nvSpPr>
        <p:spPr>
          <a:xfrm>
            <a:off x="1645920" y="2980944"/>
            <a:ext cx="4572000" cy="640080"/>
          </a:xfrm>
          <a:prstGeom prst="rect">
            <a:avLst/>
          </a:prstGeom>
          <a:noFill/>
          <a:ln/>
        </p:spPr>
        <p:txBody>
          <a:bodyPr wrap="square" lIns="0" tIns="0" rIns="0" bIns="0" rtlCol="0" anchor="ctr"/>
          <a:lstStyle/>
          <a:p>
            <a:pPr algn="l" indent="0" marL="0">
              <a:buNone/>
            </a:pPr>
            <a:r>
              <a:rPr lang="en-US" sz="1500" b="1" dirty="0">
                <a:solidFill>
                  <a:schemeClr val="tx1"/>
                </a:solidFill>
              </a:rPr>
              <a:t>Vendor income, before versus during</a:t>
            </a:r>
            <a:endParaRPr lang="en-US" sz="1500" dirty="0"/>
          </a:p>
        </p:txBody>
      </p:sp>
      <p:sp>
        <p:nvSpPr>
          <p:cNvPr id="16" name="Text 14"/>
          <p:cNvSpPr txBox="1"/>
          <p:nvPr/>
        </p:nvSpPr>
        <p:spPr>
          <a:xfrm>
            <a:off x="6400800" y="2980944"/>
            <a:ext cx="4754880" cy="640080"/>
          </a:xfrm>
          <a:prstGeom prst="rect">
            <a:avLst/>
          </a:prstGeom>
          <a:noFill/>
          <a:ln/>
        </p:spPr>
        <p:txBody>
          <a:bodyPr wrap="square" lIns="0" tIns="0" rIns="0" bIns="0" rtlCol="0" anchor="ctr"/>
          <a:lstStyle/>
          <a:p>
            <a:pPr algn="l" indent="0" marL="0">
              <a:buNone/>
            </a:pPr>
            <a:r>
              <a:rPr lang="en-US" sz="1200" dirty="0">
                <a:solidFill>
                  <a:srgbClr val="6E7F6E"/>
                </a:solidFill>
              </a:rPr>
              <a:t>Per stall against its own baseline — the number that decides whether this is worth scaling.</a:t>
            </a:r>
            <a:endParaRPr lang="en-US" sz="1200" dirty="0"/>
          </a:p>
        </p:txBody>
      </p:sp>
      <p:sp>
        <p:nvSpPr>
          <p:cNvPr id="17" name="target-card-4"/>
          <p:cNvSpPr/>
          <p:nvPr/>
        </p:nvSpPr>
        <p:spPr>
          <a:xfrm>
            <a:off x="640080" y="3694176"/>
            <a:ext cx="10881360" cy="640080"/>
          </a:xfrm>
          <a:prstGeom prst="roundRect">
            <a:avLst>
              <a:gd name="adj" fmla="val 5714"/>
            </a:avLst>
          </a:prstGeom>
          <a:solidFill>
            <a:schemeClr val="bg1"/>
          </a:solidFill>
          <a:ln/>
          <a:effectLst>
            <a:outerShdw sx="100000" sy="100000" kx="0" ky="0" algn="bl" rotWithShape="0" blurRad="127000" dist="25400" dir="5400000">
              <a:srgbClr val="16301A">
                <a:alpha val="10000"/>
              </a:srgbClr>
            </a:outerShdw>
          </a:effectLst>
        </p:spPr>
      </p:sp>
      <p:sp>
        <p:nvSpPr>
          <p:cNvPr id="18" name="Text 16"/>
          <p:cNvSpPr txBox="1"/>
          <p:nvPr/>
        </p:nvSpPr>
        <p:spPr>
          <a:xfrm>
            <a:off x="969264" y="3694176"/>
            <a:ext cx="658368" cy="640080"/>
          </a:xfrm>
          <a:prstGeom prst="rect">
            <a:avLst/>
          </a:prstGeom>
          <a:noFill/>
          <a:ln/>
        </p:spPr>
        <p:txBody>
          <a:bodyPr wrap="square" lIns="0" tIns="0" rIns="0" bIns="0" rtlCol="0" anchor="ctr"/>
          <a:lstStyle/>
          <a:p>
            <a:pPr algn="l" indent="0" marL="0">
              <a:buNone/>
            </a:pPr>
            <a:r>
              <a:rPr lang="en-US" sz="1800" b="1" dirty="0">
                <a:solidFill>
                  <a:srgbClr val="D2601A"/>
                </a:solidFill>
              </a:rPr>
              <a:t>04</a:t>
            </a:r>
            <a:endParaRPr lang="en-US" sz="1800" dirty="0"/>
          </a:p>
        </p:txBody>
      </p:sp>
      <p:sp>
        <p:nvSpPr>
          <p:cNvPr id="19" name="Text 17"/>
          <p:cNvSpPr txBox="1"/>
          <p:nvPr/>
        </p:nvSpPr>
        <p:spPr>
          <a:xfrm>
            <a:off x="1645920" y="3694176"/>
            <a:ext cx="4572000" cy="640080"/>
          </a:xfrm>
          <a:prstGeom prst="rect">
            <a:avLst/>
          </a:prstGeom>
          <a:noFill/>
          <a:ln/>
        </p:spPr>
        <p:txBody>
          <a:bodyPr wrap="square" lIns="0" tIns="0" rIns="0" bIns="0" rtlCol="0" anchor="ctr"/>
          <a:lstStyle/>
          <a:p>
            <a:pPr algn="l" indent="0" marL="0">
              <a:buNone/>
            </a:pPr>
            <a:r>
              <a:rPr lang="en-US" sz="1500" b="1" dirty="0">
                <a:solidFill>
                  <a:schemeClr val="tx1"/>
                </a:solidFill>
              </a:rPr>
              <a:t>Actual rider earnings per shift</a:t>
            </a:r>
            <a:endParaRPr lang="en-US" sz="1500" dirty="0"/>
          </a:p>
        </p:txBody>
      </p:sp>
      <p:sp>
        <p:nvSpPr>
          <p:cNvPr id="20" name="Text 18"/>
          <p:cNvSpPr txBox="1"/>
          <p:nvPr/>
        </p:nvSpPr>
        <p:spPr>
          <a:xfrm>
            <a:off x="6400800" y="3694176"/>
            <a:ext cx="4754880" cy="640080"/>
          </a:xfrm>
          <a:prstGeom prst="rect">
            <a:avLst/>
          </a:prstGeom>
          <a:noFill/>
          <a:ln/>
        </p:spPr>
        <p:txBody>
          <a:bodyPr wrap="square" lIns="0" tIns="0" rIns="0" bIns="0" rtlCol="0" anchor="ctr"/>
          <a:lstStyle/>
          <a:p>
            <a:pPr algn="l" indent="0" marL="0">
              <a:buNone/>
            </a:pPr>
            <a:r>
              <a:rPr lang="en-US" sz="1200" dirty="0">
                <a:solidFill>
                  <a:srgbClr val="6E7F6E"/>
                </a:solidFill>
              </a:rPr>
              <a:t>Not a projection. What riders were paid, from the settlement ledger, per shift worked.</a:t>
            </a:r>
            <a:endParaRPr lang="en-US" sz="1200" dirty="0"/>
          </a:p>
        </p:txBody>
      </p:sp>
      <p:sp>
        <p:nvSpPr>
          <p:cNvPr id="21" name="target-card-5"/>
          <p:cNvSpPr/>
          <p:nvPr/>
        </p:nvSpPr>
        <p:spPr>
          <a:xfrm>
            <a:off x="640080" y="4407408"/>
            <a:ext cx="10881360" cy="640080"/>
          </a:xfrm>
          <a:prstGeom prst="roundRect">
            <a:avLst>
              <a:gd name="adj" fmla="val 5714"/>
            </a:avLst>
          </a:prstGeom>
          <a:solidFill>
            <a:schemeClr val="bg2"/>
          </a:solidFill>
          <a:ln/>
          <a:effectLst>
            <a:outerShdw sx="100000" sy="100000" kx="0" ky="0" algn="bl" rotWithShape="0" blurRad="127000" dist="25400" dir="5400000">
              <a:srgbClr val="16301A">
                <a:alpha val="10000"/>
              </a:srgbClr>
            </a:outerShdw>
          </a:effectLst>
        </p:spPr>
      </p:sp>
      <p:sp>
        <p:nvSpPr>
          <p:cNvPr id="22" name="Text 20"/>
          <p:cNvSpPr txBox="1"/>
          <p:nvPr/>
        </p:nvSpPr>
        <p:spPr>
          <a:xfrm>
            <a:off x="969264" y="4407408"/>
            <a:ext cx="658368" cy="640080"/>
          </a:xfrm>
          <a:prstGeom prst="rect">
            <a:avLst/>
          </a:prstGeom>
          <a:noFill/>
          <a:ln/>
        </p:spPr>
        <p:txBody>
          <a:bodyPr wrap="square" lIns="0" tIns="0" rIns="0" bIns="0" rtlCol="0" anchor="ctr"/>
          <a:lstStyle/>
          <a:p>
            <a:pPr algn="l" indent="0" marL="0">
              <a:buNone/>
            </a:pPr>
            <a:r>
              <a:rPr lang="en-US" sz="1800" b="1" dirty="0">
                <a:solidFill>
                  <a:srgbClr val="D2601A"/>
                </a:solidFill>
              </a:rPr>
              <a:t>05</a:t>
            </a:r>
            <a:endParaRPr lang="en-US" sz="1800" dirty="0"/>
          </a:p>
        </p:txBody>
      </p:sp>
      <p:sp>
        <p:nvSpPr>
          <p:cNvPr id="23" name="Text 21"/>
          <p:cNvSpPr txBox="1"/>
          <p:nvPr/>
        </p:nvSpPr>
        <p:spPr>
          <a:xfrm>
            <a:off x="1645920" y="4407408"/>
            <a:ext cx="4572000" cy="640080"/>
          </a:xfrm>
          <a:prstGeom prst="rect">
            <a:avLst/>
          </a:prstGeom>
          <a:noFill/>
          <a:ln/>
        </p:spPr>
        <p:txBody>
          <a:bodyPr wrap="square" lIns="0" tIns="0" rIns="0" bIns="0" rtlCol="0" anchor="ctr"/>
          <a:lstStyle/>
          <a:p>
            <a:pPr algn="l" indent="0" marL="0">
              <a:buNone/>
            </a:pPr>
            <a:r>
              <a:rPr lang="en-US" sz="1500" b="1" dirty="0">
                <a:solidFill>
                  <a:schemeClr val="tx1"/>
                </a:solidFill>
              </a:rPr>
              <a:t>A ledger auditable line by line</a:t>
            </a:r>
            <a:endParaRPr lang="en-US" sz="1500" dirty="0"/>
          </a:p>
        </p:txBody>
      </p:sp>
      <p:sp>
        <p:nvSpPr>
          <p:cNvPr id="24" name="Text 22"/>
          <p:cNvSpPr txBox="1"/>
          <p:nvPr/>
        </p:nvSpPr>
        <p:spPr>
          <a:xfrm>
            <a:off x="6400800" y="4407408"/>
            <a:ext cx="4754880" cy="640080"/>
          </a:xfrm>
          <a:prstGeom prst="rect">
            <a:avLst/>
          </a:prstGeom>
          <a:noFill/>
          <a:ln/>
        </p:spPr>
        <p:txBody>
          <a:bodyPr wrap="square" lIns="0" tIns="0" rIns="0" bIns="0" rtlCol="0" anchor="ctr"/>
          <a:lstStyle/>
          <a:p>
            <a:pPr algn="l" indent="0" marL="0">
              <a:buNone/>
            </a:pPr>
            <a:r>
              <a:rPr lang="en-US" sz="1200" dirty="0">
                <a:solidFill>
                  <a:srgbClr val="6E7F6E"/>
                </a:solidFill>
              </a:rPr>
              <a:t>Every rupee of every order traced to its five buckets, open to the committee throughout.</a:t>
            </a:r>
            <a:endParaRPr lang="en-US" sz="1200" dirty="0"/>
          </a:p>
        </p:txBody>
      </p:sp>
      <p:sp>
        <p:nvSpPr>
          <p:cNvPr id="25" name="close-band"/>
          <p:cNvSpPr/>
          <p:nvPr/>
        </p:nvSpPr>
        <p:spPr>
          <a:xfrm>
            <a:off x="640080" y="5303520"/>
            <a:ext cx="10881360" cy="932688"/>
          </a:xfrm>
          <a:prstGeom prst="roundRect">
            <a:avLst>
              <a:gd name="adj" fmla="val 3922"/>
            </a:avLst>
          </a:prstGeom>
          <a:solidFill>
            <a:schemeClr val="tx1"/>
          </a:solidFill>
          <a:ln/>
          <a:effectLst>
            <a:outerShdw sx="100000" sy="100000" kx="0" ky="0" algn="bl" rotWithShape="0" blurRad="127000" dist="25400" dir="5400000">
              <a:srgbClr val="16301A">
                <a:alpha val="10000"/>
              </a:srgbClr>
            </a:outerShdw>
          </a:effectLst>
        </p:spPr>
      </p:sp>
      <p:sp>
        <p:nvSpPr>
          <p:cNvPr id="26" name="Text 24"/>
          <p:cNvSpPr txBox="1"/>
          <p:nvPr/>
        </p:nvSpPr>
        <p:spPr>
          <a:xfrm>
            <a:off x="1024128" y="5394960"/>
            <a:ext cx="10113264" cy="329184"/>
          </a:xfrm>
          <a:prstGeom prst="rect">
            <a:avLst/>
          </a:prstGeom>
          <a:noFill/>
          <a:ln/>
        </p:spPr>
        <p:txBody>
          <a:bodyPr wrap="square" lIns="0" tIns="0" rIns="0" bIns="0" rtlCol="0" anchor="ctr"/>
          <a:lstStyle/>
          <a:p>
            <a:pPr algn="l" indent="0" marL="0">
              <a:buNone/>
            </a:pPr>
            <a:r>
              <a:rPr lang="en-US" sz="1350" b="1" dirty="0">
                <a:solidFill>
                  <a:srgbClr val="FFFFFF"/>
                </a:solidFill>
              </a:rPr>
              <a:t>If these five numbers do not appear, the gate stays shut — and that is the correct outcome.</a:t>
            </a:r>
            <a:endParaRPr lang="en-US" sz="1350" dirty="0"/>
          </a:p>
        </p:txBody>
      </p:sp>
      <p:sp>
        <p:nvSpPr>
          <p:cNvPr id="27" name="Text 25"/>
          <p:cNvSpPr txBox="1"/>
          <p:nvPr/>
        </p:nvSpPr>
        <p:spPr>
          <a:xfrm>
            <a:off x="1024128" y="5779008"/>
            <a:ext cx="10113264" cy="310896"/>
          </a:xfrm>
          <a:prstGeom prst="rect">
            <a:avLst/>
          </a:prstGeom>
          <a:noFill/>
          <a:ln/>
        </p:spPr>
        <p:txBody>
          <a:bodyPr wrap="square" lIns="0" tIns="0" rIns="0" bIns="0" rtlCol="0" anchor="ctr"/>
          <a:lstStyle/>
          <a:p>
            <a:pPr algn="l" indent="0" marL="0">
              <a:buNone/>
            </a:pPr>
            <a:r>
              <a:rPr lang="en-US" sz="1100" dirty="0">
                <a:solidFill>
                  <a:srgbClr val="97BC62"/>
                </a:solidFill>
              </a:rPr>
              <a:t>Samileti Revanth Gopal  ·  94414 88911      Gandra Hemanth Kumar  ·  97055 41348      Sangu Sai Bhargav  ·  90145 51801</a:t>
            </a:r>
            <a:endParaRPr lang="en-US" sz="1100" dirty="0"/>
          </a:p>
        </p:txBody>
      </p:sp>
      <p:sp>
        <p:nvSpPr>
          <p:cNvPr id="25" name="Slide Number Placeholder 0"/>
          <p:cNvSpPr>
            <a:spLocks noGrp="1"/>
          </p:cNvSpPr>
          <p:nvPr>
            <p:ph type="sldNum" sz="quarter" idx="4294967295"/>
          </p:nvPr>
        </p:nvSpPr>
        <p:spPr>
          <a:xfrm>
            <a:off x="11247120" y="6345936"/>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7F6E"/>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VegDrop Rythu Bazaar">
  <a:themeElements>
    <a:clrScheme name="VegDrop Rythu Bazaar">
      <a:dk1>
        <a:srgbClr val="16301A"/>
      </a:dk1>
      <a:lt1>
        <a:srgbClr val="FFFFFF"/>
      </a:lt1>
      <a:dk2>
        <a:srgbClr val="173B1B"/>
      </a:dk2>
      <a:lt2>
        <a:srgbClr val="EDF2E6"/>
      </a:lt2>
      <a:accent1>
        <a:srgbClr val="2C5F2D"/>
      </a:accent1>
      <a:accent2>
        <a:srgbClr val="97BC62"/>
      </a:accent2>
      <a:accent3>
        <a:srgbClr val="D2601A"/>
      </a:accent3>
      <a:accent4>
        <a:srgbClr val="4E7A68"/>
      </a:accent4>
      <a:accent5>
        <a:srgbClr val="B8860B"/>
      </a:accent5>
      <a:accent6>
        <a:srgbClr val="6E7F6E"/>
      </a:accent6>
      <a:hlink>
        <a:srgbClr val="2C5F2D"/>
      </a:hlink>
      <a:folHlink>
        <a:srgbClr val="6E7F6E"/>
      </a:folHlink>
    </a:clrScheme>
    <a:fontScheme name="VegDrop Rythu Baza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egDrop Rythu Bazaar">
  <a:themeElements>
    <a:clrScheme name="VegDrop Rythu Bazaar">
      <a:dk1>
        <a:srgbClr val="16301A"/>
      </a:dk1>
      <a:lt1>
        <a:srgbClr val="FFFFFF"/>
      </a:lt1>
      <a:dk2>
        <a:srgbClr val="173B1B"/>
      </a:dk2>
      <a:lt2>
        <a:srgbClr val="EDF2E6"/>
      </a:lt2>
      <a:accent1>
        <a:srgbClr val="2C5F2D"/>
      </a:accent1>
      <a:accent2>
        <a:srgbClr val="97BC62"/>
      </a:accent2>
      <a:accent3>
        <a:srgbClr val="D2601A"/>
      </a:accent3>
      <a:accent4>
        <a:srgbClr val="4E7A68"/>
      </a:accent4>
      <a:accent5>
        <a:srgbClr val="B8860B"/>
      </a:accent5>
      <a:accent6>
        <a:srgbClr val="6E7F6E"/>
      </a:accent6>
      <a:hlink>
        <a:srgbClr val="2C5F2D"/>
      </a:hlink>
      <a:folHlink>
        <a:srgbClr val="6E7F6E"/>
      </a:folHlink>
    </a:clrScheme>
    <a:fontScheme name="VegDrop Rythu Baza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VegDrop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VegDrop — delivery infrastructure for Andhra Pradesh's Rythu Bazaars</dc:title>
  <dc:subject>Proposal to the Hon'ble Minister for IT, Electronics and HRD, Government of Andhra Pradesh</dc:subject>
  <dc:creator>VegDrop</dc:creator>
  <cp:lastModifiedBy>VegDrop</cp:lastModifiedBy>
  <cp:revision>1</cp:revision>
  <dcterms:created xsi:type="dcterms:W3CDTF">2026-10-03T12:37:56Z</dcterms:created>
  <dcterms:modified xsi:type="dcterms:W3CDTF">2026-10-03T12:37:56Z</dcterms:modified>
</cp:coreProperties>
</file>